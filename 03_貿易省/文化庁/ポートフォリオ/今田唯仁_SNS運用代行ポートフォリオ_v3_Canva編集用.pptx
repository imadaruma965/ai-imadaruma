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42AFC0"/>
          </a:solidFill>
          <a:ln w="12700">
            <a:solidFill>
              <a:srgbClr val="42AFC0"/>
            </a:solidFill>
            <a:prstDash val="solid"/>
          </a:ln>
        </p:spPr>
      </p:sp>
      <p:sp>
        <p:nvSpPr>
          <p:cNvPr id="3" name="Text 1"/>
          <p:cNvSpPr/>
          <p:nvPr/>
        </p:nvSpPr>
        <p:spPr>
          <a:xfrm>
            <a:off x="475488" y="6483096"/>
            <a:ext cx="5394960" cy="146304"/>
          </a:xfrm>
          <a:prstGeom prst="rect">
            <a:avLst/>
          </a:prstGeom>
          <a:noFill/>
          <a:ln/>
        </p:spPr>
        <p:txBody>
          <a:bodyPr wrap="square" lIns="0" tIns="0" rIns="0" bIns="0" rtlCol="0" anchor="ctr"/>
          <a:lstStyle/>
          <a:p>
            <a:pPr indent="0" marL="0">
              <a:buNone/>
            </a:pPr>
            <a:r>
              <a:rPr lang="en-US" sz="650" spc="140" kern="0" dirty="0">
                <a:solidFill>
                  <a:srgbClr val="7C8588"/>
                </a:solidFill>
                <a:latin typeface="Aptos" pitchFamily="34" charset="0"/>
                <a:ea typeface="Aptos" pitchFamily="34" charset="-122"/>
                <a:cs typeface="Aptos" pitchFamily="34" charset="-120"/>
              </a:rPr>
              <a:t>IMADA TADAHITO  |  BRAND ARCHITECT</a:t>
            </a:r>
            <a:endParaRPr lang="en-US" sz="650" dirty="0"/>
          </a:p>
        </p:txBody>
      </p:sp>
      <p:sp>
        <p:nvSpPr>
          <p:cNvPr id="4" name="Text 2"/>
          <p:cNvSpPr/>
          <p:nvPr/>
        </p:nvSpPr>
        <p:spPr>
          <a:xfrm>
            <a:off x="9921240" y="6455664"/>
            <a:ext cx="1700784" cy="182880"/>
          </a:xfrm>
          <a:prstGeom prst="rect">
            <a:avLst/>
          </a:prstGeom>
          <a:noFill/>
          <a:ln/>
        </p:spPr>
        <p:txBody>
          <a:bodyPr wrap="square" lIns="0" tIns="0" rIns="0" bIns="0" rtlCol="0" anchor="ctr"/>
          <a:lstStyle/>
          <a:p>
            <a:pPr algn="r" indent="0" marL="0">
              <a:buNone/>
            </a:pPr>
            <a:r>
              <a:rPr lang="en-US" sz="650" dirty="0">
                <a:solidFill>
                  <a:srgbClr val="7C8588"/>
                </a:solidFill>
                <a:latin typeface="Aptos" pitchFamily="34" charset="0"/>
                <a:ea typeface="Aptos" pitchFamily="34" charset="-122"/>
                <a:cs typeface="Aptos" pitchFamily="34" charset="-120"/>
              </a:rPr>
              <a:t>Pound the Rock Design</a:t>
            </a:r>
            <a:endParaRPr lang="en-US" sz="65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jp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526"/>
        </a:solidFill>
      </p:bgPr>
    </p:bg>
    <p:spTree>
      <p:nvGrpSpPr>
        <p:cNvPr id="1" name=""/>
        <p:cNvGrpSpPr/>
        <p:nvPr/>
      </p:nvGrpSpPr>
      <p:grpSpPr>
        <a:xfrm>
          <a:off x="0" y="0"/>
          <a:ext cx="0" cy="0"/>
          <a:chOff x="0" y="0"/>
          <a:chExt cx="0" cy="0"/>
        </a:xfrm>
      </p:grpSpPr>
      <p:sp>
        <p:nvSpPr>
          <p:cNvPr id="2" name="Shape 0"/>
          <p:cNvSpPr/>
          <p:nvPr/>
        </p:nvSpPr>
        <p:spPr>
          <a:xfrm>
            <a:off x="8366760" y="0"/>
            <a:ext cx="3822192" cy="6858000"/>
          </a:xfrm>
          <a:prstGeom prst="rect">
            <a:avLst/>
          </a:prstGeom>
          <a:solidFill>
            <a:srgbClr val="42AFC0"/>
          </a:solidFill>
          <a:ln w="12700">
            <a:solidFill>
              <a:srgbClr val="42AFC0"/>
            </a:solidFill>
            <a:prstDash val="solid"/>
          </a:ln>
        </p:spPr>
      </p:sp>
      <p:sp>
        <p:nvSpPr>
          <p:cNvPr id="3" name="Shape 1"/>
          <p:cNvSpPr/>
          <p:nvPr/>
        </p:nvSpPr>
        <p:spPr>
          <a:xfrm rot="1320000">
            <a:off x="7790688" y="731520"/>
            <a:ext cx="3840480" cy="3840480"/>
          </a:xfrm>
          <a:prstGeom prst="arc">
            <a:avLst/>
          </a:prstGeom>
          <a:solidFill>
            <a:srgbClr val="42AFC0">
              <a:alpha val="0"/>
            </a:srgbClr>
          </a:solidFill>
          <a:ln w="25400">
            <a:solidFill>
              <a:srgbClr val="DDE3E2">
                <a:alpha val="70000"/>
              </a:srgbClr>
            </a:solidFill>
            <a:prstDash val="solid"/>
          </a:ln>
        </p:spPr>
      </p:sp>
      <p:sp>
        <p:nvSpPr>
          <p:cNvPr id="4" name="Text 2"/>
          <p:cNvSpPr txBox="1"/>
          <p:nvPr/>
        </p:nvSpPr>
        <p:spPr>
          <a:xfrm>
            <a:off x="731520" y="658368"/>
            <a:ext cx="5029200" cy="274320"/>
          </a:xfrm>
          <a:prstGeom prst="rect">
            <a:avLst/>
          </a:prstGeom>
          <a:noFill/>
          <a:ln/>
        </p:spPr>
        <p:txBody>
          <a:bodyPr wrap="square" lIns="0" tIns="0" rIns="0" bIns="0" rtlCol="0" anchor="ctr">
            <a:normAutofit/>
          </a:bodyPr>
          <a:lstStyle/>
          <a:p>
            <a:pPr algn="l" indent="0" marL="0">
              <a:buNone/>
            </a:pPr>
            <a:r>
              <a:rPr lang="en-US" sz="900" spc="220" kern="0" dirty="0">
                <a:solidFill>
                  <a:srgbClr val="DDE3E2"/>
                </a:solidFill>
                <a:latin typeface="Noto Sans JP" pitchFamily="34" charset="0"/>
                <a:ea typeface="Noto Sans JP" pitchFamily="34" charset="-122"/>
                <a:cs typeface="Noto Sans JP" pitchFamily="34" charset="-120"/>
              </a:rPr>
              <a:t>SNS MANAGEMENT PORTFOLIO</a:t>
            </a:r>
            <a:endParaRPr lang="en-US" sz="900" dirty="0"/>
          </a:p>
        </p:txBody>
      </p:sp>
      <p:sp>
        <p:nvSpPr>
          <p:cNvPr id="5" name="Text 3"/>
          <p:cNvSpPr txBox="1"/>
          <p:nvPr/>
        </p:nvSpPr>
        <p:spPr>
          <a:xfrm>
            <a:off x="713232" y="1508760"/>
            <a:ext cx="7178040" cy="1554480"/>
          </a:xfrm>
          <a:prstGeom prst="rect">
            <a:avLst/>
          </a:prstGeom>
          <a:noFill/>
          <a:ln/>
        </p:spPr>
        <p:txBody>
          <a:bodyPr wrap="square" lIns="0" tIns="0" rIns="0" bIns="0" rtlCol="0" anchor="t">
            <a:normAutofit/>
          </a:bodyPr>
          <a:lstStyle/>
          <a:p>
            <a:pPr algn="l" indent="0" marL="0">
              <a:buNone/>
            </a:pPr>
            <a:r>
              <a:rPr lang="en-US" sz="3000" b="1" dirty="0">
                <a:solidFill>
                  <a:srgbClr val="FFFFFF"/>
                </a:solidFill>
                <a:latin typeface="Noto Sans JP" pitchFamily="34" charset="0"/>
                <a:ea typeface="Noto Sans JP" pitchFamily="34" charset="-122"/>
                <a:cs typeface="Noto Sans JP" pitchFamily="34" charset="-120"/>
              </a:rPr>
              <a:t>想いを、</a:t>
            </a:r>
            <a:endParaRPr lang="en-US" sz="3000" dirty="0"/>
          </a:p>
          <a:p>
            <a:pPr algn="l" indent="0" marL="0">
              <a:buNone/>
            </a:pPr>
            <a:r>
              <a:rPr lang="en-US" sz="3000" b="1" dirty="0">
                <a:solidFill>
                  <a:srgbClr val="FFFFFF"/>
                </a:solidFill>
                <a:latin typeface="Noto Sans JP" pitchFamily="34" charset="0"/>
                <a:ea typeface="Noto Sans JP" pitchFamily="34" charset="-122"/>
                <a:cs typeface="Noto Sans JP" pitchFamily="34" charset="-120"/>
              </a:rPr>
              <a:t>届き続けるブランドへ。</a:t>
            </a:r>
            <a:endParaRPr lang="en-US" sz="3000" dirty="0"/>
          </a:p>
        </p:txBody>
      </p:sp>
      <p:sp>
        <p:nvSpPr>
          <p:cNvPr id="6" name="Text 4"/>
          <p:cNvSpPr txBox="1"/>
          <p:nvPr/>
        </p:nvSpPr>
        <p:spPr>
          <a:xfrm>
            <a:off x="758952" y="3858768"/>
            <a:ext cx="4297680" cy="347472"/>
          </a:xfrm>
          <a:prstGeom prst="rect">
            <a:avLst/>
          </a:prstGeom>
          <a:noFill/>
          <a:ln/>
        </p:spPr>
        <p:txBody>
          <a:bodyPr wrap="square" lIns="0" tIns="0" rIns="0" bIns="0" rtlCol="0" anchor="ctr">
            <a:normAutofit/>
          </a:bodyPr>
          <a:lstStyle/>
          <a:p>
            <a:pPr algn="l" indent="0" marL="0">
              <a:buNone/>
            </a:pPr>
            <a:r>
              <a:rPr lang="en-US" sz="1400" b="1" spc="60" kern="0" dirty="0">
                <a:solidFill>
                  <a:srgbClr val="42AFC0"/>
                </a:solidFill>
                <a:latin typeface="Noto Sans JP" pitchFamily="34" charset="0"/>
                <a:ea typeface="Noto Sans JP" pitchFamily="34" charset="-122"/>
                <a:cs typeface="Noto Sans JP" pitchFamily="34" charset="-120"/>
              </a:rPr>
              <a:t>Brand Architect</a:t>
            </a:r>
            <a:endParaRPr lang="en-US" sz="1400" dirty="0"/>
          </a:p>
        </p:txBody>
      </p:sp>
      <p:sp>
        <p:nvSpPr>
          <p:cNvPr id="7" name="Text 5"/>
          <p:cNvSpPr txBox="1"/>
          <p:nvPr/>
        </p:nvSpPr>
        <p:spPr>
          <a:xfrm>
            <a:off x="758952" y="4315968"/>
            <a:ext cx="5029200" cy="475488"/>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Noto Sans JP" pitchFamily="34" charset="0"/>
                <a:ea typeface="Noto Sans JP" pitchFamily="34" charset="-122"/>
                <a:cs typeface="Noto Sans JP" pitchFamily="34" charset="-120"/>
              </a:rPr>
              <a:t>今田 唯仁  /  Imada Tadahito</a:t>
            </a:r>
            <a:endParaRPr lang="en-US" sz="2000" dirty="0"/>
          </a:p>
        </p:txBody>
      </p:sp>
      <p:sp>
        <p:nvSpPr>
          <p:cNvPr id="8" name="Text 6"/>
          <p:cNvSpPr txBox="1"/>
          <p:nvPr/>
        </p:nvSpPr>
        <p:spPr>
          <a:xfrm>
            <a:off x="768096" y="4901184"/>
            <a:ext cx="4937760" cy="292608"/>
          </a:xfrm>
          <a:prstGeom prst="rect">
            <a:avLst/>
          </a:prstGeom>
          <a:noFill/>
          <a:ln/>
        </p:spPr>
        <p:txBody>
          <a:bodyPr wrap="square" lIns="0" tIns="0" rIns="0" bIns="0" rtlCol="0" anchor="ctr">
            <a:normAutofit/>
          </a:bodyPr>
          <a:lstStyle/>
          <a:p>
            <a:pPr algn="l" indent="0" marL="0">
              <a:buNone/>
            </a:pPr>
            <a:r>
              <a:rPr lang="en-US" sz="1100" spc="80" kern="0" dirty="0">
                <a:solidFill>
                  <a:srgbClr val="DDE3E2"/>
                </a:solidFill>
                <a:latin typeface="Noto Sans JP" pitchFamily="34" charset="0"/>
                <a:ea typeface="Noto Sans JP" pitchFamily="34" charset="-122"/>
                <a:cs typeface="Noto Sans JP" pitchFamily="34" charset="-120"/>
              </a:rPr>
              <a:t>SNSブランド設計・運用ディレクション</a:t>
            </a:r>
            <a:endParaRPr lang="en-US" sz="1100" dirty="0"/>
          </a:p>
        </p:txBody>
      </p:sp>
      <p:sp>
        <p:nvSpPr>
          <p:cNvPr id="9" name="Text 7"/>
          <p:cNvSpPr txBox="1"/>
          <p:nvPr/>
        </p:nvSpPr>
        <p:spPr>
          <a:xfrm>
            <a:off x="768096" y="5303520"/>
            <a:ext cx="4389120" cy="292608"/>
          </a:xfrm>
          <a:prstGeom prst="rect">
            <a:avLst/>
          </a:prstGeom>
          <a:noFill/>
          <a:ln/>
        </p:spPr>
        <p:txBody>
          <a:bodyPr wrap="square" lIns="0" tIns="0" rIns="0" bIns="0" rtlCol="0" anchor="ctr">
            <a:normAutofit/>
          </a:bodyPr>
          <a:lstStyle/>
          <a:p>
            <a:pPr algn="l" indent="0" marL="0">
              <a:buNone/>
            </a:pPr>
            <a:r>
              <a:rPr lang="en-US" sz="1000" spc="110" kern="0" dirty="0">
                <a:solidFill>
                  <a:srgbClr val="42AFC0"/>
                </a:solidFill>
                <a:latin typeface="Noto Sans JP" pitchFamily="34" charset="0"/>
                <a:ea typeface="Noto Sans JP" pitchFamily="34" charset="-122"/>
                <a:cs typeface="Noto Sans JP" pitchFamily="34" charset="-120"/>
              </a:rPr>
              <a:t>設計力 × 編集力 × 伴走力</a:t>
            </a:r>
            <a:endParaRPr lang="en-US" sz="1000" dirty="0"/>
          </a:p>
        </p:txBody>
      </p:sp>
      <p:sp>
        <p:nvSpPr>
          <p:cNvPr id="10" name="Text 8"/>
          <p:cNvSpPr txBox="1"/>
          <p:nvPr/>
        </p:nvSpPr>
        <p:spPr>
          <a:xfrm>
            <a:off x="10643616" y="6245352"/>
            <a:ext cx="731520" cy="256032"/>
          </a:xfrm>
          <a:prstGeom prst="rect">
            <a:avLst/>
          </a:prstGeom>
          <a:noFill/>
          <a:ln/>
        </p:spPr>
        <p:txBody>
          <a:bodyPr wrap="square" lIns="0" tIns="0" rIns="0" bIns="0" rtlCol="0" anchor="ctr">
            <a:normAutofit/>
          </a:bodyPr>
          <a:lstStyle/>
          <a:p>
            <a:pPr algn="r" indent="0" marL="0">
              <a:buNone/>
            </a:pPr>
            <a:r>
              <a:rPr lang="en-US" sz="900" b="1" dirty="0">
                <a:solidFill>
                  <a:srgbClr val="202526"/>
                </a:solidFill>
                <a:latin typeface="Noto Sans JP" pitchFamily="34" charset="0"/>
                <a:ea typeface="Noto Sans JP" pitchFamily="34" charset="-122"/>
                <a:cs typeface="Noto Sans JP" pitchFamily="34" charset="-120"/>
              </a:rPr>
              <a:t>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02</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CONTENTS</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ブランドの「伝わる仕組み」を、SNSに。</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見た目だけで終わらせず、目的・対象・言葉・運用まで一貫して設計します。</a:t>
            </a:r>
            <a:endParaRPr lang="en-US" sz="1050" dirty="0"/>
          </a:p>
        </p:txBody>
      </p:sp>
      <p:sp>
        <p:nvSpPr>
          <p:cNvPr id="6" name="Shape 4"/>
          <p:cNvSpPr/>
          <p:nvPr/>
        </p:nvSpPr>
        <p:spPr>
          <a:xfrm>
            <a:off x="530352" y="2029968"/>
            <a:ext cx="2542032" cy="3401568"/>
          </a:xfrm>
          <a:prstGeom prst="roundRect">
            <a:avLst>
              <a:gd name="adj" fmla="val 2878"/>
            </a:avLst>
          </a:prstGeom>
          <a:solidFill>
            <a:srgbClr val="FFFFFF"/>
          </a:solidFill>
          <a:ln w="8890">
            <a:solidFill>
              <a:srgbClr val="FFFFFF">
                <a:alpha val="0"/>
              </a:srgbClr>
            </a:solidFill>
            <a:prstDash val="solid"/>
          </a:ln>
        </p:spPr>
      </p:sp>
      <p:sp>
        <p:nvSpPr>
          <p:cNvPr id="7" name="Text 5"/>
          <p:cNvSpPr txBox="1"/>
          <p:nvPr/>
        </p:nvSpPr>
        <p:spPr>
          <a:xfrm>
            <a:off x="713232" y="2249424"/>
            <a:ext cx="457200" cy="292608"/>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01</a:t>
            </a:r>
            <a:endParaRPr lang="en-US" sz="1000" dirty="0"/>
          </a:p>
        </p:txBody>
      </p:sp>
      <p:sp>
        <p:nvSpPr>
          <p:cNvPr id="8" name="Text 6"/>
          <p:cNvSpPr txBox="1"/>
          <p:nvPr/>
        </p:nvSpPr>
        <p:spPr>
          <a:xfrm>
            <a:off x="713232" y="2761488"/>
            <a:ext cx="2148840" cy="292608"/>
          </a:xfrm>
          <a:prstGeom prst="rect">
            <a:avLst/>
          </a:prstGeom>
          <a:noFill/>
          <a:ln/>
        </p:spPr>
        <p:txBody>
          <a:bodyPr wrap="square" lIns="0" tIns="0" rIns="0" bIns="0" rtlCol="0" anchor="ctr">
            <a:normAutofit/>
          </a:bodyPr>
          <a:lstStyle/>
          <a:p>
            <a:pPr algn="l" indent="0" marL="0">
              <a:buNone/>
            </a:pPr>
            <a:r>
              <a:rPr lang="en-US" sz="1000" b="1" spc="110" kern="0" dirty="0">
                <a:solidFill>
                  <a:srgbClr val="202526"/>
                </a:solidFill>
                <a:latin typeface="Noto Sans JP" pitchFamily="34" charset="0"/>
                <a:ea typeface="Noto Sans JP" pitchFamily="34" charset="-122"/>
                <a:cs typeface="Noto Sans JP" pitchFamily="34" charset="-120"/>
              </a:rPr>
              <a:t>WHO I AM</a:t>
            </a:r>
            <a:endParaRPr lang="en-US" sz="1000" dirty="0"/>
          </a:p>
        </p:txBody>
      </p:sp>
      <p:sp>
        <p:nvSpPr>
          <p:cNvPr id="9" name="Shape 7"/>
          <p:cNvSpPr/>
          <p:nvPr/>
        </p:nvSpPr>
        <p:spPr>
          <a:xfrm>
            <a:off x="713232" y="3255264"/>
            <a:ext cx="512064" cy="0"/>
          </a:xfrm>
          <a:prstGeom prst="line">
            <a:avLst/>
          </a:prstGeom>
          <a:noFill/>
          <a:ln w="25400">
            <a:solidFill>
              <a:srgbClr val="42AFC0"/>
            </a:solidFill>
            <a:prstDash val="solid"/>
            <a:headEnd type="none"/>
            <a:tailEnd type="none"/>
          </a:ln>
        </p:spPr>
      </p:sp>
      <p:sp>
        <p:nvSpPr>
          <p:cNvPr id="10" name="Text 8"/>
          <p:cNvSpPr txBox="1"/>
          <p:nvPr/>
        </p:nvSpPr>
        <p:spPr>
          <a:xfrm>
            <a:off x="713232" y="3511296"/>
            <a:ext cx="2148840" cy="868680"/>
          </a:xfrm>
          <a:prstGeom prst="rect">
            <a:avLst/>
          </a:prstGeom>
          <a:noFill/>
          <a:ln/>
        </p:spPr>
        <p:txBody>
          <a:bodyPr wrap="square" lIns="0" tIns="0" rIns="0" bIns="0" rtlCol="0" anchor="t">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プロフィール・強み</a:t>
            </a:r>
            <a:endParaRPr lang="en-US" sz="1300" dirty="0"/>
          </a:p>
        </p:txBody>
      </p:sp>
      <p:sp>
        <p:nvSpPr>
          <p:cNvPr id="11" name="Text 9"/>
          <p:cNvSpPr txBox="1"/>
          <p:nvPr/>
        </p:nvSpPr>
        <p:spPr>
          <a:xfrm>
            <a:off x="713232" y="4956048"/>
            <a:ext cx="2148840" cy="256032"/>
          </a:xfrm>
          <a:prstGeom prst="rect">
            <a:avLst/>
          </a:prstGeom>
          <a:noFill/>
          <a:ln/>
        </p:spPr>
        <p:txBody>
          <a:bodyPr wrap="square" lIns="0" tIns="0" rIns="0" bIns="0" rtlCol="0" anchor="ctr">
            <a:normAutofit/>
          </a:bodyPr>
          <a:lstStyle/>
          <a:p>
            <a:pPr algn="l" indent="0" marL="0">
              <a:buNone/>
            </a:pPr>
            <a:r>
              <a:rPr lang="en-US" sz="850" dirty="0">
                <a:solidFill>
                  <a:srgbClr val="687174"/>
                </a:solidFill>
                <a:latin typeface="Noto Sans JP" pitchFamily="34" charset="0"/>
                <a:ea typeface="Noto Sans JP" pitchFamily="34" charset="-122"/>
                <a:cs typeface="Noto Sans JP" pitchFamily="34" charset="-120"/>
              </a:rPr>
              <a:t>p.3–7</a:t>
            </a:r>
            <a:endParaRPr lang="en-US" sz="850" dirty="0"/>
          </a:p>
        </p:txBody>
      </p:sp>
      <p:sp>
        <p:nvSpPr>
          <p:cNvPr id="12" name="Shape 10"/>
          <p:cNvSpPr/>
          <p:nvPr/>
        </p:nvSpPr>
        <p:spPr>
          <a:xfrm>
            <a:off x="3364992" y="2029968"/>
            <a:ext cx="2542032" cy="3401568"/>
          </a:xfrm>
          <a:prstGeom prst="roundRect">
            <a:avLst>
              <a:gd name="adj" fmla="val 2878"/>
            </a:avLst>
          </a:prstGeom>
          <a:solidFill>
            <a:srgbClr val="DDEDF1"/>
          </a:solidFill>
          <a:ln w="8890">
            <a:solidFill>
              <a:srgbClr val="DDEDF1">
                <a:alpha val="0"/>
              </a:srgbClr>
            </a:solidFill>
            <a:prstDash val="solid"/>
          </a:ln>
        </p:spPr>
      </p:sp>
      <p:sp>
        <p:nvSpPr>
          <p:cNvPr id="13" name="Text 11"/>
          <p:cNvSpPr txBox="1"/>
          <p:nvPr/>
        </p:nvSpPr>
        <p:spPr>
          <a:xfrm>
            <a:off x="3547872" y="2249424"/>
            <a:ext cx="457200" cy="292608"/>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02</a:t>
            </a:r>
            <a:endParaRPr lang="en-US" sz="1000" dirty="0"/>
          </a:p>
        </p:txBody>
      </p:sp>
      <p:sp>
        <p:nvSpPr>
          <p:cNvPr id="14" name="Text 12"/>
          <p:cNvSpPr txBox="1"/>
          <p:nvPr/>
        </p:nvSpPr>
        <p:spPr>
          <a:xfrm>
            <a:off x="3547872" y="2761488"/>
            <a:ext cx="2148840" cy="292608"/>
          </a:xfrm>
          <a:prstGeom prst="rect">
            <a:avLst/>
          </a:prstGeom>
          <a:noFill/>
          <a:ln/>
        </p:spPr>
        <p:txBody>
          <a:bodyPr wrap="square" lIns="0" tIns="0" rIns="0" bIns="0" rtlCol="0" anchor="ctr">
            <a:normAutofit/>
          </a:bodyPr>
          <a:lstStyle/>
          <a:p>
            <a:pPr algn="l" indent="0" marL="0">
              <a:buNone/>
            </a:pPr>
            <a:r>
              <a:rPr lang="en-US" sz="1000" b="1" spc="110" kern="0" dirty="0">
                <a:solidFill>
                  <a:srgbClr val="202526"/>
                </a:solidFill>
                <a:latin typeface="Noto Sans JP" pitchFamily="34" charset="0"/>
                <a:ea typeface="Noto Sans JP" pitchFamily="34" charset="-122"/>
                <a:cs typeface="Noto Sans JP" pitchFamily="34" charset="-120"/>
              </a:rPr>
              <a:t>HOW I THINK</a:t>
            </a:r>
            <a:endParaRPr lang="en-US" sz="1000" dirty="0"/>
          </a:p>
        </p:txBody>
      </p:sp>
      <p:sp>
        <p:nvSpPr>
          <p:cNvPr id="15" name="Shape 13"/>
          <p:cNvSpPr/>
          <p:nvPr/>
        </p:nvSpPr>
        <p:spPr>
          <a:xfrm>
            <a:off x="3547872" y="3255264"/>
            <a:ext cx="512064" cy="0"/>
          </a:xfrm>
          <a:prstGeom prst="line">
            <a:avLst/>
          </a:prstGeom>
          <a:noFill/>
          <a:ln w="25400">
            <a:solidFill>
              <a:srgbClr val="42AFC0"/>
            </a:solidFill>
            <a:prstDash val="solid"/>
            <a:headEnd type="none"/>
            <a:tailEnd type="none"/>
          </a:ln>
        </p:spPr>
      </p:sp>
      <p:sp>
        <p:nvSpPr>
          <p:cNvPr id="16" name="Text 14"/>
          <p:cNvSpPr txBox="1"/>
          <p:nvPr/>
        </p:nvSpPr>
        <p:spPr>
          <a:xfrm>
            <a:off x="3547872" y="3511296"/>
            <a:ext cx="2148840" cy="868680"/>
          </a:xfrm>
          <a:prstGeom prst="rect">
            <a:avLst/>
          </a:prstGeom>
          <a:noFill/>
          <a:ln/>
        </p:spPr>
        <p:txBody>
          <a:bodyPr wrap="square" lIns="0" tIns="0" rIns="0" bIns="0" rtlCol="0" anchor="t">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リサーチと</a:t>
            </a:r>
            <a:endParaRPr lang="en-US" sz="1300" dirty="0"/>
          </a:p>
          <a:p>
            <a:pPr algn="l" indent="0" marL="0">
              <a:buNone/>
            </a:pPr>
            <a:r>
              <a:rPr lang="en-US" sz="1300" b="1" dirty="0">
                <a:solidFill>
                  <a:srgbClr val="202526"/>
                </a:solidFill>
                <a:latin typeface="Noto Sans JP" pitchFamily="34" charset="0"/>
                <a:ea typeface="Noto Sans JP" pitchFamily="34" charset="-122"/>
                <a:cs typeface="Noto Sans JP" pitchFamily="34" charset="-120"/>
              </a:rPr>
              <a:t>アルゴリズム対応</a:t>
            </a:r>
            <a:endParaRPr lang="en-US" sz="1300" dirty="0"/>
          </a:p>
        </p:txBody>
      </p:sp>
      <p:sp>
        <p:nvSpPr>
          <p:cNvPr id="17" name="Text 15"/>
          <p:cNvSpPr txBox="1"/>
          <p:nvPr/>
        </p:nvSpPr>
        <p:spPr>
          <a:xfrm>
            <a:off x="3547872" y="4956048"/>
            <a:ext cx="2148840" cy="256032"/>
          </a:xfrm>
          <a:prstGeom prst="rect">
            <a:avLst/>
          </a:prstGeom>
          <a:noFill/>
          <a:ln/>
        </p:spPr>
        <p:txBody>
          <a:bodyPr wrap="square" lIns="0" tIns="0" rIns="0" bIns="0" rtlCol="0" anchor="ctr">
            <a:normAutofit/>
          </a:bodyPr>
          <a:lstStyle/>
          <a:p>
            <a:pPr algn="l" indent="0" marL="0">
              <a:buNone/>
            </a:pPr>
            <a:r>
              <a:rPr lang="en-US" sz="850" dirty="0">
                <a:solidFill>
                  <a:srgbClr val="687174"/>
                </a:solidFill>
                <a:latin typeface="Noto Sans JP" pitchFamily="34" charset="0"/>
                <a:ea typeface="Noto Sans JP" pitchFamily="34" charset="-122"/>
                <a:cs typeface="Noto Sans JP" pitchFamily="34" charset="-120"/>
              </a:rPr>
              <a:t>p.8–12</a:t>
            </a:r>
            <a:endParaRPr lang="en-US" sz="850" dirty="0"/>
          </a:p>
        </p:txBody>
      </p:sp>
      <p:sp>
        <p:nvSpPr>
          <p:cNvPr id="18" name="Shape 16"/>
          <p:cNvSpPr/>
          <p:nvPr/>
        </p:nvSpPr>
        <p:spPr>
          <a:xfrm>
            <a:off x="6199632" y="2029968"/>
            <a:ext cx="2542032" cy="3401568"/>
          </a:xfrm>
          <a:prstGeom prst="roundRect">
            <a:avLst>
              <a:gd name="adj" fmla="val 2878"/>
            </a:avLst>
          </a:prstGeom>
          <a:solidFill>
            <a:srgbClr val="FFFFFF"/>
          </a:solidFill>
          <a:ln w="8890">
            <a:solidFill>
              <a:srgbClr val="FFFFFF">
                <a:alpha val="0"/>
              </a:srgbClr>
            </a:solidFill>
            <a:prstDash val="solid"/>
          </a:ln>
        </p:spPr>
      </p:sp>
      <p:sp>
        <p:nvSpPr>
          <p:cNvPr id="19" name="Text 17"/>
          <p:cNvSpPr txBox="1"/>
          <p:nvPr/>
        </p:nvSpPr>
        <p:spPr>
          <a:xfrm>
            <a:off x="6382512" y="2249424"/>
            <a:ext cx="457200" cy="292608"/>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03</a:t>
            </a:r>
            <a:endParaRPr lang="en-US" sz="1000" dirty="0"/>
          </a:p>
        </p:txBody>
      </p:sp>
      <p:sp>
        <p:nvSpPr>
          <p:cNvPr id="20" name="Text 18"/>
          <p:cNvSpPr txBox="1"/>
          <p:nvPr/>
        </p:nvSpPr>
        <p:spPr>
          <a:xfrm>
            <a:off x="6382512" y="2761488"/>
            <a:ext cx="2148840" cy="292608"/>
          </a:xfrm>
          <a:prstGeom prst="rect">
            <a:avLst/>
          </a:prstGeom>
          <a:noFill/>
          <a:ln/>
        </p:spPr>
        <p:txBody>
          <a:bodyPr wrap="square" lIns="0" tIns="0" rIns="0" bIns="0" rtlCol="0" anchor="ctr">
            <a:normAutofit/>
          </a:bodyPr>
          <a:lstStyle/>
          <a:p>
            <a:pPr algn="l" indent="0" marL="0">
              <a:buNone/>
            </a:pPr>
            <a:r>
              <a:rPr lang="en-US" sz="1000" b="1" spc="110" kern="0" dirty="0">
                <a:solidFill>
                  <a:srgbClr val="202526"/>
                </a:solidFill>
                <a:latin typeface="Noto Sans JP" pitchFamily="34" charset="0"/>
                <a:ea typeface="Noto Sans JP" pitchFamily="34" charset="-122"/>
                <a:cs typeface="Noto Sans JP" pitchFamily="34" charset="-120"/>
              </a:rPr>
              <a:t>WORKS</a:t>
            </a:r>
            <a:endParaRPr lang="en-US" sz="1000" dirty="0"/>
          </a:p>
        </p:txBody>
      </p:sp>
      <p:sp>
        <p:nvSpPr>
          <p:cNvPr id="21" name="Shape 19"/>
          <p:cNvSpPr/>
          <p:nvPr/>
        </p:nvSpPr>
        <p:spPr>
          <a:xfrm>
            <a:off x="6382512" y="3255264"/>
            <a:ext cx="512064" cy="0"/>
          </a:xfrm>
          <a:prstGeom prst="line">
            <a:avLst/>
          </a:prstGeom>
          <a:noFill/>
          <a:ln w="25400">
            <a:solidFill>
              <a:srgbClr val="42AFC0"/>
            </a:solidFill>
            <a:prstDash val="solid"/>
            <a:headEnd type="none"/>
            <a:tailEnd type="none"/>
          </a:ln>
        </p:spPr>
      </p:sp>
      <p:sp>
        <p:nvSpPr>
          <p:cNvPr id="22" name="Text 20"/>
          <p:cNvSpPr txBox="1"/>
          <p:nvPr/>
        </p:nvSpPr>
        <p:spPr>
          <a:xfrm>
            <a:off x="6382512" y="3511296"/>
            <a:ext cx="2148840" cy="868680"/>
          </a:xfrm>
          <a:prstGeom prst="rect">
            <a:avLst/>
          </a:prstGeom>
          <a:noFill/>
          <a:ln/>
        </p:spPr>
        <p:txBody>
          <a:bodyPr wrap="square" lIns="0" tIns="0" rIns="0" bIns="0" rtlCol="0" anchor="t">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SNS・ブランド・</a:t>
            </a:r>
            <a:endParaRPr lang="en-US" sz="1300" dirty="0"/>
          </a:p>
          <a:p>
            <a:pPr algn="l" indent="0" marL="0">
              <a:buNone/>
            </a:pPr>
            <a:r>
              <a:rPr lang="en-US" sz="1300" b="1" dirty="0">
                <a:solidFill>
                  <a:srgbClr val="202526"/>
                </a:solidFill>
                <a:latin typeface="Noto Sans JP" pitchFamily="34" charset="0"/>
                <a:ea typeface="Noto Sans JP" pitchFamily="34" charset="-122"/>
                <a:cs typeface="Noto Sans JP" pitchFamily="34" charset="-120"/>
              </a:rPr>
              <a:t>出版実績</a:t>
            </a:r>
            <a:endParaRPr lang="en-US" sz="1300" dirty="0"/>
          </a:p>
        </p:txBody>
      </p:sp>
      <p:sp>
        <p:nvSpPr>
          <p:cNvPr id="23" name="Text 21"/>
          <p:cNvSpPr txBox="1"/>
          <p:nvPr/>
        </p:nvSpPr>
        <p:spPr>
          <a:xfrm>
            <a:off x="6382512" y="4956048"/>
            <a:ext cx="2148840" cy="256032"/>
          </a:xfrm>
          <a:prstGeom prst="rect">
            <a:avLst/>
          </a:prstGeom>
          <a:noFill/>
          <a:ln/>
        </p:spPr>
        <p:txBody>
          <a:bodyPr wrap="square" lIns="0" tIns="0" rIns="0" bIns="0" rtlCol="0" anchor="ctr">
            <a:normAutofit/>
          </a:bodyPr>
          <a:lstStyle/>
          <a:p>
            <a:pPr algn="l" indent="0" marL="0">
              <a:buNone/>
            </a:pPr>
            <a:r>
              <a:rPr lang="en-US" sz="850" dirty="0">
                <a:solidFill>
                  <a:srgbClr val="687174"/>
                </a:solidFill>
                <a:latin typeface="Noto Sans JP" pitchFamily="34" charset="0"/>
                <a:ea typeface="Noto Sans JP" pitchFamily="34" charset="-122"/>
                <a:cs typeface="Noto Sans JP" pitchFamily="34" charset="-120"/>
              </a:rPr>
              <a:t>p.13–22</a:t>
            </a:r>
            <a:endParaRPr lang="en-US" sz="850" dirty="0"/>
          </a:p>
        </p:txBody>
      </p:sp>
      <p:sp>
        <p:nvSpPr>
          <p:cNvPr id="24" name="Shape 22"/>
          <p:cNvSpPr/>
          <p:nvPr/>
        </p:nvSpPr>
        <p:spPr>
          <a:xfrm>
            <a:off x="9034272" y="2029968"/>
            <a:ext cx="2542032" cy="3401568"/>
          </a:xfrm>
          <a:prstGeom prst="roundRect">
            <a:avLst>
              <a:gd name="adj" fmla="val 2878"/>
            </a:avLst>
          </a:prstGeom>
          <a:solidFill>
            <a:srgbClr val="FFFFFF"/>
          </a:solidFill>
          <a:ln w="8890">
            <a:solidFill>
              <a:srgbClr val="FFFFFF">
                <a:alpha val="0"/>
              </a:srgbClr>
            </a:solidFill>
            <a:prstDash val="solid"/>
          </a:ln>
        </p:spPr>
      </p:sp>
      <p:sp>
        <p:nvSpPr>
          <p:cNvPr id="25" name="Text 23"/>
          <p:cNvSpPr txBox="1"/>
          <p:nvPr/>
        </p:nvSpPr>
        <p:spPr>
          <a:xfrm>
            <a:off x="9217152" y="2249424"/>
            <a:ext cx="457200" cy="292608"/>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04</a:t>
            </a:r>
            <a:endParaRPr lang="en-US" sz="1000" dirty="0"/>
          </a:p>
        </p:txBody>
      </p:sp>
      <p:sp>
        <p:nvSpPr>
          <p:cNvPr id="26" name="Text 24"/>
          <p:cNvSpPr txBox="1"/>
          <p:nvPr/>
        </p:nvSpPr>
        <p:spPr>
          <a:xfrm>
            <a:off x="9217152" y="2761488"/>
            <a:ext cx="2148840" cy="292608"/>
          </a:xfrm>
          <a:prstGeom prst="rect">
            <a:avLst/>
          </a:prstGeom>
          <a:noFill/>
          <a:ln/>
        </p:spPr>
        <p:txBody>
          <a:bodyPr wrap="square" lIns="0" tIns="0" rIns="0" bIns="0" rtlCol="0" anchor="ctr">
            <a:normAutofit/>
          </a:bodyPr>
          <a:lstStyle/>
          <a:p>
            <a:pPr algn="l" indent="0" marL="0">
              <a:buNone/>
            </a:pPr>
            <a:r>
              <a:rPr lang="en-US" sz="1000" b="1" spc="110" kern="0" dirty="0">
                <a:solidFill>
                  <a:srgbClr val="202526"/>
                </a:solidFill>
                <a:latin typeface="Noto Sans JP" pitchFamily="34" charset="0"/>
                <a:ea typeface="Noto Sans JP" pitchFamily="34" charset="-122"/>
                <a:cs typeface="Noto Sans JP" pitchFamily="34" charset="-120"/>
              </a:rPr>
              <a:t>CONTACT</a:t>
            </a:r>
            <a:endParaRPr lang="en-US" sz="1000" dirty="0"/>
          </a:p>
        </p:txBody>
      </p:sp>
      <p:sp>
        <p:nvSpPr>
          <p:cNvPr id="27" name="Shape 25"/>
          <p:cNvSpPr/>
          <p:nvPr/>
        </p:nvSpPr>
        <p:spPr>
          <a:xfrm>
            <a:off x="9217152" y="3255264"/>
            <a:ext cx="512064" cy="0"/>
          </a:xfrm>
          <a:prstGeom prst="line">
            <a:avLst/>
          </a:prstGeom>
          <a:noFill/>
          <a:ln w="25400">
            <a:solidFill>
              <a:srgbClr val="42AFC0"/>
            </a:solidFill>
            <a:prstDash val="solid"/>
            <a:headEnd type="none"/>
            <a:tailEnd type="none"/>
          </a:ln>
        </p:spPr>
      </p:sp>
      <p:sp>
        <p:nvSpPr>
          <p:cNvPr id="28" name="Text 26"/>
          <p:cNvSpPr txBox="1"/>
          <p:nvPr/>
        </p:nvSpPr>
        <p:spPr>
          <a:xfrm>
            <a:off x="9217152" y="3511296"/>
            <a:ext cx="2148840" cy="868680"/>
          </a:xfrm>
          <a:prstGeom prst="rect">
            <a:avLst/>
          </a:prstGeom>
          <a:noFill/>
          <a:ln/>
        </p:spPr>
        <p:txBody>
          <a:bodyPr wrap="square" lIns="0" tIns="0" rIns="0" bIns="0" rtlCol="0" anchor="t">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支援範囲・ご依頼方法</a:t>
            </a:r>
            <a:endParaRPr lang="en-US" sz="1300" dirty="0"/>
          </a:p>
        </p:txBody>
      </p:sp>
      <p:sp>
        <p:nvSpPr>
          <p:cNvPr id="29" name="Text 27"/>
          <p:cNvSpPr txBox="1"/>
          <p:nvPr/>
        </p:nvSpPr>
        <p:spPr>
          <a:xfrm>
            <a:off x="9217152" y="4956048"/>
            <a:ext cx="2148840" cy="256032"/>
          </a:xfrm>
          <a:prstGeom prst="rect">
            <a:avLst/>
          </a:prstGeom>
          <a:noFill/>
          <a:ln/>
        </p:spPr>
        <p:txBody>
          <a:bodyPr wrap="square" lIns="0" tIns="0" rIns="0" bIns="0" rtlCol="0" anchor="ctr">
            <a:normAutofit/>
          </a:bodyPr>
          <a:lstStyle/>
          <a:p>
            <a:pPr algn="l" indent="0" marL="0">
              <a:buNone/>
            </a:pPr>
            <a:r>
              <a:rPr lang="en-US" sz="850" dirty="0">
                <a:solidFill>
                  <a:srgbClr val="687174"/>
                </a:solidFill>
                <a:latin typeface="Noto Sans JP" pitchFamily="34" charset="0"/>
                <a:ea typeface="Noto Sans JP" pitchFamily="34" charset="-122"/>
                <a:cs typeface="Noto Sans JP" pitchFamily="34" charset="-120"/>
              </a:rPr>
              <a:t>p.23–25</a:t>
            </a:r>
            <a:endParaRPr lang="en-US" sz="850" dirty="0"/>
          </a:p>
        </p:txBody>
      </p:sp>
      <p:sp>
        <p:nvSpPr>
          <p:cNvPr id="30" name="Text 28"/>
          <p:cNvSpPr txBox="1"/>
          <p:nvPr/>
        </p:nvSpPr>
        <p:spPr>
          <a:xfrm>
            <a:off x="548640" y="5806440"/>
            <a:ext cx="10881360" cy="384048"/>
          </a:xfrm>
          <a:prstGeom prst="rect">
            <a:avLst/>
          </a:prstGeom>
          <a:noFill/>
          <a:ln/>
        </p:spPr>
        <p:txBody>
          <a:bodyPr wrap="square" lIns="0" tIns="0" rIns="0" bIns="0" rtlCol="0" anchor="ctr">
            <a:normAutofit/>
          </a:bodyPr>
          <a:lstStyle/>
          <a:p>
            <a:pPr algn="ctr" indent="0" marL="0">
              <a:buNone/>
            </a:pPr>
            <a:r>
              <a:rPr lang="en-US" sz="1500" b="1" dirty="0">
                <a:solidFill>
                  <a:srgbClr val="202526"/>
                </a:solidFill>
                <a:latin typeface="Noto Sans JP" pitchFamily="34" charset="0"/>
                <a:ea typeface="Noto Sans JP" pitchFamily="34" charset="-122"/>
                <a:cs typeface="Noto Sans JP" pitchFamily="34" charset="-120"/>
              </a:rPr>
              <a:t>25年以上のデザイン・編集経験を、SNSの継続運用へ。</a:t>
            </a:r>
            <a:endParaRPr lang="en-US" sz="15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03</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PROFILE</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今田 唯仁  |  Brand Architect</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SNSブランド設計・運用ディレクション</a:t>
            </a:r>
            <a:endParaRPr lang="en-US" sz="1050" dirty="0"/>
          </a:p>
        </p:txBody>
      </p:sp>
      <p:sp>
        <p:nvSpPr>
          <p:cNvPr id="6" name="Shape 4"/>
          <p:cNvSpPr/>
          <p:nvPr/>
        </p:nvSpPr>
        <p:spPr>
          <a:xfrm>
            <a:off x="566928" y="1828800"/>
            <a:ext cx="2907792" cy="2907792"/>
          </a:xfrm>
          <a:prstGeom prst="roundRect">
            <a:avLst>
              <a:gd name="adj" fmla="val 2516"/>
            </a:avLst>
          </a:prstGeom>
          <a:solidFill>
            <a:srgbClr val="DDE3E2"/>
          </a:solidFill>
          <a:ln w="8890">
            <a:solidFill>
              <a:srgbClr val="DDE3E2">
                <a:alpha val="0"/>
              </a:srgbClr>
            </a:solidFill>
            <a:prstDash val="solid"/>
          </a:ln>
        </p:spPr>
      </p:sp>
      <p:pic>
        <p:nvPicPr>
          <p:cNvPr id="7" name="Image 0" descr="/Users/imadatadahito/Downloads/IMG_9919.JPG">    </p:cNvPr>
          <p:cNvPicPr>
            <a:picLocks noChangeAspect="1"/>
          </p:cNvPicPr>
          <p:nvPr/>
        </p:nvPicPr>
        <p:blipFill>
          <a:blip r:embed="rId1"/>
          <a:stretch>
            <a:fillRect/>
          </a:stretch>
        </p:blipFill>
        <p:spPr>
          <a:xfrm>
            <a:off x="603504" y="1865376"/>
            <a:ext cx="2834640" cy="2834640"/>
          </a:xfrm>
          <a:prstGeom prst="rect">
            <a:avLst/>
          </a:prstGeom>
        </p:spPr>
      </p:pic>
      <p:sp>
        <p:nvSpPr>
          <p:cNvPr id="8" name="Shape 5"/>
          <p:cNvSpPr/>
          <p:nvPr/>
        </p:nvSpPr>
        <p:spPr>
          <a:xfrm>
            <a:off x="768096" y="5047488"/>
            <a:ext cx="2514600" cy="329184"/>
          </a:xfrm>
          <a:prstGeom prst="roundRect">
            <a:avLst>
              <a:gd name="adj" fmla="val 50000"/>
            </a:avLst>
          </a:prstGeom>
          <a:solidFill>
            <a:srgbClr val="202526"/>
          </a:solidFill>
          <a:ln w="8890">
            <a:solidFill>
              <a:srgbClr val="202526">
                <a:alpha val="0"/>
              </a:srgbClr>
            </a:solidFill>
            <a:prstDash val="solid"/>
          </a:ln>
        </p:spPr>
      </p:sp>
      <p:sp>
        <p:nvSpPr>
          <p:cNvPr id="9" name="Text 6"/>
          <p:cNvSpPr txBox="1"/>
          <p:nvPr/>
        </p:nvSpPr>
        <p:spPr>
          <a:xfrm>
            <a:off x="841248" y="5074920"/>
            <a:ext cx="2368296" cy="256032"/>
          </a:xfrm>
          <a:prstGeom prst="rect">
            <a:avLst/>
          </a:prstGeom>
          <a:noFill/>
          <a:ln/>
        </p:spPr>
        <p:txBody>
          <a:bodyPr wrap="square" lIns="0" tIns="0" rIns="0" bIns="0" rtlCol="0" anchor="ctr">
            <a:normAutofit/>
          </a:bodyPr>
          <a:lstStyle/>
          <a:p>
            <a:pPr algn="ctr" indent="0" marL="0">
              <a:buNone/>
            </a:pPr>
            <a:r>
              <a:rPr lang="en-US" sz="870" b="1" dirty="0">
                <a:solidFill>
                  <a:srgbClr val="FFFFFF"/>
                </a:solidFill>
                <a:latin typeface="Noto Sans JP" pitchFamily="34" charset="0"/>
                <a:ea typeface="Noto Sans JP" pitchFamily="34" charset="-122"/>
                <a:cs typeface="Noto Sans JP" pitchFamily="34" charset="-120"/>
              </a:rPr>
              <a:t>Pound the Rock Design</a:t>
            </a:r>
            <a:endParaRPr lang="en-US" sz="870" dirty="0"/>
          </a:p>
        </p:txBody>
      </p:sp>
      <p:sp>
        <p:nvSpPr>
          <p:cNvPr id="10" name="Text 7"/>
          <p:cNvSpPr txBox="1"/>
          <p:nvPr/>
        </p:nvSpPr>
        <p:spPr>
          <a:xfrm>
            <a:off x="3977640" y="1856232"/>
            <a:ext cx="7260336" cy="1280160"/>
          </a:xfrm>
          <a:prstGeom prst="rect">
            <a:avLst/>
          </a:prstGeom>
          <a:noFill/>
          <a:ln/>
        </p:spPr>
        <p:txBody>
          <a:bodyPr wrap="square" lIns="0" tIns="0" rIns="0" bIns="0" rtlCol="0" anchor="t">
            <a:normAutofit/>
          </a:bodyPr>
          <a:lstStyle/>
          <a:p>
            <a:pPr algn="l" indent="0" marL="0">
              <a:buNone/>
            </a:pPr>
            <a:r>
              <a:rPr lang="en-US" sz="1400" dirty="0">
                <a:solidFill>
                  <a:srgbClr val="202526"/>
                </a:solidFill>
                <a:latin typeface="Noto Sans JP" pitchFamily="34" charset="0"/>
                <a:ea typeface="Noto Sans JP" pitchFamily="34" charset="-122"/>
                <a:cs typeface="Noto Sans JP" pitchFamily="34" charset="-120"/>
              </a:rPr>
              <a:t>グラフィックデザイン・編集・ブランド設計に25年以上携わってきました。</a:t>
            </a:r>
            <a:endParaRPr lang="en-US" sz="1400" dirty="0"/>
          </a:p>
          <a:p>
            <a:pPr algn="l" indent="0" marL="0">
              <a:buNone/>
            </a:pPr>
            <a:r>
              <a:rPr lang="en-US" sz="1400" dirty="0">
                <a:solidFill>
                  <a:srgbClr val="202526"/>
                </a:solidFill>
                <a:latin typeface="Noto Sans JP" pitchFamily="34" charset="0"/>
                <a:ea typeface="Noto Sans JP" pitchFamily="34" charset="-122"/>
                <a:cs typeface="Noto Sans JP" pitchFamily="34" charset="-120"/>
              </a:rPr>
              <a:t>企業や地域、スポーツクラブが持つ「らしさ」を言葉とビジュアルに整理し、SNSで継続的に伝わる形へ落とし込みます。</a:t>
            </a:r>
            <a:endParaRPr lang="en-US" sz="1400" dirty="0"/>
          </a:p>
        </p:txBody>
      </p:sp>
      <p:sp>
        <p:nvSpPr>
          <p:cNvPr id="11" name="Text 8"/>
          <p:cNvSpPr txBox="1"/>
          <p:nvPr/>
        </p:nvSpPr>
        <p:spPr>
          <a:xfrm>
            <a:off x="4005072" y="3401568"/>
            <a:ext cx="1234440" cy="256032"/>
          </a:xfrm>
          <a:prstGeom prst="rect">
            <a:avLst/>
          </a:prstGeom>
          <a:noFill/>
          <a:ln/>
        </p:spPr>
        <p:txBody>
          <a:bodyPr wrap="square" lIns="0" tIns="0" rIns="0" bIns="0" rtlCol="0" anchor="ctr">
            <a:normAutofit/>
          </a:bodyPr>
          <a:lstStyle/>
          <a:p>
            <a:pPr algn="l" indent="0" marL="0">
              <a:buNone/>
            </a:pPr>
            <a:r>
              <a:rPr lang="en-US" sz="750" b="1" spc="80" kern="0" dirty="0">
                <a:solidFill>
                  <a:srgbClr val="188CA1"/>
                </a:solidFill>
                <a:latin typeface="Noto Sans JP" pitchFamily="34" charset="0"/>
                <a:ea typeface="Noto Sans JP" pitchFamily="34" charset="-122"/>
                <a:cs typeface="Noto Sans JP" pitchFamily="34" charset="-120"/>
              </a:rPr>
              <a:t>BACKGROUND</a:t>
            </a:r>
            <a:endParaRPr lang="en-US" sz="750" dirty="0"/>
          </a:p>
        </p:txBody>
      </p:sp>
      <p:sp>
        <p:nvSpPr>
          <p:cNvPr id="12" name="Text 9"/>
          <p:cNvSpPr txBox="1"/>
          <p:nvPr/>
        </p:nvSpPr>
        <p:spPr>
          <a:xfrm>
            <a:off x="5358384" y="3383280"/>
            <a:ext cx="5852160" cy="292608"/>
          </a:xfrm>
          <a:prstGeom prst="rect">
            <a:avLst/>
          </a:prstGeom>
          <a:noFill/>
          <a:ln/>
        </p:spPr>
        <p:txBody>
          <a:bodyPr wrap="square" lIns="0" tIns="0" rIns="0" bIns="0" rtlCol="0" anchor="ctr">
            <a:normAutofit/>
          </a:bodyPr>
          <a:lstStyle/>
          <a:p>
            <a:pPr algn="l" indent="0" marL="0">
              <a:buNone/>
            </a:pPr>
            <a:r>
              <a:rPr lang="en-US" sz="1080" dirty="0">
                <a:solidFill>
                  <a:srgbClr val="202526"/>
                </a:solidFill>
                <a:latin typeface="Noto Sans JP" pitchFamily="34" charset="0"/>
                <a:ea typeface="Noto Sans JP" pitchFamily="34" charset="-122"/>
                <a:cs typeface="Noto Sans JP" pitchFamily="34" charset="-120"/>
              </a:rPr>
              <a:t>元地域情報誌 編集長／アートディレクション</a:t>
            </a:r>
            <a:endParaRPr lang="en-US" sz="1080" dirty="0"/>
          </a:p>
        </p:txBody>
      </p:sp>
      <p:sp>
        <p:nvSpPr>
          <p:cNvPr id="13" name="Shape 10"/>
          <p:cNvSpPr/>
          <p:nvPr/>
        </p:nvSpPr>
        <p:spPr>
          <a:xfrm>
            <a:off x="4005072" y="3758184"/>
            <a:ext cx="7205472" cy="0"/>
          </a:xfrm>
          <a:prstGeom prst="line">
            <a:avLst/>
          </a:prstGeom>
          <a:noFill/>
          <a:ln w="10160">
            <a:solidFill>
              <a:srgbClr val="DDE3E2"/>
            </a:solidFill>
            <a:prstDash val="solid"/>
            <a:headEnd type="none"/>
            <a:tailEnd type="none"/>
          </a:ln>
        </p:spPr>
      </p:sp>
      <p:sp>
        <p:nvSpPr>
          <p:cNvPr id="14" name="Text 11"/>
          <p:cNvSpPr txBox="1"/>
          <p:nvPr/>
        </p:nvSpPr>
        <p:spPr>
          <a:xfrm>
            <a:off x="4005072" y="3931920"/>
            <a:ext cx="1234440" cy="256032"/>
          </a:xfrm>
          <a:prstGeom prst="rect">
            <a:avLst/>
          </a:prstGeom>
          <a:noFill/>
          <a:ln/>
        </p:spPr>
        <p:txBody>
          <a:bodyPr wrap="square" lIns="0" tIns="0" rIns="0" bIns="0" rtlCol="0" anchor="ctr">
            <a:normAutofit/>
          </a:bodyPr>
          <a:lstStyle/>
          <a:p>
            <a:pPr algn="l" indent="0" marL="0">
              <a:buNone/>
            </a:pPr>
            <a:r>
              <a:rPr lang="en-US" sz="750" b="1" spc="80" kern="0" dirty="0">
                <a:solidFill>
                  <a:srgbClr val="188CA1"/>
                </a:solidFill>
                <a:latin typeface="Noto Sans JP" pitchFamily="34" charset="0"/>
                <a:ea typeface="Noto Sans JP" pitchFamily="34" charset="-122"/>
                <a:cs typeface="Noto Sans JP" pitchFamily="34" charset="-120"/>
              </a:rPr>
              <a:t>SPECIALTY</a:t>
            </a:r>
            <a:endParaRPr lang="en-US" sz="750" dirty="0"/>
          </a:p>
        </p:txBody>
      </p:sp>
      <p:sp>
        <p:nvSpPr>
          <p:cNvPr id="15" name="Text 12"/>
          <p:cNvSpPr txBox="1"/>
          <p:nvPr/>
        </p:nvSpPr>
        <p:spPr>
          <a:xfrm>
            <a:off x="5358384" y="3913632"/>
            <a:ext cx="5852160" cy="292608"/>
          </a:xfrm>
          <a:prstGeom prst="rect">
            <a:avLst/>
          </a:prstGeom>
          <a:noFill/>
          <a:ln/>
        </p:spPr>
        <p:txBody>
          <a:bodyPr wrap="square" lIns="0" tIns="0" rIns="0" bIns="0" rtlCol="0" anchor="ctr">
            <a:normAutofit/>
          </a:bodyPr>
          <a:lstStyle/>
          <a:p>
            <a:pPr algn="l" indent="0" marL="0">
              <a:buNone/>
            </a:pPr>
            <a:r>
              <a:rPr lang="en-US" sz="1080" b="1" dirty="0">
                <a:solidFill>
                  <a:srgbClr val="202526"/>
                </a:solidFill>
                <a:latin typeface="Noto Sans JP" pitchFamily="34" charset="0"/>
                <a:ea typeface="Noto Sans JP" pitchFamily="34" charset="-122"/>
                <a:cs typeface="Noto Sans JP" pitchFamily="34" charset="-120"/>
              </a:rPr>
              <a:t>ブランド設計・編集・SNSコンテンツ</a:t>
            </a:r>
            <a:endParaRPr lang="en-US" sz="1080" dirty="0"/>
          </a:p>
        </p:txBody>
      </p:sp>
      <p:sp>
        <p:nvSpPr>
          <p:cNvPr id="16" name="Shape 13"/>
          <p:cNvSpPr/>
          <p:nvPr/>
        </p:nvSpPr>
        <p:spPr>
          <a:xfrm>
            <a:off x="4005072" y="4288536"/>
            <a:ext cx="7205472" cy="0"/>
          </a:xfrm>
          <a:prstGeom prst="line">
            <a:avLst/>
          </a:prstGeom>
          <a:noFill/>
          <a:ln w="10160">
            <a:solidFill>
              <a:srgbClr val="DDE3E2"/>
            </a:solidFill>
            <a:prstDash val="solid"/>
            <a:headEnd type="none"/>
            <a:tailEnd type="none"/>
          </a:ln>
        </p:spPr>
      </p:sp>
      <p:sp>
        <p:nvSpPr>
          <p:cNvPr id="17" name="Text 14"/>
          <p:cNvSpPr txBox="1"/>
          <p:nvPr/>
        </p:nvSpPr>
        <p:spPr>
          <a:xfrm>
            <a:off x="4005072" y="4462272"/>
            <a:ext cx="1234440" cy="256032"/>
          </a:xfrm>
          <a:prstGeom prst="rect">
            <a:avLst/>
          </a:prstGeom>
          <a:noFill/>
          <a:ln/>
        </p:spPr>
        <p:txBody>
          <a:bodyPr wrap="square" lIns="0" tIns="0" rIns="0" bIns="0" rtlCol="0" anchor="ctr">
            <a:normAutofit/>
          </a:bodyPr>
          <a:lstStyle/>
          <a:p>
            <a:pPr algn="l" indent="0" marL="0">
              <a:buNone/>
            </a:pPr>
            <a:r>
              <a:rPr lang="en-US" sz="750" b="1" spc="80" kern="0" dirty="0">
                <a:solidFill>
                  <a:srgbClr val="188CA1"/>
                </a:solidFill>
                <a:latin typeface="Noto Sans JP" pitchFamily="34" charset="0"/>
                <a:ea typeface="Noto Sans JP" pitchFamily="34" charset="-122"/>
                <a:cs typeface="Noto Sans JP" pitchFamily="34" charset="-120"/>
              </a:rPr>
              <a:t>COACHING</a:t>
            </a:r>
            <a:endParaRPr lang="en-US" sz="750" dirty="0"/>
          </a:p>
        </p:txBody>
      </p:sp>
      <p:sp>
        <p:nvSpPr>
          <p:cNvPr id="18" name="Text 15"/>
          <p:cNvSpPr txBox="1"/>
          <p:nvPr/>
        </p:nvSpPr>
        <p:spPr>
          <a:xfrm>
            <a:off x="5358384" y="4443984"/>
            <a:ext cx="5852160" cy="292608"/>
          </a:xfrm>
          <a:prstGeom prst="rect">
            <a:avLst/>
          </a:prstGeom>
          <a:noFill/>
          <a:ln/>
        </p:spPr>
        <p:txBody>
          <a:bodyPr wrap="square" lIns="0" tIns="0" rIns="0" bIns="0" rtlCol="0" anchor="ctr">
            <a:normAutofit/>
          </a:bodyPr>
          <a:lstStyle/>
          <a:p>
            <a:pPr algn="l" indent="0" marL="0">
              <a:buNone/>
            </a:pPr>
            <a:r>
              <a:rPr lang="en-US" sz="1080" dirty="0">
                <a:solidFill>
                  <a:srgbClr val="202526"/>
                </a:solidFill>
                <a:latin typeface="Noto Sans JP" pitchFamily="34" charset="0"/>
                <a:ea typeface="Noto Sans JP" pitchFamily="34" charset="-122"/>
                <a:cs typeface="Noto Sans JP" pitchFamily="34" charset="-120"/>
              </a:rPr>
              <a:t>JFA B級／メンタルコーチ資格</a:t>
            </a:r>
            <a:endParaRPr lang="en-US" sz="1080" dirty="0"/>
          </a:p>
        </p:txBody>
      </p:sp>
      <p:sp>
        <p:nvSpPr>
          <p:cNvPr id="19" name="Shape 16"/>
          <p:cNvSpPr/>
          <p:nvPr/>
        </p:nvSpPr>
        <p:spPr>
          <a:xfrm>
            <a:off x="4005072" y="4818888"/>
            <a:ext cx="7205472" cy="0"/>
          </a:xfrm>
          <a:prstGeom prst="line">
            <a:avLst/>
          </a:prstGeom>
          <a:noFill/>
          <a:ln w="10160">
            <a:solidFill>
              <a:srgbClr val="DDE3E2"/>
            </a:solidFill>
            <a:prstDash val="solid"/>
            <a:headEnd type="none"/>
            <a:tailEnd type="none"/>
          </a:ln>
        </p:spPr>
      </p:sp>
      <p:sp>
        <p:nvSpPr>
          <p:cNvPr id="20" name="Text 17"/>
          <p:cNvSpPr txBox="1"/>
          <p:nvPr/>
        </p:nvSpPr>
        <p:spPr>
          <a:xfrm>
            <a:off x="4005072" y="4992624"/>
            <a:ext cx="1234440" cy="256032"/>
          </a:xfrm>
          <a:prstGeom prst="rect">
            <a:avLst/>
          </a:prstGeom>
          <a:noFill/>
          <a:ln/>
        </p:spPr>
        <p:txBody>
          <a:bodyPr wrap="square" lIns="0" tIns="0" rIns="0" bIns="0" rtlCol="0" anchor="ctr">
            <a:normAutofit/>
          </a:bodyPr>
          <a:lstStyle/>
          <a:p>
            <a:pPr algn="l" indent="0" marL="0">
              <a:buNone/>
            </a:pPr>
            <a:r>
              <a:rPr lang="en-US" sz="750" b="1" spc="80" kern="0" dirty="0">
                <a:solidFill>
                  <a:srgbClr val="188CA1"/>
                </a:solidFill>
                <a:latin typeface="Noto Sans JP" pitchFamily="34" charset="0"/>
                <a:ea typeface="Noto Sans JP" pitchFamily="34" charset="-122"/>
                <a:cs typeface="Noto Sans JP" pitchFamily="34" charset="-120"/>
              </a:rPr>
              <a:t>TOOLS</a:t>
            </a:r>
            <a:endParaRPr lang="en-US" sz="750" dirty="0"/>
          </a:p>
        </p:txBody>
      </p:sp>
      <p:sp>
        <p:nvSpPr>
          <p:cNvPr id="21" name="Text 18"/>
          <p:cNvSpPr txBox="1"/>
          <p:nvPr/>
        </p:nvSpPr>
        <p:spPr>
          <a:xfrm>
            <a:off x="5358384" y="4974336"/>
            <a:ext cx="5852160" cy="292608"/>
          </a:xfrm>
          <a:prstGeom prst="rect">
            <a:avLst/>
          </a:prstGeom>
          <a:noFill/>
          <a:ln/>
        </p:spPr>
        <p:txBody>
          <a:bodyPr wrap="square" lIns="0" tIns="0" rIns="0" bIns="0" rtlCol="0" anchor="ctr">
            <a:normAutofit/>
          </a:bodyPr>
          <a:lstStyle/>
          <a:p>
            <a:pPr algn="l" indent="0" marL="0">
              <a:buNone/>
            </a:pPr>
            <a:r>
              <a:rPr lang="en-US" sz="1080" dirty="0">
                <a:solidFill>
                  <a:srgbClr val="202526"/>
                </a:solidFill>
                <a:latin typeface="Noto Sans JP" pitchFamily="34" charset="0"/>
                <a:ea typeface="Noto Sans JP" pitchFamily="34" charset="-122"/>
                <a:cs typeface="Noto Sans JP" pitchFamily="34" charset="-120"/>
              </a:rPr>
              <a:t>Adobe CC / Premiere Pro / ChatGPT / Claude / Gemini</a:t>
            </a:r>
            <a:endParaRPr lang="en-US" sz="1080" dirty="0"/>
          </a:p>
        </p:txBody>
      </p:sp>
      <p:sp>
        <p:nvSpPr>
          <p:cNvPr id="22" name="Shape 19"/>
          <p:cNvSpPr/>
          <p:nvPr/>
        </p:nvSpPr>
        <p:spPr>
          <a:xfrm>
            <a:off x="4005072" y="5349240"/>
            <a:ext cx="7205472" cy="0"/>
          </a:xfrm>
          <a:prstGeom prst="line">
            <a:avLst/>
          </a:prstGeom>
          <a:noFill/>
          <a:ln w="10160">
            <a:solidFill>
              <a:srgbClr val="DDE3E2"/>
            </a:solidFill>
            <a:prstDash val="solid"/>
            <a:headEnd type="none"/>
            <a:tailEnd type="none"/>
          </a:ln>
        </p:spPr>
      </p:sp>
      <p:sp>
        <p:nvSpPr>
          <p:cNvPr id="23" name="Text 20"/>
          <p:cNvSpPr txBox="1"/>
          <p:nvPr/>
        </p:nvSpPr>
        <p:spPr>
          <a:xfrm>
            <a:off x="4023360" y="5696712"/>
            <a:ext cx="6949440" cy="320040"/>
          </a:xfrm>
          <a:prstGeom prst="rect">
            <a:avLst/>
          </a:prstGeom>
          <a:noFill/>
          <a:ln/>
        </p:spPr>
        <p:txBody>
          <a:bodyPr wrap="square" lIns="0" tIns="0" rIns="0" bIns="0" rtlCol="0" anchor="ctr">
            <a:normAutofit/>
          </a:bodyPr>
          <a:lstStyle/>
          <a:p>
            <a:pPr algn="l" indent="0" marL="0">
              <a:buNone/>
            </a:pPr>
            <a:r>
              <a:rPr lang="en-US" sz="1300" i="1" dirty="0">
                <a:solidFill>
                  <a:srgbClr val="188CA1"/>
                </a:solidFill>
                <a:latin typeface="Noto Sans JP" pitchFamily="34" charset="0"/>
                <a:ea typeface="Noto Sans JP" pitchFamily="34" charset="-122"/>
                <a:cs typeface="Noto Sans JP" pitchFamily="34" charset="-120"/>
              </a:rPr>
              <a:t>「葦なる刃は、静かに尖れる。」</a:t>
            </a:r>
            <a:endParaRPr lang="en-US" sz="13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04</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STRENGTHS</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3つの力で、運用が続く土台をつくる。</a:t>
            </a:r>
            <a:endParaRPr lang="en-US" sz="2400" dirty="0"/>
          </a:p>
        </p:txBody>
      </p:sp>
      <p:sp>
        <p:nvSpPr>
          <p:cNvPr id="5" name="Shape 3"/>
          <p:cNvSpPr/>
          <p:nvPr/>
        </p:nvSpPr>
        <p:spPr>
          <a:xfrm>
            <a:off x="548640" y="1874520"/>
            <a:ext cx="3547872" cy="3520440"/>
          </a:xfrm>
          <a:prstGeom prst="roundRect">
            <a:avLst>
              <a:gd name="adj" fmla="val 2597"/>
            </a:avLst>
          </a:prstGeom>
          <a:solidFill>
            <a:srgbClr val="DDEDF1"/>
          </a:solidFill>
          <a:ln w="8890">
            <a:solidFill>
              <a:srgbClr val="DDEDF1">
                <a:alpha val="0"/>
              </a:srgbClr>
            </a:solidFill>
            <a:prstDash val="solid"/>
          </a:ln>
        </p:spPr>
      </p:sp>
      <p:sp>
        <p:nvSpPr>
          <p:cNvPr id="6" name="Text 4"/>
          <p:cNvSpPr txBox="1"/>
          <p:nvPr/>
        </p:nvSpPr>
        <p:spPr>
          <a:xfrm>
            <a:off x="731520" y="2039112"/>
            <a:ext cx="411480" cy="320040"/>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01</a:t>
            </a:r>
            <a:endParaRPr lang="en-US" sz="1000" dirty="0"/>
          </a:p>
        </p:txBody>
      </p:sp>
      <p:sp>
        <p:nvSpPr>
          <p:cNvPr id="7" name="Text 5"/>
          <p:cNvSpPr txBox="1"/>
          <p:nvPr/>
        </p:nvSpPr>
        <p:spPr>
          <a:xfrm>
            <a:off x="731520" y="2441448"/>
            <a:ext cx="3182112" cy="393192"/>
          </a:xfrm>
          <a:prstGeom prst="rect">
            <a:avLst/>
          </a:prstGeom>
          <a:noFill/>
          <a:ln/>
        </p:spPr>
        <p:txBody>
          <a:bodyPr wrap="square" lIns="0" tIns="0" rIns="0" bIns="0" rtlCol="0" anchor="ctr">
            <a:normAutofit/>
          </a:bodyPr>
          <a:lstStyle/>
          <a:p>
            <a:pPr algn="l" indent="0" marL="0">
              <a:buNone/>
            </a:pPr>
            <a:r>
              <a:rPr lang="en-US" sz="1500" b="1" dirty="0">
                <a:solidFill>
                  <a:srgbClr val="202526"/>
                </a:solidFill>
                <a:latin typeface="Noto Sans JP" pitchFamily="34" charset="0"/>
                <a:ea typeface="Noto Sans JP" pitchFamily="34" charset="-122"/>
                <a:cs typeface="Noto Sans JP" pitchFamily="34" charset="-120"/>
              </a:rPr>
              <a:t>設計力</a:t>
            </a:r>
            <a:endParaRPr lang="en-US" sz="1500" dirty="0"/>
          </a:p>
        </p:txBody>
      </p:sp>
      <p:sp>
        <p:nvSpPr>
          <p:cNvPr id="8" name="Text 6"/>
          <p:cNvSpPr txBox="1"/>
          <p:nvPr/>
        </p:nvSpPr>
        <p:spPr>
          <a:xfrm>
            <a:off x="731520" y="2898648"/>
            <a:ext cx="3182112" cy="2331720"/>
          </a:xfrm>
          <a:prstGeom prst="rect">
            <a:avLst/>
          </a:prstGeom>
          <a:noFill/>
          <a:ln/>
        </p:spPr>
        <p:txBody>
          <a:bodyPr wrap="square" lIns="0" tIns="0" rIns="0" bIns="0" rtlCol="0" anchor="t">
            <a:normAutofit/>
          </a:bodyPr>
          <a:lstStyle/>
          <a:p>
            <a:pPr algn="l" indent="0" marL="0">
              <a:buNone/>
            </a:pPr>
            <a:r>
              <a:rPr lang="en-US" sz="940" dirty="0">
                <a:solidFill>
                  <a:srgbClr val="687174"/>
                </a:solidFill>
                <a:latin typeface="Noto Sans JP" pitchFamily="34" charset="0"/>
                <a:ea typeface="Noto Sans JP" pitchFamily="34" charset="-122"/>
                <a:cs typeface="Noto Sans JP" pitchFamily="34" charset="-120"/>
              </a:rPr>
              <a:t>目的・顧客・競合・導線を整理し、発信の軸と優先順位を明確にします。</a:t>
            </a:r>
            <a:endParaRPr lang="en-US" sz="940" dirty="0"/>
          </a:p>
          <a:p>
            <a:pPr algn="l" indent="0" marL="0">
              <a:buNone/>
            </a:pPr>
            <a:endParaRPr lang="en-US" sz="940" dirty="0"/>
          </a:p>
          <a:p>
            <a:pPr algn="l" indent="0" marL="0">
              <a:buNone/>
            </a:pPr>
            <a:r>
              <a:rPr lang="en-US" sz="940" dirty="0">
                <a:solidFill>
                  <a:srgbClr val="687174"/>
                </a:solidFill>
                <a:latin typeface="Noto Sans JP" pitchFamily="34" charset="0"/>
                <a:ea typeface="Noto Sans JP" pitchFamily="34" charset="-122"/>
                <a:cs typeface="Noto Sans JP" pitchFamily="34" charset="-120"/>
              </a:rPr>
              <a:t>誰に、何を、どの順で伝えるか。ここが決まらないまま投稿を重ねても、本数が増えるだけで何も積み上がりません。</a:t>
            </a:r>
            <a:endParaRPr lang="en-US" sz="940" dirty="0"/>
          </a:p>
        </p:txBody>
      </p:sp>
      <p:sp>
        <p:nvSpPr>
          <p:cNvPr id="9" name="Shape 7"/>
          <p:cNvSpPr/>
          <p:nvPr/>
        </p:nvSpPr>
        <p:spPr>
          <a:xfrm>
            <a:off x="4315968" y="1874520"/>
            <a:ext cx="3547872" cy="3520440"/>
          </a:xfrm>
          <a:prstGeom prst="roundRect">
            <a:avLst>
              <a:gd name="adj" fmla="val 2597"/>
            </a:avLst>
          </a:prstGeom>
          <a:solidFill>
            <a:srgbClr val="FFFFFF"/>
          </a:solidFill>
          <a:ln w="8890">
            <a:solidFill>
              <a:srgbClr val="FFFFFF">
                <a:alpha val="0"/>
              </a:srgbClr>
            </a:solidFill>
            <a:prstDash val="solid"/>
          </a:ln>
        </p:spPr>
      </p:sp>
      <p:sp>
        <p:nvSpPr>
          <p:cNvPr id="10" name="Text 8"/>
          <p:cNvSpPr txBox="1"/>
          <p:nvPr/>
        </p:nvSpPr>
        <p:spPr>
          <a:xfrm>
            <a:off x="4498848" y="2039112"/>
            <a:ext cx="411480" cy="320040"/>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02</a:t>
            </a:r>
            <a:endParaRPr lang="en-US" sz="1000" dirty="0"/>
          </a:p>
        </p:txBody>
      </p:sp>
      <p:sp>
        <p:nvSpPr>
          <p:cNvPr id="11" name="Text 9"/>
          <p:cNvSpPr txBox="1"/>
          <p:nvPr/>
        </p:nvSpPr>
        <p:spPr>
          <a:xfrm>
            <a:off x="4498848" y="2441448"/>
            <a:ext cx="3182112" cy="393192"/>
          </a:xfrm>
          <a:prstGeom prst="rect">
            <a:avLst/>
          </a:prstGeom>
          <a:noFill/>
          <a:ln/>
        </p:spPr>
        <p:txBody>
          <a:bodyPr wrap="square" lIns="0" tIns="0" rIns="0" bIns="0" rtlCol="0" anchor="ctr">
            <a:normAutofit/>
          </a:bodyPr>
          <a:lstStyle/>
          <a:p>
            <a:pPr algn="l" indent="0" marL="0">
              <a:buNone/>
            </a:pPr>
            <a:r>
              <a:rPr lang="en-US" sz="1500" b="1" dirty="0">
                <a:solidFill>
                  <a:srgbClr val="202526"/>
                </a:solidFill>
                <a:latin typeface="Noto Sans JP" pitchFamily="34" charset="0"/>
                <a:ea typeface="Noto Sans JP" pitchFamily="34" charset="-122"/>
                <a:cs typeface="Noto Sans JP" pitchFamily="34" charset="-120"/>
              </a:rPr>
              <a:t>編集力</a:t>
            </a:r>
            <a:endParaRPr lang="en-US" sz="1500" dirty="0"/>
          </a:p>
        </p:txBody>
      </p:sp>
      <p:sp>
        <p:nvSpPr>
          <p:cNvPr id="12" name="Text 10"/>
          <p:cNvSpPr txBox="1"/>
          <p:nvPr/>
        </p:nvSpPr>
        <p:spPr>
          <a:xfrm>
            <a:off x="4498848" y="2898648"/>
            <a:ext cx="3182112" cy="2331720"/>
          </a:xfrm>
          <a:prstGeom prst="rect">
            <a:avLst/>
          </a:prstGeom>
          <a:noFill/>
          <a:ln/>
        </p:spPr>
        <p:txBody>
          <a:bodyPr wrap="square" lIns="0" tIns="0" rIns="0" bIns="0" rtlCol="0" anchor="t">
            <a:normAutofit/>
          </a:bodyPr>
          <a:lstStyle/>
          <a:p>
            <a:pPr algn="l" indent="0" marL="0">
              <a:buNone/>
            </a:pPr>
            <a:r>
              <a:rPr lang="en-US" sz="940" dirty="0">
                <a:solidFill>
                  <a:srgbClr val="687174"/>
                </a:solidFill>
                <a:latin typeface="Noto Sans JP" pitchFamily="34" charset="0"/>
                <a:ea typeface="Noto Sans JP" pitchFamily="34" charset="-122"/>
                <a:cs typeface="Noto Sans JP" pitchFamily="34" charset="-120"/>
              </a:rPr>
              <a:t>伝えたい情報を、相手が読みたくなる言葉・順序・ビジュアルに再構成します。</a:t>
            </a:r>
            <a:endParaRPr lang="en-US" sz="940" dirty="0"/>
          </a:p>
          <a:p>
            <a:pPr algn="l" indent="0" marL="0">
              <a:buNone/>
            </a:pPr>
            <a:endParaRPr lang="en-US" sz="940" dirty="0"/>
          </a:p>
          <a:p>
            <a:pPr algn="l" indent="0" marL="0">
              <a:buNone/>
            </a:pPr>
            <a:r>
              <a:rPr lang="en-US" sz="940" dirty="0">
                <a:solidFill>
                  <a:srgbClr val="687174"/>
                </a:solidFill>
                <a:latin typeface="Noto Sans JP" pitchFamily="34" charset="0"/>
                <a:ea typeface="Noto Sans JP" pitchFamily="34" charset="-122"/>
                <a:cs typeface="Noto Sans JP" pitchFamily="34" charset="-120"/>
              </a:rPr>
              <a:t>25年の編集経験は、足す技術より削る判断の蓄積です。何を書かないかを決められることが、読ませる条件だと考えています。</a:t>
            </a:r>
            <a:endParaRPr lang="en-US" sz="940" dirty="0"/>
          </a:p>
        </p:txBody>
      </p:sp>
      <p:sp>
        <p:nvSpPr>
          <p:cNvPr id="13" name="Shape 11"/>
          <p:cNvSpPr/>
          <p:nvPr/>
        </p:nvSpPr>
        <p:spPr>
          <a:xfrm>
            <a:off x="8083296" y="1874520"/>
            <a:ext cx="3547872" cy="3520440"/>
          </a:xfrm>
          <a:prstGeom prst="roundRect">
            <a:avLst>
              <a:gd name="adj" fmla="val 2597"/>
            </a:avLst>
          </a:prstGeom>
          <a:solidFill>
            <a:srgbClr val="DDE3E2"/>
          </a:solidFill>
          <a:ln w="8890">
            <a:solidFill>
              <a:srgbClr val="DDE3E2">
                <a:alpha val="0"/>
              </a:srgbClr>
            </a:solidFill>
            <a:prstDash val="solid"/>
          </a:ln>
        </p:spPr>
      </p:sp>
      <p:sp>
        <p:nvSpPr>
          <p:cNvPr id="14" name="Text 12"/>
          <p:cNvSpPr txBox="1"/>
          <p:nvPr/>
        </p:nvSpPr>
        <p:spPr>
          <a:xfrm>
            <a:off x="8266176" y="2039112"/>
            <a:ext cx="411480" cy="320040"/>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03</a:t>
            </a:r>
            <a:endParaRPr lang="en-US" sz="1000" dirty="0"/>
          </a:p>
        </p:txBody>
      </p:sp>
      <p:sp>
        <p:nvSpPr>
          <p:cNvPr id="15" name="Text 13"/>
          <p:cNvSpPr txBox="1"/>
          <p:nvPr/>
        </p:nvSpPr>
        <p:spPr>
          <a:xfrm>
            <a:off x="8266176" y="2441448"/>
            <a:ext cx="3182112" cy="393192"/>
          </a:xfrm>
          <a:prstGeom prst="rect">
            <a:avLst/>
          </a:prstGeom>
          <a:noFill/>
          <a:ln/>
        </p:spPr>
        <p:txBody>
          <a:bodyPr wrap="square" lIns="0" tIns="0" rIns="0" bIns="0" rtlCol="0" anchor="ctr">
            <a:normAutofit/>
          </a:bodyPr>
          <a:lstStyle/>
          <a:p>
            <a:pPr algn="l" indent="0" marL="0">
              <a:buNone/>
            </a:pPr>
            <a:r>
              <a:rPr lang="en-US" sz="1500" b="1" dirty="0">
                <a:solidFill>
                  <a:srgbClr val="202526"/>
                </a:solidFill>
                <a:latin typeface="Noto Sans JP" pitchFamily="34" charset="0"/>
                <a:ea typeface="Noto Sans JP" pitchFamily="34" charset="-122"/>
                <a:cs typeface="Noto Sans JP" pitchFamily="34" charset="-120"/>
              </a:rPr>
              <a:t>伴走力</a:t>
            </a:r>
            <a:endParaRPr lang="en-US" sz="1500" dirty="0"/>
          </a:p>
        </p:txBody>
      </p:sp>
      <p:sp>
        <p:nvSpPr>
          <p:cNvPr id="16" name="Text 14"/>
          <p:cNvSpPr txBox="1"/>
          <p:nvPr/>
        </p:nvSpPr>
        <p:spPr>
          <a:xfrm>
            <a:off x="8266176" y="2898648"/>
            <a:ext cx="3182112" cy="2331720"/>
          </a:xfrm>
          <a:prstGeom prst="rect">
            <a:avLst/>
          </a:prstGeom>
          <a:noFill/>
          <a:ln/>
        </p:spPr>
        <p:txBody>
          <a:bodyPr wrap="square" lIns="0" tIns="0" rIns="0" bIns="0" rtlCol="0" anchor="t">
            <a:normAutofit/>
          </a:bodyPr>
          <a:lstStyle/>
          <a:p>
            <a:pPr algn="l" indent="0" marL="0">
              <a:buNone/>
            </a:pPr>
            <a:r>
              <a:rPr lang="en-US" sz="940" dirty="0">
                <a:solidFill>
                  <a:srgbClr val="687174"/>
                </a:solidFill>
                <a:latin typeface="Noto Sans JP" pitchFamily="34" charset="0"/>
                <a:ea typeface="Noto Sans JP" pitchFamily="34" charset="-122"/>
                <a:cs typeface="Noto Sans JP" pitchFamily="34" charset="-120"/>
              </a:rPr>
              <a:t>制作して終わりではなく、反応を見ながら改善します。</a:t>
            </a:r>
            <a:endParaRPr lang="en-US" sz="940" dirty="0"/>
          </a:p>
          <a:p>
            <a:pPr algn="l" indent="0" marL="0">
              <a:buNone/>
            </a:pPr>
            <a:endParaRPr lang="en-US" sz="940" dirty="0"/>
          </a:p>
          <a:p>
            <a:pPr algn="l" indent="0" marL="0">
              <a:buNone/>
            </a:pPr>
            <a:r>
              <a:rPr lang="en-US" sz="940" dirty="0">
                <a:solidFill>
                  <a:srgbClr val="687174"/>
                </a:solidFill>
                <a:latin typeface="Noto Sans JP" pitchFamily="34" charset="0"/>
                <a:ea typeface="Noto Sans JP" pitchFamily="34" charset="-122"/>
                <a:cs typeface="Noto Sans JP" pitchFamily="34" charset="-120"/>
              </a:rPr>
              <a:t>担当者が代わっても回るよう、判断基準とテンプレートを残す。属人化させないことが、続く運用の条件です。</a:t>
            </a:r>
            <a:endParaRPr lang="en-US" sz="940" dirty="0"/>
          </a:p>
        </p:txBody>
      </p:sp>
      <p:sp>
        <p:nvSpPr>
          <p:cNvPr id="17" name="Text 15"/>
          <p:cNvSpPr txBox="1"/>
          <p:nvPr/>
        </p:nvSpPr>
        <p:spPr>
          <a:xfrm>
            <a:off x="566928" y="5815584"/>
            <a:ext cx="11018520" cy="320040"/>
          </a:xfrm>
          <a:prstGeom prst="rect">
            <a:avLst/>
          </a:prstGeom>
          <a:noFill/>
          <a:ln/>
        </p:spPr>
        <p:txBody>
          <a:bodyPr wrap="square" lIns="0" tIns="0" rIns="0" bIns="0" rtlCol="0" anchor="ctr">
            <a:normAutofit/>
          </a:bodyPr>
          <a:lstStyle/>
          <a:p>
            <a:pPr algn="ctr" indent="0" marL="0">
              <a:buNone/>
            </a:pPr>
            <a:r>
              <a:rPr lang="en-US" sz="1000" b="1" spc="200" kern="0" dirty="0">
                <a:solidFill>
                  <a:srgbClr val="687174"/>
                </a:solidFill>
                <a:latin typeface="Noto Sans JP" pitchFamily="34" charset="0"/>
                <a:ea typeface="Noto Sans JP" pitchFamily="34" charset="-122"/>
                <a:cs typeface="Noto Sans JP" pitchFamily="34" charset="-120"/>
              </a:rPr>
              <a:t>DESIGN  ×  EDITORIAL  ×  COACHING</a:t>
            </a:r>
            <a:endParaRPr lang="en-US" sz="10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05</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EXPERIENCE</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経験を、SNS運用の判断力に変える。</a:t>
            </a:r>
            <a:endParaRPr lang="en-US" sz="2400" dirty="0"/>
          </a:p>
        </p:txBody>
      </p:sp>
      <p:sp>
        <p:nvSpPr>
          <p:cNvPr id="5" name="Shape 3"/>
          <p:cNvSpPr/>
          <p:nvPr/>
        </p:nvSpPr>
        <p:spPr>
          <a:xfrm>
            <a:off x="594360" y="1901952"/>
            <a:ext cx="3456432" cy="1874520"/>
          </a:xfrm>
          <a:prstGeom prst="roundRect">
            <a:avLst>
              <a:gd name="adj" fmla="val 3902"/>
            </a:avLst>
          </a:prstGeom>
          <a:solidFill>
            <a:srgbClr val="FFFFFF"/>
          </a:solidFill>
          <a:ln w="8890">
            <a:solidFill>
              <a:srgbClr val="FFFFFF">
                <a:alpha val="0"/>
              </a:srgbClr>
            </a:solidFill>
            <a:prstDash val="solid"/>
          </a:ln>
        </p:spPr>
      </p:sp>
      <p:sp>
        <p:nvSpPr>
          <p:cNvPr id="6" name="Text 4"/>
          <p:cNvSpPr txBox="1"/>
          <p:nvPr/>
        </p:nvSpPr>
        <p:spPr>
          <a:xfrm>
            <a:off x="795528" y="2112264"/>
            <a:ext cx="3017520" cy="594360"/>
          </a:xfrm>
          <a:prstGeom prst="rect">
            <a:avLst/>
          </a:prstGeom>
          <a:noFill/>
          <a:ln/>
        </p:spPr>
        <p:txBody>
          <a:bodyPr wrap="square" lIns="0" tIns="0" rIns="0" bIns="0" rtlCol="0" anchor="ctr">
            <a:normAutofit/>
          </a:bodyPr>
          <a:lstStyle/>
          <a:p>
            <a:pPr algn="l" indent="0" marL="0">
              <a:buNone/>
            </a:pPr>
            <a:r>
              <a:rPr lang="en-US" sz="3200" b="1" dirty="0">
                <a:solidFill>
                  <a:srgbClr val="188CA1"/>
                </a:solidFill>
                <a:latin typeface="Noto Sans JP" pitchFamily="34" charset="0"/>
                <a:ea typeface="Noto Sans JP" pitchFamily="34" charset="-122"/>
                <a:cs typeface="Noto Sans JP" pitchFamily="34" charset="-120"/>
              </a:rPr>
              <a:t>25+</a:t>
            </a:r>
            <a:endParaRPr lang="en-US" sz="3200" dirty="0"/>
          </a:p>
        </p:txBody>
      </p:sp>
      <p:sp>
        <p:nvSpPr>
          <p:cNvPr id="7" name="Text 5"/>
          <p:cNvSpPr txBox="1"/>
          <p:nvPr/>
        </p:nvSpPr>
        <p:spPr>
          <a:xfrm>
            <a:off x="813816" y="2770632"/>
            <a:ext cx="1645920" cy="228600"/>
          </a:xfrm>
          <a:prstGeom prst="rect">
            <a:avLst/>
          </a:prstGeom>
          <a:noFill/>
          <a:ln/>
        </p:spPr>
        <p:txBody>
          <a:bodyPr wrap="square" lIns="0" tIns="0" rIns="0" bIns="0" rtlCol="0" anchor="ctr">
            <a:normAutofit/>
          </a:bodyPr>
          <a:lstStyle/>
          <a:p>
            <a:pPr algn="l" indent="0" marL="0">
              <a:buNone/>
            </a:pPr>
            <a:r>
              <a:rPr lang="en-US" sz="750" b="1" spc="150" kern="0" dirty="0">
                <a:solidFill>
                  <a:srgbClr val="687174"/>
                </a:solidFill>
                <a:latin typeface="Noto Sans JP" pitchFamily="34" charset="0"/>
                <a:ea typeface="Noto Sans JP" pitchFamily="34" charset="-122"/>
                <a:cs typeface="Noto Sans JP" pitchFamily="34" charset="-120"/>
              </a:rPr>
              <a:t>YEARS</a:t>
            </a:r>
            <a:endParaRPr lang="en-US" sz="750" dirty="0"/>
          </a:p>
        </p:txBody>
      </p:sp>
      <p:sp>
        <p:nvSpPr>
          <p:cNvPr id="8" name="Text 6"/>
          <p:cNvSpPr txBox="1"/>
          <p:nvPr/>
        </p:nvSpPr>
        <p:spPr>
          <a:xfrm>
            <a:off x="804672" y="3127248"/>
            <a:ext cx="2999232" cy="429768"/>
          </a:xfrm>
          <a:prstGeom prst="rect">
            <a:avLst/>
          </a:prstGeom>
          <a:noFill/>
          <a:ln/>
        </p:spPr>
        <p:txBody>
          <a:bodyPr wrap="square" lIns="0" tIns="0" rIns="0" bIns="0" rtlCol="0" anchor="t">
            <a:normAutofit/>
          </a:bodyPr>
          <a:lstStyle/>
          <a:p>
            <a:pPr algn="l" indent="0" marL="0">
              <a:buNone/>
            </a:pPr>
            <a:r>
              <a:rPr lang="en-US" sz="950" b="1" dirty="0">
                <a:solidFill>
                  <a:srgbClr val="202526"/>
                </a:solidFill>
                <a:latin typeface="Noto Sans JP" pitchFamily="34" charset="0"/>
                <a:ea typeface="Noto Sans JP" pitchFamily="34" charset="-122"/>
                <a:cs typeface="Noto Sans JP" pitchFamily="34" charset="-120"/>
              </a:rPr>
              <a:t>デザイン・編集・ブランド支援</a:t>
            </a:r>
            <a:endParaRPr lang="en-US" sz="950" dirty="0"/>
          </a:p>
        </p:txBody>
      </p:sp>
      <p:sp>
        <p:nvSpPr>
          <p:cNvPr id="9" name="Shape 7"/>
          <p:cNvSpPr/>
          <p:nvPr/>
        </p:nvSpPr>
        <p:spPr>
          <a:xfrm>
            <a:off x="4389120" y="1901952"/>
            <a:ext cx="3456432" cy="1874520"/>
          </a:xfrm>
          <a:prstGeom prst="roundRect">
            <a:avLst>
              <a:gd name="adj" fmla="val 3902"/>
            </a:avLst>
          </a:prstGeom>
          <a:solidFill>
            <a:srgbClr val="42AFC0"/>
          </a:solidFill>
          <a:ln w="8890">
            <a:solidFill>
              <a:srgbClr val="42AFC0">
                <a:alpha val="0"/>
              </a:srgbClr>
            </a:solidFill>
            <a:prstDash val="solid"/>
          </a:ln>
        </p:spPr>
      </p:sp>
      <p:sp>
        <p:nvSpPr>
          <p:cNvPr id="10" name="Text 8"/>
          <p:cNvSpPr txBox="1"/>
          <p:nvPr/>
        </p:nvSpPr>
        <p:spPr>
          <a:xfrm>
            <a:off x="4590288" y="2112264"/>
            <a:ext cx="3017520" cy="594360"/>
          </a:xfrm>
          <a:prstGeom prst="rect">
            <a:avLst/>
          </a:prstGeom>
          <a:noFill/>
          <a:ln/>
        </p:spPr>
        <p:txBody>
          <a:bodyPr wrap="square" lIns="0" tIns="0" rIns="0" bIns="0" rtlCol="0" anchor="ctr">
            <a:normAutofit/>
          </a:bodyPr>
          <a:lstStyle/>
          <a:p>
            <a:pPr algn="l" indent="0" marL="0">
              <a:buNone/>
            </a:pPr>
            <a:r>
              <a:rPr lang="en-US" sz="3200" b="1" dirty="0">
                <a:solidFill>
                  <a:srgbClr val="FFFFFF"/>
                </a:solidFill>
                <a:latin typeface="Noto Sans JP" pitchFamily="34" charset="0"/>
                <a:ea typeface="Noto Sans JP" pitchFamily="34" charset="-122"/>
                <a:cs typeface="Noto Sans JP" pitchFamily="34" charset="-120"/>
              </a:rPr>
              <a:t>10×</a:t>
            </a:r>
            <a:endParaRPr lang="en-US" sz="3200" dirty="0"/>
          </a:p>
        </p:txBody>
      </p:sp>
      <p:sp>
        <p:nvSpPr>
          <p:cNvPr id="11" name="Text 9"/>
          <p:cNvSpPr txBox="1"/>
          <p:nvPr/>
        </p:nvSpPr>
        <p:spPr>
          <a:xfrm>
            <a:off x="4608576" y="2770632"/>
            <a:ext cx="1645920" cy="228600"/>
          </a:xfrm>
          <a:prstGeom prst="rect">
            <a:avLst/>
          </a:prstGeom>
          <a:noFill/>
          <a:ln/>
        </p:spPr>
        <p:txBody>
          <a:bodyPr wrap="square" lIns="0" tIns="0" rIns="0" bIns="0" rtlCol="0" anchor="ctr">
            <a:normAutofit/>
          </a:bodyPr>
          <a:lstStyle/>
          <a:p>
            <a:pPr algn="l" indent="0" marL="0">
              <a:buNone/>
            </a:pPr>
            <a:r>
              <a:rPr lang="en-US" sz="750" b="1" spc="150" kern="0" dirty="0">
                <a:solidFill>
                  <a:srgbClr val="202526"/>
                </a:solidFill>
                <a:latin typeface="Noto Sans JP" pitchFamily="34" charset="0"/>
                <a:ea typeface="Noto Sans JP" pitchFamily="34" charset="-122"/>
                <a:cs typeface="Noto Sans JP" pitchFamily="34" charset="-120"/>
              </a:rPr>
              <a:t>SALES</a:t>
            </a:r>
            <a:endParaRPr lang="en-US" sz="750" dirty="0"/>
          </a:p>
        </p:txBody>
      </p:sp>
      <p:sp>
        <p:nvSpPr>
          <p:cNvPr id="12" name="Text 10"/>
          <p:cNvSpPr txBox="1"/>
          <p:nvPr/>
        </p:nvSpPr>
        <p:spPr>
          <a:xfrm>
            <a:off x="4599432" y="3127248"/>
            <a:ext cx="2999232" cy="429768"/>
          </a:xfrm>
          <a:prstGeom prst="rect">
            <a:avLst/>
          </a:prstGeom>
          <a:noFill/>
          <a:ln/>
        </p:spPr>
        <p:txBody>
          <a:bodyPr wrap="square" lIns="0" tIns="0" rIns="0" bIns="0" rtlCol="0" anchor="t">
            <a:normAutofit/>
          </a:bodyPr>
          <a:lstStyle/>
          <a:p>
            <a:pPr algn="l" indent="0" marL="0">
              <a:buNone/>
            </a:pPr>
            <a:r>
              <a:rPr lang="en-US" sz="950" b="1" dirty="0">
                <a:solidFill>
                  <a:srgbClr val="FFFFFF"/>
                </a:solidFill>
                <a:latin typeface="Noto Sans JP" pitchFamily="34" charset="0"/>
                <a:ea typeface="Noto Sans JP" pitchFamily="34" charset="-122"/>
                <a:cs typeface="Noto Sans JP" pitchFamily="34" charset="-120"/>
              </a:rPr>
              <a:t>編集長として刷新後、年間売上が前年比約10倍</a:t>
            </a:r>
            <a:endParaRPr lang="en-US" sz="950" dirty="0"/>
          </a:p>
        </p:txBody>
      </p:sp>
      <p:sp>
        <p:nvSpPr>
          <p:cNvPr id="13" name="Shape 11"/>
          <p:cNvSpPr/>
          <p:nvPr/>
        </p:nvSpPr>
        <p:spPr>
          <a:xfrm>
            <a:off x="8183880" y="1901952"/>
            <a:ext cx="3456432" cy="1874520"/>
          </a:xfrm>
          <a:prstGeom prst="roundRect">
            <a:avLst>
              <a:gd name="adj" fmla="val 3902"/>
            </a:avLst>
          </a:prstGeom>
          <a:solidFill>
            <a:srgbClr val="FFFFFF"/>
          </a:solidFill>
          <a:ln w="8890">
            <a:solidFill>
              <a:srgbClr val="FFFFFF">
                <a:alpha val="0"/>
              </a:srgbClr>
            </a:solidFill>
            <a:prstDash val="solid"/>
          </a:ln>
        </p:spPr>
      </p:sp>
      <p:sp>
        <p:nvSpPr>
          <p:cNvPr id="14" name="Text 12"/>
          <p:cNvSpPr txBox="1"/>
          <p:nvPr/>
        </p:nvSpPr>
        <p:spPr>
          <a:xfrm>
            <a:off x="8385048" y="2112264"/>
            <a:ext cx="3017520" cy="594360"/>
          </a:xfrm>
          <a:prstGeom prst="rect">
            <a:avLst/>
          </a:prstGeom>
          <a:noFill/>
          <a:ln/>
        </p:spPr>
        <p:txBody>
          <a:bodyPr wrap="square" lIns="0" tIns="0" rIns="0" bIns="0" rtlCol="0" anchor="ctr">
            <a:normAutofit/>
          </a:bodyPr>
          <a:lstStyle/>
          <a:p>
            <a:pPr algn="l" indent="0" marL="0">
              <a:buNone/>
            </a:pPr>
            <a:r>
              <a:rPr lang="en-US" sz="3200" b="1" dirty="0">
                <a:solidFill>
                  <a:srgbClr val="188CA1"/>
                </a:solidFill>
                <a:latin typeface="Noto Sans JP" pitchFamily="34" charset="0"/>
                <a:ea typeface="Noto Sans JP" pitchFamily="34" charset="-122"/>
                <a:cs typeface="Noto Sans JP" pitchFamily="34" charset="-120"/>
              </a:rPr>
              <a:t>4</a:t>
            </a:r>
            <a:endParaRPr lang="en-US" sz="3200" dirty="0"/>
          </a:p>
        </p:txBody>
      </p:sp>
      <p:sp>
        <p:nvSpPr>
          <p:cNvPr id="15" name="Text 13"/>
          <p:cNvSpPr txBox="1"/>
          <p:nvPr/>
        </p:nvSpPr>
        <p:spPr>
          <a:xfrm>
            <a:off x="8403336" y="2770632"/>
            <a:ext cx="1645920" cy="228600"/>
          </a:xfrm>
          <a:prstGeom prst="rect">
            <a:avLst/>
          </a:prstGeom>
          <a:noFill/>
          <a:ln/>
        </p:spPr>
        <p:txBody>
          <a:bodyPr wrap="square" lIns="0" tIns="0" rIns="0" bIns="0" rtlCol="0" anchor="ctr">
            <a:normAutofit/>
          </a:bodyPr>
          <a:lstStyle/>
          <a:p>
            <a:pPr algn="l" indent="0" marL="0">
              <a:buNone/>
            </a:pPr>
            <a:r>
              <a:rPr lang="en-US" sz="750" b="1" spc="150" kern="0" dirty="0">
                <a:solidFill>
                  <a:srgbClr val="687174"/>
                </a:solidFill>
                <a:latin typeface="Noto Sans JP" pitchFamily="34" charset="0"/>
                <a:ea typeface="Noto Sans JP" pitchFamily="34" charset="-122"/>
                <a:cs typeface="Noto Sans JP" pitchFamily="34" charset="-120"/>
              </a:rPr>
              <a:t>FIELDS</a:t>
            </a:r>
            <a:endParaRPr lang="en-US" sz="750" dirty="0"/>
          </a:p>
        </p:txBody>
      </p:sp>
      <p:sp>
        <p:nvSpPr>
          <p:cNvPr id="16" name="Text 14"/>
          <p:cNvSpPr txBox="1"/>
          <p:nvPr/>
        </p:nvSpPr>
        <p:spPr>
          <a:xfrm>
            <a:off x="8394192" y="3127248"/>
            <a:ext cx="2999232" cy="429768"/>
          </a:xfrm>
          <a:prstGeom prst="rect">
            <a:avLst/>
          </a:prstGeom>
          <a:noFill/>
          <a:ln/>
        </p:spPr>
        <p:txBody>
          <a:bodyPr wrap="square" lIns="0" tIns="0" rIns="0" bIns="0" rtlCol="0" anchor="t">
            <a:normAutofit/>
          </a:bodyPr>
          <a:lstStyle/>
          <a:p>
            <a:pPr algn="l" indent="0" marL="0">
              <a:buNone/>
            </a:pPr>
            <a:r>
              <a:rPr lang="en-US" sz="950" b="1" dirty="0">
                <a:solidFill>
                  <a:srgbClr val="202526"/>
                </a:solidFill>
                <a:latin typeface="Noto Sans JP" pitchFamily="34" charset="0"/>
                <a:ea typeface="Noto Sans JP" pitchFamily="34" charset="-122"/>
                <a:cs typeface="Noto Sans JP" pitchFamily="34" charset="-120"/>
              </a:rPr>
              <a:t>スポーツ・地域・美容・ブランド</a:t>
            </a:r>
            <a:endParaRPr lang="en-US" sz="950" dirty="0"/>
          </a:p>
        </p:txBody>
      </p:sp>
      <p:sp>
        <p:nvSpPr>
          <p:cNvPr id="17" name="Text 15"/>
          <p:cNvSpPr txBox="1"/>
          <p:nvPr/>
        </p:nvSpPr>
        <p:spPr>
          <a:xfrm>
            <a:off x="685800" y="4325112"/>
            <a:ext cx="2377440" cy="329184"/>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媒体をつくる視点</a:t>
            </a:r>
            <a:endParaRPr lang="en-US" sz="1400" dirty="0"/>
          </a:p>
        </p:txBody>
      </p:sp>
      <p:sp>
        <p:nvSpPr>
          <p:cNvPr id="18" name="Text 16"/>
          <p:cNvSpPr txBox="1"/>
          <p:nvPr/>
        </p:nvSpPr>
        <p:spPr>
          <a:xfrm>
            <a:off x="685800" y="4773168"/>
            <a:ext cx="3246120" cy="822960"/>
          </a:xfrm>
          <a:prstGeom prst="rect">
            <a:avLst/>
          </a:prstGeom>
          <a:noFill/>
          <a:ln/>
        </p:spPr>
        <p:txBody>
          <a:bodyPr wrap="square" lIns="0" tIns="0" rIns="0" bIns="0" rtlCol="0" anchor="t">
            <a:normAutofit/>
          </a:bodyPr>
          <a:lstStyle/>
          <a:p>
            <a:pPr algn="l" indent="0" marL="0">
              <a:buNone/>
            </a:pPr>
            <a:r>
              <a:rPr lang="en-US" sz="1000" dirty="0">
                <a:solidFill>
                  <a:srgbClr val="687174"/>
                </a:solidFill>
                <a:latin typeface="Noto Sans JP" pitchFamily="34" charset="0"/>
                <a:ea typeface="Noto Sans JP" pitchFamily="34" charset="-122"/>
                <a:cs typeface="Noto Sans JP" pitchFamily="34" charset="-120"/>
              </a:rPr>
              <a:t>企画・取材・編集・デザインを横断し、情報を一つの体験にまとめる。</a:t>
            </a:r>
            <a:endParaRPr lang="en-US" sz="1000" dirty="0"/>
          </a:p>
        </p:txBody>
      </p:sp>
      <p:sp>
        <p:nvSpPr>
          <p:cNvPr id="19" name="Text 17"/>
          <p:cNvSpPr txBox="1"/>
          <p:nvPr/>
        </p:nvSpPr>
        <p:spPr>
          <a:xfrm>
            <a:off x="4462272" y="4325112"/>
            <a:ext cx="2651760" cy="329184"/>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ブランドを育てる視点</a:t>
            </a:r>
            <a:endParaRPr lang="en-US" sz="1400" dirty="0"/>
          </a:p>
        </p:txBody>
      </p:sp>
      <p:sp>
        <p:nvSpPr>
          <p:cNvPr id="20" name="Text 18"/>
          <p:cNvSpPr txBox="1"/>
          <p:nvPr/>
        </p:nvSpPr>
        <p:spPr>
          <a:xfrm>
            <a:off x="4462272" y="4773168"/>
            <a:ext cx="3246120" cy="822960"/>
          </a:xfrm>
          <a:prstGeom prst="rect">
            <a:avLst/>
          </a:prstGeom>
          <a:noFill/>
          <a:ln/>
        </p:spPr>
        <p:txBody>
          <a:bodyPr wrap="square" lIns="0" tIns="0" rIns="0" bIns="0" rtlCol="0" anchor="t">
            <a:normAutofit/>
          </a:bodyPr>
          <a:lstStyle/>
          <a:p>
            <a:pPr algn="l" indent="0" marL="0">
              <a:buNone/>
            </a:pPr>
            <a:r>
              <a:rPr lang="en-US" sz="1000" dirty="0">
                <a:solidFill>
                  <a:srgbClr val="687174"/>
                </a:solidFill>
                <a:latin typeface="Noto Sans JP" pitchFamily="34" charset="0"/>
                <a:ea typeface="Noto Sans JP" pitchFamily="34" charset="-122"/>
                <a:cs typeface="Noto Sans JP" pitchFamily="34" charset="-120"/>
              </a:rPr>
              <a:t>単発の投稿ではなく、積み重ねで信頼が育つ世界観と運用ルールをつくる。</a:t>
            </a:r>
            <a:endParaRPr lang="en-US" sz="1000" dirty="0"/>
          </a:p>
        </p:txBody>
      </p:sp>
      <p:sp>
        <p:nvSpPr>
          <p:cNvPr id="21" name="Text 19"/>
          <p:cNvSpPr txBox="1"/>
          <p:nvPr/>
        </p:nvSpPr>
        <p:spPr>
          <a:xfrm>
            <a:off x="8229600" y="4325112"/>
            <a:ext cx="2377440" cy="329184"/>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人を動かす視点</a:t>
            </a:r>
            <a:endParaRPr lang="en-US" sz="1400" dirty="0"/>
          </a:p>
        </p:txBody>
      </p:sp>
      <p:sp>
        <p:nvSpPr>
          <p:cNvPr id="22" name="Text 20"/>
          <p:cNvSpPr txBox="1"/>
          <p:nvPr/>
        </p:nvSpPr>
        <p:spPr>
          <a:xfrm>
            <a:off x="8229600" y="4773168"/>
            <a:ext cx="3246120" cy="822960"/>
          </a:xfrm>
          <a:prstGeom prst="rect">
            <a:avLst/>
          </a:prstGeom>
          <a:noFill/>
          <a:ln/>
        </p:spPr>
        <p:txBody>
          <a:bodyPr wrap="square" lIns="0" tIns="0" rIns="0" bIns="0" rtlCol="0" anchor="t">
            <a:normAutofit/>
          </a:bodyPr>
          <a:lstStyle/>
          <a:p>
            <a:pPr algn="l" indent="0" marL="0">
              <a:buNone/>
            </a:pPr>
            <a:r>
              <a:rPr lang="en-US" sz="1000" dirty="0">
                <a:solidFill>
                  <a:srgbClr val="687174"/>
                </a:solidFill>
                <a:latin typeface="Noto Sans JP" pitchFamily="34" charset="0"/>
                <a:ea typeface="Noto Sans JP" pitchFamily="34" charset="-122"/>
                <a:cs typeface="Noto Sans JP" pitchFamily="34" charset="-120"/>
              </a:rPr>
              <a:t>コーチ経験を活かし、依頼者・チーム・顧客の目線をつなぎながら前進させる。</a:t>
            </a:r>
            <a:endParaRPr lang="en-US" sz="10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06</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SERVICES</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SNS運用を、戦略から制作・改善まで。</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必要な範囲だけの部分支援にも対応します。</a:t>
            </a:r>
            <a:endParaRPr lang="en-US" sz="1050" dirty="0"/>
          </a:p>
        </p:txBody>
      </p:sp>
      <p:sp>
        <p:nvSpPr>
          <p:cNvPr id="6" name="Shape 4"/>
          <p:cNvSpPr/>
          <p:nvPr/>
        </p:nvSpPr>
        <p:spPr>
          <a:xfrm>
            <a:off x="566928" y="1901952"/>
            <a:ext cx="5321808" cy="1572768"/>
          </a:xfrm>
          <a:prstGeom prst="roundRect">
            <a:avLst>
              <a:gd name="adj" fmla="val 4651"/>
            </a:avLst>
          </a:prstGeom>
          <a:solidFill>
            <a:srgbClr val="DDEDF1"/>
          </a:solidFill>
          <a:ln w="8890">
            <a:solidFill>
              <a:srgbClr val="DDEDF1">
                <a:alpha val="0"/>
              </a:srgbClr>
            </a:solidFill>
            <a:prstDash val="solid"/>
          </a:ln>
        </p:spPr>
      </p:sp>
      <p:sp>
        <p:nvSpPr>
          <p:cNvPr id="7" name="Text 5"/>
          <p:cNvSpPr txBox="1"/>
          <p:nvPr/>
        </p:nvSpPr>
        <p:spPr>
          <a:xfrm>
            <a:off x="749808" y="2084832"/>
            <a:ext cx="457200" cy="246888"/>
          </a:xfrm>
          <a:prstGeom prst="rect">
            <a:avLst/>
          </a:prstGeom>
          <a:noFill/>
          <a:ln/>
        </p:spPr>
        <p:txBody>
          <a:bodyPr wrap="square" lIns="0" tIns="0" rIns="0" bIns="0" rtlCol="0" anchor="ctr">
            <a:normAutofit/>
          </a:bodyPr>
          <a:lstStyle/>
          <a:p>
            <a:pPr algn="l" indent="0" marL="0">
              <a:buNone/>
            </a:pPr>
            <a:r>
              <a:rPr lang="en-US" sz="800" b="1" dirty="0">
                <a:solidFill>
                  <a:srgbClr val="188CA1"/>
                </a:solidFill>
                <a:latin typeface="Noto Sans JP" pitchFamily="34" charset="0"/>
                <a:ea typeface="Noto Sans JP" pitchFamily="34" charset="-122"/>
                <a:cs typeface="Noto Sans JP" pitchFamily="34" charset="-120"/>
              </a:rPr>
              <a:t>01</a:t>
            </a:r>
            <a:endParaRPr lang="en-US" sz="800" dirty="0"/>
          </a:p>
        </p:txBody>
      </p:sp>
      <p:sp>
        <p:nvSpPr>
          <p:cNvPr id="8" name="Text 6"/>
          <p:cNvSpPr txBox="1"/>
          <p:nvPr/>
        </p:nvSpPr>
        <p:spPr>
          <a:xfrm>
            <a:off x="1316736" y="2057400"/>
            <a:ext cx="1325880" cy="320040"/>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戦略設計</a:t>
            </a:r>
            <a:endParaRPr lang="en-US" sz="1400" dirty="0"/>
          </a:p>
        </p:txBody>
      </p:sp>
      <p:sp>
        <p:nvSpPr>
          <p:cNvPr id="9" name="Text 7"/>
          <p:cNvSpPr txBox="1"/>
          <p:nvPr/>
        </p:nvSpPr>
        <p:spPr>
          <a:xfrm>
            <a:off x="1316736" y="2587752"/>
            <a:ext cx="4160520" cy="475488"/>
          </a:xfrm>
          <a:prstGeom prst="rect">
            <a:avLst/>
          </a:prstGeom>
          <a:noFill/>
          <a:ln/>
        </p:spPr>
        <p:txBody>
          <a:bodyPr wrap="square" lIns="0" tIns="0" rIns="0" bIns="0" rtlCol="0" anchor="t">
            <a:normAutofit/>
          </a:bodyPr>
          <a:lstStyle/>
          <a:p>
            <a:pPr algn="l" indent="0" marL="0">
              <a:buNone/>
            </a:pPr>
            <a:r>
              <a:rPr lang="en-US" sz="950" dirty="0">
                <a:solidFill>
                  <a:srgbClr val="687174"/>
                </a:solidFill>
                <a:latin typeface="Noto Sans JP" pitchFamily="34" charset="0"/>
                <a:ea typeface="Noto Sans JP" pitchFamily="34" charset="-122"/>
                <a:cs typeface="Noto Sans JP" pitchFamily="34" charset="-120"/>
              </a:rPr>
              <a:t>目的設定／競合・顧客整理／媒体選定／KPI設計</a:t>
            </a:r>
            <a:endParaRPr lang="en-US" sz="950" dirty="0"/>
          </a:p>
        </p:txBody>
      </p:sp>
      <p:sp>
        <p:nvSpPr>
          <p:cNvPr id="10" name="Shape 8"/>
          <p:cNvSpPr/>
          <p:nvPr/>
        </p:nvSpPr>
        <p:spPr>
          <a:xfrm>
            <a:off x="6172200" y="1901952"/>
            <a:ext cx="5321808" cy="1572768"/>
          </a:xfrm>
          <a:prstGeom prst="roundRect">
            <a:avLst>
              <a:gd name="adj" fmla="val 4651"/>
            </a:avLst>
          </a:prstGeom>
          <a:solidFill>
            <a:srgbClr val="FFFFFF"/>
          </a:solidFill>
          <a:ln w="8890">
            <a:solidFill>
              <a:srgbClr val="FFFFFF">
                <a:alpha val="0"/>
              </a:srgbClr>
            </a:solidFill>
            <a:prstDash val="solid"/>
          </a:ln>
        </p:spPr>
      </p:sp>
      <p:sp>
        <p:nvSpPr>
          <p:cNvPr id="11" name="Text 9"/>
          <p:cNvSpPr txBox="1"/>
          <p:nvPr/>
        </p:nvSpPr>
        <p:spPr>
          <a:xfrm>
            <a:off x="6355080" y="2084832"/>
            <a:ext cx="457200" cy="246888"/>
          </a:xfrm>
          <a:prstGeom prst="rect">
            <a:avLst/>
          </a:prstGeom>
          <a:noFill/>
          <a:ln/>
        </p:spPr>
        <p:txBody>
          <a:bodyPr wrap="square" lIns="0" tIns="0" rIns="0" bIns="0" rtlCol="0" anchor="ctr">
            <a:normAutofit/>
          </a:bodyPr>
          <a:lstStyle/>
          <a:p>
            <a:pPr algn="l" indent="0" marL="0">
              <a:buNone/>
            </a:pPr>
            <a:r>
              <a:rPr lang="en-US" sz="800" b="1" dirty="0">
                <a:solidFill>
                  <a:srgbClr val="188CA1"/>
                </a:solidFill>
                <a:latin typeface="Noto Sans JP" pitchFamily="34" charset="0"/>
                <a:ea typeface="Noto Sans JP" pitchFamily="34" charset="-122"/>
                <a:cs typeface="Noto Sans JP" pitchFamily="34" charset="-120"/>
              </a:rPr>
              <a:t>02</a:t>
            </a:r>
            <a:endParaRPr lang="en-US" sz="800" dirty="0"/>
          </a:p>
        </p:txBody>
      </p:sp>
      <p:sp>
        <p:nvSpPr>
          <p:cNvPr id="12" name="Text 10"/>
          <p:cNvSpPr txBox="1"/>
          <p:nvPr/>
        </p:nvSpPr>
        <p:spPr>
          <a:xfrm>
            <a:off x="6922008" y="2057400"/>
            <a:ext cx="1325880" cy="320040"/>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企画・編集</a:t>
            </a:r>
            <a:endParaRPr lang="en-US" sz="1400" dirty="0"/>
          </a:p>
        </p:txBody>
      </p:sp>
      <p:sp>
        <p:nvSpPr>
          <p:cNvPr id="13" name="Text 11"/>
          <p:cNvSpPr txBox="1"/>
          <p:nvPr/>
        </p:nvSpPr>
        <p:spPr>
          <a:xfrm>
            <a:off x="6922008" y="2587752"/>
            <a:ext cx="4160520" cy="475488"/>
          </a:xfrm>
          <a:prstGeom prst="rect">
            <a:avLst/>
          </a:prstGeom>
          <a:noFill/>
          <a:ln/>
        </p:spPr>
        <p:txBody>
          <a:bodyPr wrap="square" lIns="0" tIns="0" rIns="0" bIns="0" rtlCol="0" anchor="t">
            <a:normAutofit/>
          </a:bodyPr>
          <a:lstStyle/>
          <a:p>
            <a:pPr algn="l" indent="0" marL="0">
              <a:buNone/>
            </a:pPr>
            <a:r>
              <a:rPr lang="en-US" sz="950" dirty="0">
                <a:solidFill>
                  <a:srgbClr val="687174"/>
                </a:solidFill>
                <a:latin typeface="Noto Sans JP" pitchFamily="34" charset="0"/>
                <a:ea typeface="Noto Sans JP" pitchFamily="34" charset="-122"/>
                <a:cs typeface="Noto Sans JP" pitchFamily="34" charset="-120"/>
              </a:rPr>
              <a:t>投稿テーマ／企画カレンダー／コピー・構成／導線</a:t>
            </a:r>
            <a:endParaRPr lang="en-US" sz="950" dirty="0"/>
          </a:p>
        </p:txBody>
      </p:sp>
      <p:sp>
        <p:nvSpPr>
          <p:cNvPr id="14" name="Shape 12"/>
          <p:cNvSpPr/>
          <p:nvPr/>
        </p:nvSpPr>
        <p:spPr>
          <a:xfrm>
            <a:off x="566928" y="3803904"/>
            <a:ext cx="5321808" cy="1572768"/>
          </a:xfrm>
          <a:prstGeom prst="roundRect">
            <a:avLst>
              <a:gd name="adj" fmla="val 4651"/>
            </a:avLst>
          </a:prstGeom>
          <a:solidFill>
            <a:srgbClr val="FFFFFF"/>
          </a:solidFill>
          <a:ln w="8890">
            <a:solidFill>
              <a:srgbClr val="FFFFFF">
                <a:alpha val="0"/>
              </a:srgbClr>
            </a:solidFill>
            <a:prstDash val="solid"/>
          </a:ln>
        </p:spPr>
      </p:sp>
      <p:sp>
        <p:nvSpPr>
          <p:cNvPr id="15" name="Text 13"/>
          <p:cNvSpPr txBox="1"/>
          <p:nvPr/>
        </p:nvSpPr>
        <p:spPr>
          <a:xfrm>
            <a:off x="749808" y="3986784"/>
            <a:ext cx="457200" cy="246888"/>
          </a:xfrm>
          <a:prstGeom prst="rect">
            <a:avLst/>
          </a:prstGeom>
          <a:noFill/>
          <a:ln/>
        </p:spPr>
        <p:txBody>
          <a:bodyPr wrap="square" lIns="0" tIns="0" rIns="0" bIns="0" rtlCol="0" anchor="ctr">
            <a:normAutofit/>
          </a:bodyPr>
          <a:lstStyle/>
          <a:p>
            <a:pPr algn="l" indent="0" marL="0">
              <a:buNone/>
            </a:pPr>
            <a:r>
              <a:rPr lang="en-US" sz="800" b="1" dirty="0">
                <a:solidFill>
                  <a:srgbClr val="188CA1"/>
                </a:solidFill>
                <a:latin typeface="Noto Sans JP" pitchFamily="34" charset="0"/>
                <a:ea typeface="Noto Sans JP" pitchFamily="34" charset="-122"/>
                <a:cs typeface="Noto Sans JP" pitchFamily="34" charset="-120"/>
              </a:rPr>
              <a:t>03</a:t>
            </a:r>
            <a:endParaRPr lang="en-US" sz="800" dirty="0"/>
          </a:p>
        </p:txBody>
      </p:sp>
      <p:sp>
        <p:nvSpPr>
          <p:cNvPr id="16" name="Text 14"/>
          <p:cNvSpPr txBox="1"/>
          <p:nvPr/>
        </p:nvSpPr>
        <p:spPr>
          <a:xfrm>
            <a:off x="1316736" y="3959352"/>
            <a:ext cx="1325880" cy="320040"/>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クリエイティブ</a:t>
            </a:r>
            <a:endParaRPr lang="en-US" sz="1400" dirty="0"/>
          </a:p>
        </p:txBody>
      </p:sp>
      <p:sp>
        <p:nvSpPr>
          <p:cNvPr id="17" name="Text 15"/>
          <p:cNvSpPr txBox="1"/>
          <p:nvPr/>
        </p:nvSpPr>
        <p:spPr>
          <a:xfrm>
            <a:off x="1316736" y="4489704"/>
            <a:ext cx="4160520" cy="475488"/>
          </a:xfrm>
          <a:prstGeom prst="rect">
            <a:avLst/>
          </a:prstGeom>
          <a:noFill/>
          <a:ln/>
        </p:spPr>
        <p:txBody>
          <a:bodyPr wrap="square" lIns="0" tIns="0" rIns="0" bIns="0" rtlCol="0" anchor="t">
            <a:normAutofit/>
          </a:bodyPr>
          <a:lstStyle/>
          <a:p>
            <a:pPr algn="l" indent="0" marL="0">
              <a:buNone/>
            </a:pPr>
            <a:r>
              <a:rPr lang="en-US" sz="950" dirty="0">
                <a:solidFill>
                  <a:srgbClr val="687174"/>
                </a:solidFill>
                <a:latin typeface="Noto Sans JP" pitchFamily="34" charset="0"/>
                <a:ea typeface="Noto Sans JP" pitchFamily="34" charset="-122"/>
                <a:cs typeface="Noto Sans JP" pitchFamily="34" charset="-120"/>
              </a:rPr>
              <a:t>投稿画像／カルーセル／ショート動画／テンプレート</a:t>
            </a:r>
            <a:endParaRPr lang="en-US" sz="950" dirty="0"/>
          </a:p>
        </p:txBody>
      </p:sp>
      <p:sp>
        <p:nvSpPr>
          <p:cNvPr id="18" name="Shape 16"/>
          <p:cNvSpPr/>
          <p:nvPr/>
        </p:nvSpPr>
        <p:spPr>
          <a:xfrm>
            <a:off x="6172200" y="3803904"/>
            <a:ext cx="5321808" cy="1572768"/>
          </a:xfrm>
          <a:prstGeom prst="roundRect">
            <a:avLst>
              <a:gd name="adj" fmla="val 4651"/>
            </a:avLst>
          </a:prstGeom>
          <a:solidFill>
            <a:srgbClr val="FFFFFF"/>
          </a:solidFill>
          <a:ln w="8890">
            <a:solidFill>
              <a:srgbClr val="FFFFFF">
                <a:alpha val="0"/>
              </a:srgbClr>
            </a:solidFill>
            <a:prstDash val="solid"/>
          </a:ln>
        </p:spPr>
      </p:sp>
      <p:sp>
        <p:nvSpPr>
          <p:cNvPr id="19" name="Text 17"/>
          <p:cNvSpPr txBox="1"/>
          <p:nvPr/>
        </p:nvSpPr>
        <p:spPr>
          <a:xfrm>
            <a:off x="6355080" y="3986784"/>
            <a:ext cx="457200" cy="246888"/>
          </a:xfrm>
          <a:prstGeom prst="rect">
            <a:avLst/>
          </a:prstGeom>
          <a:noFill/>
          <a:ln/>
        </p:spPr>
        <p:txBody>
          <a:bodyPr wrap="square" lIns="0" tIns="0" rIns="0" bIns="0" rtlCol="0" anchor="ctr">
            <a:normAutofit/>
          </a:bodyPr>
          <a:lstStyle/>
          <a:p>
            <a:pPr algn="l" indent="0" marL="0">
              <a:buNone/>
            </a:pPr>
            <a:r>
              <a:rPr lang="en-US" sz="800" b="1" dirty="0">
                <a:solidFill>
                  <a:srgbClr val="188CA1"/>
                </a:solidFill>
                <a:latin typeface="Noto Sans JP" pitchFamily="34" charset="0"/>
                <a:ea typeface="Noto Sans JP" pitchFamily="34" charset="-122"/>
                <a:cs typeface="Noto Sans JP" pitchFamily="34" charset="-120"/>
              </a:rPr>
              <a:t>04</a:t>
            </a:r>
            <a:endParaRPr lang="en-US" sz="800" dirty="0"/>
          </a:p>
        </p:txBody>
      </p:sp>
      <p:sp>
        <p:nvSpPr>
          <p:cNvPr id="20" name="Text 18"/>
          <p:cNvSpPr txBox="1"/>
          <p:nvPr/>
        </p:nvSpPr>
        <p:spPr>
          <a:xfrm>
            <a:off x="6922008" y="3959352"/>
            <a:ext cx="1325880" cy="320040"/>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運用・改善</a:t>
            </a:r>
            <a:endParaRPr lang="en-US" sz="1400" dirty="0"/>
          </a:p>
        </p:txBody>
      </p:sp>
      <p:sp>
        <p:nvSpPr>
          <p:cNvPr id="21" name="Text 19"/>
          <p:cNvSpPr txBox="1"/>
          <p:nvPr/>
        </p:nvSpPr>
        <p:spPr>
          <a:xfrm>
            <a:off x="6922008" y="4489704"/>
            <a:ext cx="4160520" cy="475488"/>
          </a:xfrm>
          <a:prstGeom prst="rect">
            <a:avLst/>
          </a:prstGeom>
          <a:noFill/>
          <a:ln/>
        </p:spPr>
        <p:txBody>
          <a:bodyPr wrap="square" lIns="0" tIns="0" rIns="0" bIns="0" rtlCol="0" anchor="t">
            <a:normAutofit/>
          </a:bodyPr>
          <a:lstStyle/>
          <a:p>
            <a:pPr algn="l" indent="0" marL="0">
              <a:buNone/>
            </a:pPr>
            <a:r>
              <a:rPr lang="en-US" sz="950" dirty="0">
                <a:solidFill>
                  <a:srgbClr val="687174"/>
                </a:solidFill>
                <a:latin typeface="Noto Sans JP" pitchFamily="34" charset="0"/>
                <a:ea typeface="Noto Sans JP" pitchFamily="34" charset="-122"/>
                <a:cs typeface="Noto Sans JP" pitchFamily="34" charset="-120"/>
              </a:rPr>
              <a:t>投稿管理／数値確認／月次レポート／改善提案</a:t>
            </a:r>
            <a:endParaRPr lang="en-US" sz="950" dirty="0"/>
          </a:p>
        </p:txBody>
      </p:sp>
      <p:sp>
        <p:nvSpPr>
          <p:cNvPr id="22" name="Shape 20"/>
          <p:cNvSpPr/>
          <p:nvPr/>
        </p:nvSpPr>
        <p:spPr>
          <a:xfrm>
            <a:off x="1316736" y="5879592"/>
            <a:ext cx="1417320" cy="329184"/>
          </a:xfrm>
          <a:prstGeom prst="roundRect">
            <a:avLst>
              <a:gd name="adj" fmla="val 50000"/>
            </a:avLst>
          </a:prstGeom>
          <a:solidFill>
            <a:srgbClr val="DDEDF1"/>
          </a:solidFill>
          <a:ln w="8890">
            <a:solidFill>
              <a:srgbClr val="DDEDF1">
                <a:alpha val="0"/>
              </a:srgbClr>
            </a:solidFill>
            <a:prstDash val="solid"/>
          </a:ln>
        </p:spPr>
      </p:sp>
      <p:sp>
        <p:nvSpPr>
          <p:cNvPr id="23" name="Text 21"/>
          <p:cNvSpPr txBox="1"/>
          <p:nvPr/>
        </p:nvSpPr>
        <p:spPr>
          <a:xfrm>
            <a:off x="1389888" y="5907024"/>
            <a:ext cx="1271016"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Instagram</a:t>
            </a:r>
            <a:endParaRPr lang="en-US" sz="870" dirty="0"/>
          </a:p>
        </p:txBody>
      </p:sp>
      <p:sp>
        <p:nvSpPr>
          <p:cNvPr id="24" name="Shape 22"/>
          <p:cNvSpPr/>
          <p:nvPr/>
        </p:nvSpPr>
        <p:spPr>
          <a:xfrm>
            <a:off x="2953512" y="5879592"/>
            <a:ext cx="1298448" cy="329184"/>
          </a:xfrm>
          <a:prstGeom prst="roundRect">
            <a:avLst>
              <a:gd name="adj" fmla="val 50000"/>
            </a:avLst>
          </a:prstGeom>
          <a:solidFill>
            <a:srgbClr val="DDEDF1"/>
          </a:solidFill>
          <a:ln w="8890">
            <a:solidFill>
              <a:srgbClr val="DDEDF1">
                <a:alpha val="0"/>
              </a:srgbClr>
            </a:solidFill>
            <a:prstDash val="solid"/>
          </a:ln>
        </p:spPr>
      </p:sp>
      <p:sp>
        <p:nvSpPr>
          <p:cNvPr id="25" name="Text 23"/>
          <p:cNvSpPr txBox="1"/>
          <p:nvPr/>
        </p:nvSpPr>
        <p:spPr>
          <a:xfrm>
            <a:off x="3026664" y="5907024"/>
            <a:ext cx="1152144"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Web / LP</a:t>
            </a:r>
            <a:endParaRPr lang="en-US" sz="870" dirty="0"/>
          </a:p>
        </p:txBody>
      </p:sp>
      <p:sp>
        <p:nvSpPr>
          <p:cNvPr id="26" name="Shape 24"/>
          <p:cNvSpPr/>
          <p:nvPr/>
        </p:nvSpPr>
        <p:spPr>
          <a:xfrm>
            <a:off x="4471416" y="5879592"/>
            <a:ext cx="1417320" cy="329184"/>
          </a:xfrm>
          <a:prstGeom prst="roundRect">
            <a:avLst>
              <a:gd name="adj" fmla="val 50000"/>
            </a:avLst>
          </a:prstGeom>
          <a:solidFill>
            <a:srgbClr val="DDEDF1"/>
          </a:solidFill>
          <a:ln w="8890">
            <a:solidFill>
              <a:srgbClr val="DDEDF1">
                <a:alpha val="0"/>
              </a:srgbClr>
            </a:solidFill>
            <a:prstDash val="solid"/>
          </a:ln>
        </p:spPr>
      </p:sp>
      <p:sp>
        <p:nvSpPr>
          <p:cNvPr id="27" name="Text 25"/>
          <p:cNvSpPr txBox="1"/>
          <p:nvPr/>
        </p:nvSpPr>
        <p:spPr>
          <a:xfrm>
            <a:off x="4544568" y="5907024"/>
            <a:ext cx="1271016"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Brand / VI</a:t>
            </a:r>
            <a:endParaRPr lang="en-US" sz="870" dirty="0"/>
          </a:p>
        </p:txBody>
      </p:sp>
      <p:sp>
        <p:nvSpPr>
          <p:cNvPr id="28" name="Shape 26"/>
          <p:cNvSpPr/>
          <p:nvPr/>
        </p:nvSpPr>
        <p:spPr>
          <a:xfrm>
            <a:off x="6108192" y="5879592"/>
            <a:ext cx="1024128" cy="329184"/>
          </a:xfrm>
          <a:prstGeom prst="roundRect">
            <a:avLst>
              <a:gd name="adj" fmla="val 50000"/>
            </a:avLst>
          </a:prstGeom>
          <a:solidFill>
            <a:srgbClr val="DDEDF1"/>
          </a:solidFill>
          <a:ln w="8890">
            <a:solidFill>
              <a:srgbClr val="DDEDF1">
                <a:alpha val="0"/>
              </a:srgbClr>
            </a:solidFill>
            <a:prstDash val="solid"/>
          </a:ln>
        </p:spPr>
      </p:sp>
      <p:sp>
        <p:nvSpPr>
          <p:cNvPr id="29" name="Text 27"/>
          <p:cNvSpPr txBox="1"/>
          <p:nvPr/>
        </p:nvSpPr>
        <p:spPr>
          <a:xfrm>
            <a:off x="6181344" y="5907024"/>
            <a:ext cx="877824"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Print</a:t>
            </a:r>
            <a:endParaRPr lang="en-US" sz="870" dirty="0"/>
          </a:p>
        </p:txBody>
      </p:sp>
      <p:sp>
        <p:nvSpPr>
          <p:cNvPr id="30" name="Shape 28"/>
          <p:cNvSpPr/>
          <p:nvPr/>
        </p:nvSpPr>
        <p:spPr>
          <a:xfrm>
            <a:off x="7351776" y="5879592"/>
            <a:ext cx="1481328" cy="329184"/>
          </a:xfrm>
          <a:prstGeom prst="roundRect">
            <a:avLst>
              <a:gd name="adj" fmla="val 50000"/>
            </a:avLst>
          </a:prstGeom>
          <a:solidFill>
            <a:srgbClr val="DDEDF1"/>
          </a:solidFill>
          <a:ln w="8890">
            <a:solidFill>
              <a:srgbClr val="DDEDF1">
                <a:alpha val="0"/>
              </a:srgbClr>
            </a:solidFill>
            <a:prstDash val="solid"/>
          </a:ln>
        </p:spPr>
      </p:sp>
      <p:sp>
        <p:nvSpPr>
          <p:cNvPr id="31" name="Text 29"/>
          <p:cNvSpPr txBox="1"/>
          <p:nvPr/>
        </p:nvSpPr>
        <p:spPr>
          <a:xfrm>
            <a:off x="7424928" y="5907024"/>
            <a:ext cx="1335024"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AI workflow</a:t>
            </a:r>
            <a:endParaRPr lang="en-US" sz="870" dirty="0"/>
          </a:p>
        </p:txBody>
      </p:sp>
      <p:sp>
        <p:nvSpPr>
          <p:cNvPr id="32" name="Shape 30"/>
          <p:cNvSpPr/>
          <p:nvPr/>
        </p:nvSpPr>
        <p:spPr>
          <a:xfrm>
            <a:off x="9052560" y="5879592"/>
            <a:ext cx="1481328" cy="329184"/>
          </a:xfrm>
          <a:prstGeom prst="roundRect">
            <a:avLst>
              <a:gd name="adj" fmla="val 50000"/>
            </a:avLst>
          </a:prstGeom>
          <a:solidFill>
            <a:srgbClr val="DDEDF1"/>
          </a:solidFill>
          <a:ln w="8890">
            <a:solidFill>
              <a:srgbClr val="DDEDF1">
                <a:alpha val="0"/>
              </a:srgbClr>
            </a:solidFill>
            <a:prstDash val="solid"/>
          </a:ln>
        </p:spPr>
      </p:sp>
      <p:sp>
        <p:nvSpPr>
          <p:cNvPr id="33" name="Text 31"/>
          <p:cNvSpPr txBox="1"/>
          <p:nvPr/>
        </p:nvSpPr>
        <p:spPr>
          <a:xfrm>
            <a:off x="9125712" y="5907024"/>
            <a:ext cx="1335024"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Short video</a:t>
            </a:r>
            <a:endParaRPr lang="en-US" sz="87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07</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PROCESS</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感覚に頼らず、5段階で運用する。</a:t>
            </a:r>
            <a:endParaRPr lang="en-US" sz="2400" dirty="0"/>
          </a:p>
        </p:txBody>
      </p:sp>
      <p:sp>
        <p:nvSpPr>
          <p:cNvPr id="5" name="Shape 3"/>
          <p:cNvSpPr/>
          <p:nvPr/>
        </p:nvSpPr>
        <p:spPr>
          <a:xfrm>
            <a:off x="585216" y="1993392"/>
            <a:ext cx="1975104" cy="3072384"/>
          </a:xfrm>
          <a:prstGeom prst="roundRect">
            <a:avLst>
              <a:gd name="adj" fmla="val 3704"/>
            </a:avLst>
          </a:prstGeom>
          <a:solidFill>
            <a:srgbClr val="DDEDF1"/>
          </a:solidFill>
          <a:ln w="8890">
            <a:solidFill>
              <a:srgbClr val="DDEDF1">
                <a:alpha val="0"/>
              </a:srgbClr>
            </a:solidFill>
            <a:prstDash val="solid"/>
          </a:ln>
        </p:spPr>
      </p:sp>
      <p:sp>
        <p:nvSpPr>
          <p:cNvPr id="6" name="Text 4"/>
          <p:cNvSpPr txBox="1"/>
          <p:nvPr/>
        </p:nvSpPr>
        <p:spPr>
          <a:xfrm>
            <a:off x="749808" y="2176272"/>
            <a:ext cx="457200" cy="274320"/>
          </a:xfrm>
          <a:prstGeom prst="rect">
            <a:avLst/>
          </a:prstGeom>
          <a:noFill/>
          <a:ln/>
        </p:spPr>
        <p:txBody>
          <a:bodyPr wrap="square" lIns="0" tIns="0" rIns="0" bIns="0" rtlCol="0" anchor="ctr">
            <a:normAutofit/>
          </a:bodyPr>
          <a:lstStyle/>
          <a:p>
            <a:pPr algn="l" indent="0" marL="0">
              <a:buNone/>
            </a:pPr>
            <a:r>
              <a:rPr lang="en-US" sz="800" b="1" dirty="0">
                <a:solidFill>
                  <a:srgbClr val="188CA1"/>
                </a:solidFill>
                <a:latin typeface="Noto Sans JP" pitchFamily="34" charset="0"/>
                <a:ea typeface="Noto Sans JP" pitchFamily="34" charset="-122"/>
                <a:cs typeface="Noto Sans JP" pitchFamily="34" charset="-120"/>
              </a:rPr>
              <a:t>01</a:t>
            </a:r>
            <a:endParaRPr lang="en-US" sz="800" dirty="0"/>
          </a:p>
        </p:txBody>
      </p:sp>
      <p:sp>
        <p:nvSpPr>
          <p:cNvPr id="7" name="Text 5"/>
          <p:cNvSpPr txBox="1"/>
          <p:nvPr/>
        </p:nvSpPr>
        <p:spPr>
          <a:xfrm>
            <a:off x="749808" y="2761488"/>
            <a:ext cx="1627632" cy="320040"/>
          </a:xfrm>
          <a:prstGeom prst="rect">
            <a:avLst/>
          </a:prstGeom>
          <a:noFill/>
          <a:ln/>
        </p:spPr>
        <p:txBody>
          <a:bodyPr wrap="square" lIns="0" tIns="0" rIns="0" bIns="0" rtlCol="0" anchor="ctr">
            <a:normAutofit/>
          </a:bodyPr>
          <a:lstStyle/>
          <a:p>
            <a:pPr algn="l" indent="0" marL="0">
              <a:buNone/>
            </a:pPr>
            <a:r>
              <a:rPr lang="en-US" sz="1100" b="1" spc="80" kern="0" dirty="0">
                <a:solidFill>
                  <a:srgbClr val="202526"/>
                </a:solidFill>
                <a:latin typeface="Noto Sans JP" pitchFamily="34" charset="0"/>
                <a:ea typeface="Noto Sans JP" pitchFamily="34" charset="-122"/>
                <a:cs typeface="Noto Sans JP" pitchFamily="34" charset="-120"/>
              </a:rPr>
              <a:t>RESEARCH</a:t>
            </a:r>
            <a:endParaRPr lang="en-US" sz="1100" dirty="0"/>
          </a:p>
        </p:txBody>
      </p:sp>
      <p:sp>
        <p:nvSpPr>
          <p:cNvPr id="8" name="Shape 6"/>
          <p:cNvSpPr/>
          <p:nvPr/>
        </p:nvSpPr>
        <p:spPr>
          <a:xfrm>
            <a:off x="749808" y="3236976"/>
            <a:ext cx="457200" cy="0"/>
          </a:xfrm>
          <a:prstGeom prst="line">
            <a:avLst/>
          </a:prstGeom>
          <a:noFill/>
          <a:ln w="25400">
            <a:solidFill>
              <a:srgbClr val="42AFC0"/>
            </a:solidFill>
            <a:prstDash val="solid"/>
            <a:headEnd type="none"/>
            <a:tailEnd type="none"/>
          </a:ln>
        </p:spPr>
      </p:sp>
      <p:sp>
        <p:nvSpPr>
          <p:cNvPr id="9" name="Text 7"/>
          <p:cNvSpPr txBox="1"/>
          <p:nvPr/>
        </p:nvSpPr>
        <p:spPr>
          <a:xfrm>
            <a:off x="749808" y="3566160"/>
            <a:ext cx="1600200" cy="640080"/>
          </a:xfrm>
          <a:prstGeom prst="rect">
            <a:avLst/>
          </a:prstGeom>
          <a:noFill/>
          <a:ln/>
        </p:spPr>
        <p:txBody>
          <a:bodyPr wrap="square" lIns="0" tIns="0" rIns="0" bIns="0" rtlCol="0" anchor="t">
            <a:normAutofit/>
          </a:bodyPr>
          <a:lstStyle/>
          <a:p>
            <a:pPr algn="l" indent="0" marL="0">
              <a:buNone/>
            </a:pPr>
            <a:r>
              <a:rPr lang="en-US" sz="1000" b="1" dirty="0">
                <a:solidFill>
                  <a:srgbClr val="687174"/>
                </a:solidFill>
                <a:latin typeface="Noto Sans JP" pitchFamily="34" charset="0"/>
                <a:ea typeface="Noto Sans JP" pitchFamily="34" charset="-122"/>
                <a:cs typeface="Noto Sans JP" pitchFamily="34" charset="-120"/>
              </a:rPr>
              <a:t>現状・競合・顧客</a:t>
            </a:r>
            <a:endParaRPr lang="en-US" sz="1000" dirty="0"/>
          </a:p>
        </p:txBody>
      </p:sp>
      <p:sp>
        <p:nvSpPr>
          <p:cNvPr id="10" name="Text 8"/>
          <p:cNvSpPr txBox="1"/>
          <p:nvPr/>
        </p:nvSpPr>
        <p:spPr>
          <a:xfrm>
            <a:off x="2596896" y="3182112"/>
            <a:ext cx="246888" cy="274320"/>
          </a:xfrm>
          <a:prstGeom prst="rect">
            <a:avLst/>
          </a:prstGeom>
          <a:noFill/>
          <a:ln/>
        </p:spPr>
        <p:txBody>
          <a:bodyPr wrap="square" lIns="0" tIns="0" rIns="0" bIns="0" rtlCol="0" anchor="ctr">
            <a:normAutofit/>
          </a:bodyPr>
          <a:lstStyle/>
          <a:p>
            <a:pPr algn="ctr" indent="0" marL="0">
              <a:buNone/>
            </a:pPr>
            <a:r>
              <a:rPr lang="en-US" sz="1500" b="1" dirty="0">
                <a:solidFill>
                  <a:srgbClr val="188CA1"/>
                </a:solidFill>
                <a:latin typeface="Noto Sans JP" pitchFamily="34" charset="0"/>
                <a:ea typeface="Noto Sans JP" pitchFamily="34" charset="-122"/>
                <a:cs typeface="Noto Sans JP" pitchFamily="34" charset="-120"/>
              </a:rPr>
              <a:t>→</a:t>
            </a:r>
            <a:endParaRPr lang="en-US" sz="1500" dirty="0"/>
          </a:p>
        </p:txBody>
      </p:sp>
      <p:sp>
        <p:nvSpPr>
          <p:cNvPr id="11" name="Shape 9"/>
          <p:cNvSpPr/>
          <p:nvPr/>
        </p:nvSpPr>
        <p:spPr>
          <a:xfrm>
            <a:off x="2852928" y="1993392"/>
            <a:ext cx="1975104" cy="3072384"/>
          </a:xfrm>
          <a:prstGeom prst="roundRect">
            <a:avLst>
              <a:gd name="adj" fmla="val 3704"/>
            </a:avLst>
          </a:prstGeom>
          <a:solidFill>
            <a:srgbClr val="FFFFFF"/>
          </a:solidFill>
          <a:ln w="8890">
            <a:solidFill>
              <a:srgbClr val="FFFFFF">
                <a:alpha val="0"/>
              </a:srgbClr>
            </a:solidFill>
            <a:prstDash val="solid"/>
          </a:ln>
        </p:spPr>
      </p:sp>
      <p:sp>
        <p:nvSpPr>
          <p:cNvPr id="12" name="Text 10"/>
          <p:cNvSpPr txBox="1"/>
          <p:nvPr/>
        </p:nvSpPr>
        <p:spPr>
          <a:xfrm>
            <a:off x="3017520" y="2176272"/>
            <a:ext cx="457200" cy="274320"/>
          </a:xfrm>
          <a:prstGeom prst="rect">
            <a:avLst/>
          </a:prstGeom>
          <a:noFill/>
          <a:ln/>
        </p:spPr>
        <p:txBody>
          <a:bodyPr wrap="square" lIns="0" tIns="0" rIns="0" bIns="0" rtlCol="0" anchor="ctr">
            <a:normAutofit/>
          </a:bodyPr>
          <a:lstStyle/>
          <a:p>
            <a:pPr algn="l" indent="0" marL="0">
              <a:buNone/>
            </a:pPr>
            <a:r>
              <a:rPr lang="en-US" sz="800" b="1" dirty="0">
                <a:solidFill>
                  <a:srgbClr val="188CA1"/>
                </a:solidFill>
                <a:latin typeface="Noto Sans JP" pitchFamily="34" charset="0"/>
                <a:ea typeface="Noto Sans JP" pitchFamily="34" charset="-122"/>
                <a:cs typeface="Noto Sans JP" pitchFamily="34" charset="-120"/>
              </a:rPr>
              <a:t>02</a:t>
            </a:r>
            <a:endParaRPr lang="en-US" sz="800" dirty="0"/>
          </a:p>
        </p:txBody>
      </p:sp>
      <p:sp>
        <p:nvSpPr>
          <p:cNvPr id="13" name="Text 11"/>
          <p:cNvSpPr txBox="1"/>
          <p:nvPr/>
        </p:nvSpPr>
        <p:spPr>
          <a:xfrm>
            <a:off x="3017520" y="2761488"/>
            <a:ext cx="1627632" cy="320040"/>
          </a:xfrm>
          <a:prstGeom prst="rect">
            <a:avLst/>
          </a:prstGeom>
          <a:noFill/>
          <a:ln/>
        </p:spPr>
        <p:txBody>
          <a:bodyPr wrap="square" lIns="0" tIns="0" rIns="0" bIns="0" rtlCol="0" anchor="ctr">
            <a:normAutofit/>
          </a:bodyPr>
          <a:lstStyle/>
          <a:p>
            <a:pPr algn="l" indent="0" marL="0">
              <a:buNone/>
            </a:pPr>
            <a:r>
              <a:rPr lang="en-US" sz="1100" b="1" spc="80" kern="0" dirty="0">
                <a:solidFill>
                  <a:srgbClr val="202526"/>
                </a:solidFill>
                <a:latin typeface="Noto Sans JP" pitchFamily="34" charset="0"/>
                <a:ea typeface="Noto Sans JP" pitchFamily="34" charset="-122"/>
                <a:cs typeface="Noto Sans JP" pitchFamily="34" charset="-120"/>
              </a:rPr>
              <a:t>TARGET</a:t>
            </a:r>
            <a:endParaRPr lang="en-US" sz="1100" dirty="0"/>
          </a:p>
        </p:txBody>
      </p:sp>
      <p:sp>
        <p:nvSpPr>
          <p:cNvPr id="14" name="Shape 12"/>
          <p:cNvSpPr/>
          <p:nvPr/>
        </p:nvSpPr>
        <p:spPr>
          <a:xfrm>
            <a:off x="3017520" y="3236976"/>
            <a:ext cx="457200" cy="0"/>
          </a:xfrm>
          <a:prstGeom prst="line">
            <a:avLst/>
          </a:prstGeom>
          <a:noFill/>
          <a:ln w="25400">
            <a:solidFill>
              <a:srgbClr val="42AFC0"/>
            </a:solidFill>
            <a:prstDash val="solid"/>
            <a:headEnd type="none"/>
            <a:tailEnd type="none"/>
          </a:ln>
        </p:spPr>
      </p:sp>
      <p:sp>
        <p:nvSpPr>
          <p:cNvPr id="15" name="Text 13"/>
          <p:cNvSpPr txBox="1"/>
          <p:nvPr/>
        </p:nvSpPr>
        <p:spPr>
          <a:xfrm>
            <a:off x="3017520" y="3566160"/>
            <a:ext cx="1600200" cy="640080"/>
          </a:xfrm>
          <a:prstGeom prst="rect">
            <a:avLst/>
          </a:prstGeom>
          <a:noFill/>
          <a:ln/>
        </p:spPr>
        <p:txBody>
          <a:bodyPr wrap="square" lIns="0" tIns="0" rIns="0" bIns="0" rtlCol="0" anchor="t">
            <a:normAutofit/>
          </a:bodyPr>
          <a:lstStyle/>
          <a:p>
            <a:pPr algn="l" indent="0" marL="0">
              <a:buNone/>
            </a:pPr>
            <a:r>
              <a:rPr lang="en-US" sz="1000" b="1" dirty="0">
                <a:solidFill>
                  <a:srgbClr val="687174"/>
                </a:solidFill>
                <a:latin typeface="Noto Sans JP" pitchFamily="34" charset="0"/>
                <a:ea typeface="Noto Sans JP" pitchFamily="34" charset="-122"/>
                <a:cs typeface="Noto Sans JP" pitchFamily="34" charset="-120"/>
              </a:rPr>
              <a:t>ペルソナ・課題</a:t>
            </a:r>
            <a:endParaRPr lang="en-US" sz="1000" dirty="0"/>
          </a:p>
        </p:txBody>
      </p:sp>
      <p:sp>
        <p:nvSpPr>
          <p:cNvPr id="16" name="Text 14"/>
          <p:cNvSpPr txBox="1"/>
          <p:nvPr/>
        </p:nvSpPr>
        <p:spPr>
          <a:xfrm>
            <a:off x="4864608" y="3182112"/>
            <a:ext cx="246888" cy="274320"/>
          </a:xfrm>
          <a:prstGeom prst="rect">
            <a:avLst/>
          </a:prstGeom>
          <a:noFill/>
          <a:ln/>
        </p:spPr>
        <p:txBody>
          <a:bodyPr wrap="square" lIns="0" tIns="0" rIns="0" bIns="0" rtlCol="0" anchor="ctr">
            <a:normAutofit/>
          </a:bodyPr>
          <a:lstStyle/>
          <a:p>
            <a:pPr algn="ctr" indent="0" marL="0">
              <a:buNone/>
            </a:pPr>
            <a:r>
              <a:rPr lang="en-US" sz="1500" b="1" dirty="0">
                <a:solidFill>
                  <a:srgbClr val="188CA1"/>
                </a:solidFill>
                <a:latin typeface="Noto Sans JP" pitchFamily="34" charset="0"/>
                <a:ea typeface="Noto Sans JP" pitchFamily="34" charset="-122"/>
                <a:cs typeface="Noto Sans JP" pitchFamily="34" charset="-120"/>
              </a:rPr>
              <a:t>→</a:t>
            </a:r>
            <a:endParaRPr lang="en-US" sz="1500" dirty="0"/>
          </a:p>
        </p:txBody>
      </p:sp>
      <p:sp>
        <p:nvSpPr>
          <p:cNvPr id="17" name="Shape 15"/>
          <p:cNvSpPr/>
          <p:nvPr/>
        </p:nvSpPr>
        <p:spPr>
          <a:xfrm>
            <a:off x="5120640" y="1993392"/>
            <a:ext cx="1975104" cy="3072384"/>
          </a:xfrm>
          <a:prstGeom prst="roundRect">
            <a:avLst>
              <a:gd name="adj" fmla="val 3704"/>
            </a:avLst>
          </a:prstGeom>
          <a:solidFill>
            <a:srgbClr val="42AFC0"/>
          </a:solidFill>
          <a:ln w="8890">
            <a:solidFill>
              <a:srgbClr val="42AFC0">
                <a:alpha val="0"/>
              </a:srgbClr>
            </a:solidFill>
            <a:prstDash val="solid"/>
          </a:ln>
        </p:spPr>
      </p:sp>
      <p:sp>
        <p:nvSpPr>
          <p:cNvPr id="18" name="Text 16"/>
          <p:cNvSpPr txBox="1"/>
          <p:nvPr/>
        </p:nvSpPr>
        <p:spPr>
          <a:xfrm>
            <a:off x="5285232" y="2176272"/>
            <a:ext cx="457200" cy="274320"/>
          </a:xfrm>
          <a:prstGeom prst="rect">
            <a:avLst/>
          </a:prstGeom>
          <a:noFill/>
          <a:ln/>
        </p:spPr>
        <p:txBody>
          <a:bodyPr wrap="square" lIns="0" tIns="0" rIns="0" bIns="0" rtlCol="0" anchor="ctr">
            <a:normAutofit/>
          </a:bodyPr>
          <a:lstStyle/>
          <a:p>
            <a:pPr algn="l" indent="0" marL="0">
              <a:buNone/>
            </a:pPr>
            <a:r>
              <a:rPr lang="en-US" sz="800" b="1" dirty="0">
                <a:solidFill>
                  <a:srgbClr val="202526"/>
                </a:solidFill>
                <a:latin typeface="Noto Sans JP" pitchFamily="34" charset="0"/>
                <a:ea typeface="Noto Sans JP" pitchFamily="34" charset="-122"/>
                <a:cs typeface="Noto Sans JP" pitchFamily="34" charset="-120"/>
              </a:rPr>
              <a:t>03</a:t>
            </a:r>
            <a:endParaRPr lang="en-US" sz="800" dirty="0"/>
          </a:p>
        </p:txBody>
      </p:sp>
      <p:sp>
        <p:nvSpPr>
          <p:cNvPr id="19" name="Text 17"/>
          <p:cNvSpPr txBox="1"/>
          <p:nvPr/>
        </p:nvSpPr>
        <p:spPr>
          <a:xfrm>
            <a:off x="5285232" y="2761488"/>
            <a:ext cx="1627632" cy="320040"/>
          </a:xfrm>
          <a:prstGeom prst="rect">
            <a:avLst/>
          </a:prstGeom>
          <a:noFill/>
          <a:ln/>
        </p:spPr>
        <p:txBody>
          <a:bodyPr wrap="square" lIns="0" tIns="0" rIns="0" bIns="0" rtlCol="0" anchor="ctr">
            <a:normAutofit/>
          </a:bodyPr>
          <a:lstStyle/>
          <a:p>
            <a:pPr algn="l" indent="0" marL="0">
              <a:buNone/>
            </a:pPr>
            <a:r>
              <a:rPr lang="en-US" sz="1100" b="1" spc="80" kern="0" dirty="0">
                <a:solidFill>
                  <a:srgbClr val="FFFFFF"/>
                </a:solidFill>
                <a:latin typeface="Noto Sans JP" pitchFamily="34" charset="0"/>
                <a:ea typeface="Noto Sans JP" pitchFamily="34" charset="-122"/>
                <a:cs typeface="Noto Sans JP" pitchFamily="34" charset="-120"/>
              </a:rPr>
              <a:t>CONCEPT</a:t>
            </a:r>
            <a:endParaRPr lang="en-US" sz="1100" dirty="0"/>
          </a:p>
        </p:txBody>
      </p:sp>
      <p:sp>
        <p:nvSpPr>
          <p:cNvPr id="20" name="Shape 18"/>
          <p:cNvSpPr/>
          <p:nvPr/>
        </p:nvSpPr>
        <p:spPr>
          <a:xfrm>
            <a:off x="5285232" y="3236976"/>
            <a:ext cx="457200" cy="0"/>
          </a:xfrm>
          <a:prstGeom prst="line">
            <a:avLst/>
          </a:prstGeom>
          <a:noFill/>
          <a:ln w="25400">
            <a:solidFill>
              <a:srgbClr val="FFFFFF"/>
            </a:solidFill>
            <a:prstDash val="solid"/>
            <a:headEnd type="none"/>
            <a:tailEnd type="none"/>
          </a:ln>
        </p:spPr>
      </p:sp>
      <p:sp>
        <p:nvSpPr>
          <p:cNvPr id="21" name="Text 19"/>
          <p:cNvSpPr txBox="1"/>
          <p:nvPr/>
        </p:nvSpPr>
        <p:spPr>
          <a:xfrm>
            <a:off x="5285232" y="3566160"/>
            <a:ext cx="1600200" cy="640080"/>
          </a:xfrm>
          <a:prstGeom prst="rect">
            <a:avLst/>
          </a:prstGeom>
          <a:noFill/>
          <a:ln/>
        </p:spPr>
        <p:txBody>
          <a:bodyPr wrap="square" lIns="0" tIns="0" rIns="0" bIns="0" rtlCol="0" anchor="t">
            <a:normAutofit/>
          </a:bodyP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言葉・世界観・導線</a:t>
            </a:r>
            <a:endParaRPr lang="en-US" sz="1000" dirty="0"/>
          </a:p>
        </p:txBody>
      </p:sp>
      <p:sp>
        <p:nvSpPr>
          <p:cNvPr id="22" name="Text 20"/>
          <p:cNvSpPr txBox="1"/>
          <p:nvPr/>
        </p:nvSpPr>
        <p:spPr>
          <a:xfrm>
            <a:off x="7132320" y="3182112"/>
            <a:ext cx="246888" cy="274320"/>
          </a:xfrm>
          <a:prstGeom prst="rect">
            <a:avLst/>
          </a:prstGeom>
          <a:noFill/>
          <a:ln/>
        </p:spPr>
        <p:txBody>
          <a:bodyPr wrap="square" lIns="0" tIns="0" rIns="0" bIns="0" rtlCol="0" anchor="ctr">
            <a:normAutofit/>
          </a:bodyPr>
          <a:lstStyle/>
          <a:p>
            <a:pPr algn="ctr" indent="0" marL="0">
              <a:buNone/>
            </a:pPr>
            <a:r>
              <a:rPr lang="en-US" sz="1500" b="1" dirty="0">
                <a:solidFill>
                  <a:srgbClr val="188CA1"/>
                </a:solidFill>
                <a:latin typeface="Noto Sans JP" pitchFamily="34" charset="0"/>
                <a:ea typeface="Noto Sans JP" pitchFamily="34" charset="-122"/>
                <a:cs typeface="Noto Sans JP" pitchFamily="34" charset="-120"/>
              </a:rPr>
              <a:t>→</a:t>
            </a:r>
            <a:endParaRPr lang="en-US" sz="1500" dirty="0"/>
          </a:p>
        </p:txBody>
      </p:sp>
      <p:sp>
        <p:nvSpPr>
          <p:cNvPr id="23" name="Shape 21"/>
          <p:cNvSpPr/>
          <p:nvPr/>
        </p:nvSpPr>
        <p:spPr>
          <a:xfrm>
            <a:off x="7388352" y="1993392"/>
            <a:ext cx="1975104" cy="3072384"/>
          </a:xfrm>
          <a:prstGeom prst="roundRect">
            <a:avLst>
              <a:gd name="adj" fmla="val 3704"/>
            </a:avLst>
          </a:prstGeom>
          <a:solidFill>
            <a:srgbClr val="FFFFFF"/>
          </a:solidFill>
          <a:ln w="8890">
            <a:solidFill>
              <a:srgbClr val="FFFFFF">
                <a:alpha val="0"/>
              </a:srgbClr>
            </a:solidFill>
            <a:prstDash val="solid"/>
          </a:ln>
        </p:spPr>
      </p:sp>
      <p:sp>
        <p:nvSpPr>
          <p:cNvPr id="24" name="Text 22"/>
          <p:cNvSpPr txBox="1"/>
          <p:nvPr/>
        </p:nvSpPr>
        <p:spPr>
          <a:xfrm>
            <a:off x="7552944" y="2176272"/>
            <a:ext cx="457200" cy="274320"/>
          </a:xfrm>
          <a:prstGeom prst="rect">
            <a:avLst/>
          </a:prstGeom>
          <a:noFill/>
          <a:ln/>
        </p:spPr>
        <p:txBody>
          <a:bodyPr wrap="square" lIns="0" tIns="0" rIns="0" bIns="0" rtlCol="0" anchor="ctr">
            <a:normAutofit/>
          </a:bodyPr>
          <a:lstStyle/>
          <a:p>
            <a:pPr algn="l" indent="0" marL="0">
              <a:buNone/>
            </a:pPr>
            <a:r>
              <a:rPr lang="en-US" sz="800" b="1" dirty="0">
                <a:solidFill>
                  <a:srgbClr val="188CA1"/>
                </a:solidFill>
                <a:latin typeface="Noto Sans JP" pitchFamily="34" charset="0"/>
                <a:ea typeface="Noto Sans JP" pitchFamily="34" charset="-122"/>
                <a:cs typeface="Noto Sans JP" pitchFamily="34" charset="-120"/>
              </a:rPr>
              <a:t>04</a:t>
            </a:r>
            <a:endParaRPr lang="en-US" sz="800" dirty="0"/>
          </a:p>
        </p:txBody>
      </p:sp>
      <p:sp>
        <p:nvSpPr>
          <p:cNvPr id="25" name="Text 23"/>
          <p:cNvSpPr txBox="1"/>
          <p:nvPr/>
        </p:nvSpPr>
        <p:spPr>
          <a:xfrm>
            <a:off x="7552944" y="2761488"/>
            <a:ext cx="1627632" cy="320040"/>
          </a:xfrm>
          <a:prstGeom prst="rect">
            <a:avLst/>
          </a:prstGeom>
          <a:noFill/>
          <a:ln/>
        </p:spPr>
        <p:txBody>
          <a:bodyPr wrap="square" lIns="0" tIns="0" rIns="0" bIns="0" rtlCol="0" anchor="ctr">
            <a:normAutofit/>
          </a:bodyPr>
          <a:lstStyle/>
          <a:p>
            <a:pPr algn="l" indent="0" marL="0">
              <a:buNone/>
            </a:pPr>
            <a:r>
              <a:rPr lang="en-US" sz="1100" b="1" spc="80" kern="0" dirty="0">
                <a:solidFill>
                  <a:srgbClr val="202526"/>
                </a:solidFill>
                <a:latin typeface="Noto Sans JP" pitchFamily="34" charset="0"/>
                <a:ea typeface="Noto Sans JP" pitchFamily="34" charset="-122"/>
                <a:cs typeface="Noto Sans JP" pitchFamily="34" charset="-120"/>
              </a:rPr>
              <a:t>CREATE</a:t>
            </a:r>
            <a:endParaRPr lang="en-US" sz="1100" dirty="0"/>
          </a:p>
        </p:txBody>
      </p:sp>
      <p:sp>
        <p:nvSpPr>
          <p:cNvPr id="26" name="Shape 24"/>
          <p:cNvSpPr/>
          <p:nvPr/>
        </p:nvSpPr>
        <p:spPr>
          <a:xfrm>
            <a:off x="7552944" y="3236976"/>
            <a:ext cx="457200" cy="0"/>
          </a:xfrm>
          <a:prstGeom prst="line">
            <a:avLst/>
          </a:prstGeom>
          <a:noFill/>
          <a:ln w="25400">
            <a:solidFill>
              <a:srgbClr val="42AFC0"/>
            </a:solidFill>
            <a:prstDash val="solid"/>
            <a:headEnd type="none"/>
            <a:tailEnd type="none"/>
          </a:ln>
        </p:spPr>
      </p:sp>
      <p:sp>
        <p:nvSpPr>
          <p:cNvPr id="27" name="Text 25"/>
          <p:cNvSpPr txBox="1"/>
          <p:nvPr/>
        </p:nvSpPr>
        <p:spPr>
          <a:xfrm>
            <a:off x="7552944" y="3566160"/>
            <a:ext cx="1600200" cy="640080"/>
          </a:xfrm>
          <a:prstGeom prst="rect">
            <a:avLst/>
          </a:prstGeom>
          <a:noFill/>
          <a:ln/>
        </p:spPr>
        <p:txBody>
          <a:bodyPr wrap="square" lIns="0" tIns="0" rIns="0" bIns="0" rtlCol="0" anchor="t">
            <a:normAutofit/>
          </a:bodyPr>
          <a:lstStyle/>
          <a:p>
            <a:pPr algn="l" indent="0" marL="0">
              <a:buNone/>
            </a:pPr>
            <a:r>
              <a:rPr lang="en-US" sz="1000" b="1" dirty="0">
                <a:solidFill>
                  <a:srgbClr val="687174"/>
                </a:solidFill>
                <a:latin typeface="Noto Sans JP" pitchFamily="34" charset="0"/>
                <a:ea typeface="Noto Sans JP" pitchFamily="34" charset="-122"/>
                <a:cs typeface="Noto Sans JP" pitchFamily="34" charset="-120"/>
              </a:rPr>
              <a:t>企画・制作・投稿</a:t>
            </a:r>
            <a:endParaRPr lang="en-US" sz="1000" dirty="0"/>
          </a:p>
        </p:txBody>
      </p:sp>
      <p:sp>
        <p:nvSpPr>
          <p:cNvPr id="28" name="Text 26"/>
          <p:cNvSpPr txBox="1"/>
          <p:nvPr/>
        </p:nvSpPr>
        <p:spPr>
          <a:xfrm>
            <a:off x="9400032" y="3182112"/>
            <a:ext cx="246888" cy="274320"/>
          </a:xfrm>
          <a:prstGeom prst="rect">
            <a:avLst/>
          </a:prstGeom>
          <a:noFill/>
          <a:ln/>
        </p:spPr>
        <p:txBody>
          <a:bodyPr wrap="square" lIns="0" tIns="0" rIns="0" bIns="0" rtlCol="0" anchor="ctr">
            <a:normAutofit/>
          </a:bodyPr>
          <a:lstStyle/>
          <a:p>
            <a:pPr algn="ctr" indent="0" marL="0">
              <a:buNone/>
            </a:pPr>
            <a:r>
              <a:rPr lang="en-US" sz="1500" b="1" dirty="0">
                <a:solidFill>
                  <a:srgbClr val="188CA1"/>
                </a:solidFill>
                <a:latin typeface="Noto Sans JP" pitchFamily="34" charset="0"/>
                <a:ea typeface="Noto Sans JP" pitchFamily="34" charset="-122"/>
                <a:cs typeface="Noto Sans JP" pitchFamily="34" charset="-120"/>
              </a:rPr>
              <a:t>→</a:t>
            </a:r>
            <a:endParaRPr lang="en-US" sz="1500" dirty="0"/>
          </a:p>
        </p:txBody>
      </p:sp>
      <p:sp>
        <p:nvSpPr>
          <p:cNvPr id="29" name="Shape 27"/>
          <p:cNvSpPr/>
          <p:nvPr/>
        </p:nvSpPr>
        <p:spPr>
          <a:xfrm>
            <a:off x="9656064" y="1993392"/>
            <a:ext cx="1975104" cy="3072384"/>
          </a:xfrm>
          <a:prstGeom prst="roundRect">
            <a:avLst>
              <a:gd name="adj" fmla="val 3704"/>
            </a:avLst>
          </a:prstGeom>
          <a:solidFill>
            <a:srgbClr val="DDEDF1"/>
          </a:solidFill>
          <a:ln w="8890">
            <a:solidFill>
              <a:srgbClr val="DDEDF1">
                <a:alpha val="0"/>
              </a:srgbClr>
            </a:solidFill>
            <a:prstDash val="solid"/>
          </a:ln>
        </p:spPr>
      </p:sp>
      <p:sp>
        <p:nvSpPr>
          <p:cNvPr id="30" name="Text 28"/>
          <p:cNvSpPr txBox="1"/>
          <p:nvPr/>
        </p:nvSpPr>
        <p:spPr>
          <a:xfrm>
            <a:off x="9820656" y="2176272"/>
            <a:ext cx="457200" cy="274320"/>
          </a:xfrm>
          <a:prstGeom prst="rect">
            <a:avLst/>
          </a:prstGeom>
          <a:noFill/>
          <a:ln/>
        </p:spPr>
        <p:txBody>
          <a:bodyPr wrap="square" lIns="0" tIns="0" rIns="0" bIns="0" rtlCol="0" anchor="ctr">
            <a:normAutofit/>
          </a:bodyPr>
          <a:lstStyle/>
          <a:p>
            <a:pPr algn="l" indent="0" marL="0">
              <a:buNone/>
            </a:pPr>
            <a:r>
              <a:rPr lang="en-US" sz="800" b="1" dirty="0">
                <a:solidFill>
                  <a:srgbClr val="188CA1"/>
                </a:solidFill>
                <a:latin typeface="Noto Sans JP" pitchFamily="34" charset="0"/>
                <a:ea typeface="Noto Sans JP" pitchFamily="34" charset="-122"/>
                <a:cs typeface="Noto Sans JP" pitchFamily="34" charset="-120"/>
              </a:rPr>
              <a:t>05</a:t>
            </a:r>
            <a:endParaRPr lang="en-US" sz="800" dirty="0"/>
          </a:p>
        </p:txBody>
      </p:sp>
      <p:sp>
        <p:nvSpPr>
          <p:cNvPr id="31" name="Text 29"/>
          <p:cNvSpPr txBox="1"/>
          <p:nvPr/>
        </p:nvSpPr>
        <p:spPr>
          <a:xfrm>
            <a:off x="9820656" y="2761488"/>
            <a:ext cx="1627632" cy="320040"/>
          </a:xfrm>
          <a:prstGeom prst="rect">
            <a:avLst/>
          </a:prstGeom>
          <a:noFill/>
          <a:ln/>
        </p:spPr>
        <p:txBody>
          <a:bodyPr wrap="square" lIns="0" tIns="0" rIns="0" bIns="0" rtlCol="0" anchor="ctr">
            <a:normAutofit/>
          </a:bodyPr>
          <a:lstStyle/>
          <a:p>
            <a:pPr algn="l" indent="0" marL="0">
              <a:buNone/>
            </a:pPr>
            <a:r>
              <a:rPr lang="en-US" sz="1100" b="1" spc="80" kern="0" dirty="0">
                <a:solidFill>
                  <a:srgbClr val="202526"/>
                </a:solidFill>
                <a:latin typeface="Noto Sans JP" pitchFamily="34" charset="0"/>
                <a:ea typeface="Noto Sans JP" pitchFamily="34" charset="-122"/>
                <a:cs typeface="Noto Sans JP" pitchFamily="34" charset="-120"/>
              </a:rPr>
              <a:t>IMPROVE</a:t>
            </a:r>
            <a:endParaRPr lang="en-US" sz="1100" dirty="0"/>
          </a:p>
        </p:txBody>
      </p:sp>
      <p:sp>
        <p:nvSpPr>
          <p:cNvPr id="32" name="Shape 30"/>
          <p:cNvSpPr/>
          <p:nvPr/>
        </p:nvSpPr>
        <p:spPr>
          <a:xfrm>
            <a:off x="9820656" y="3236976"/>
            <a:ext cx="457200" cy="0"/>
          </a:xfrm>
          <a:prstGeom prst="line">
            <a:avLst/>
          </a:prstGeom>
          <a:noFill/>
          <a:ln w="25400">
            <a:solidFill>
              <a:srgbClr val="42AFC0"/>
            </a:solidFill>
            <a:prstDash val="solid"/>
            <a:headEnd type="none"/>
            <a:tailEnd type="none"/>
          </a:ln>
        </p:spPr>
      </p:sp>
      <p:sp>
        <p:nvSpPr>
          <p:cNvPr id="33" name="Text 31"/>
          <p:cNvSpPr txBox="1"/>
          <p:nvPr/>
        </p:nvSpPr>
        <p:spPr>
          <a:xfrm>
            <a:off x="9820656" y="3566160"/>
            <a:ext cx="1600200" cy="640080"/>
          </a:xfrm>
          <a:prstGeom prst="rect">
            <a:avLst/>
          </a:prstGeom>
          <a:noFill/>
          <a:ln/>
        </p:spPr>
        <p:txBody>
          <a:bodyPr wrap="square" lIns="0" tIns="0" rIns="0" bIns="0" rtlCol="0" anchor="t">
            <a:normAutofit/>
          </a:bodyPr>
          <a:lstStyle/>
          <a:p>
            <a:pPr algn="l" indent="0" marL="0">
              <a:buNone/>
            </a:pPr>
            <a:r>
              <a:rPr lang="en-US" sz="1000" b="1" dirty="0">
                <a:solidFill>
                  <a:srgbClr val="687174"/>
                </a:solidFill>
                <a:latin typeface="Noto Sans JP" pitchFamily="34" charset="0"/>
                <a:ea typeface="Noto Sans JP" pitchFamily="34" charset="-122"/>
                <a:cs typeface="Noto Sans JP" pitchFamily="34" charset="-120"/>
              </a:rPr>
              <a:t>計測・振り返り・改善</a:t>
            </a:r>
            <a:endParaRPr lang="en-US" sz="1000" dirty="0"/>
          </a:p>
        </p:txBody>
      </p:sp>
      <p:sp>
        <p:nvSpPr>
          <p:cNvPr id="34" name="Text 32"/>
          <p:cNvSpPr txBox="1"/>
          <p:nvPr/>
        </p:nvSpPr>
        <p:spPr>
          <a:xfrm>
            <a:off x="4160520" y="5614416"/>
            <a:ext cx="3822192" cy="384048"/>
          </a:xfrm>
          <a:prstGeom prst="rect">
            <a:avLst/>
          </a:prstGeom>
          <a:noFill/>
          <a:ln/>
        </p:spPr>
        <p:txBody>
          <a:bodyPr wrap="square" lIns="0" tIns="0" rIns="0" bIns="0" rtlCol="0" anchor="ctr">
            <a:normAutofit/>
          </a:bodyPr>
          <a:lstStyle/>
          <a:p>
            <a:pPr algn="ctr" indent="0" marL="0">
              <a:buNone/>
            </a:pPr>
            <a:r>
              <a:rPr lang="en-US" sz="1400" b="1" dirty="0">
                <a:solidFill>
                  <a:srgbClr val="188CA1"/>
                </a:solidFill>
                <a:latin typeface="Noto Sans JP" pitchFamily="34" charset="0"/>
                <a:ea typeface="Noto Sans JP" pitchFamily="34" charset="-122"/>
                <a:cs typeface="Noto Sans JP" pitchFamily="34" charset="-120"/>
              </a:rPr>
              <a:t>毎月の改善サイクルへ</a:t>
            </a:r>
            <a:endParaRPr lang="en-US" sz="14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08</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RESEARCH</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「なんとなく」を捨て、数で当たりをつける。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案件に入る前から、市場・競合・勝ち筋を自分の手で調べ切ります。</a:t>
            </a:r>
            <a:endParaRPr lang="en-US" sz="1050" dirty="0"/>
          </a:p>
        </p:txBody>
      </p:sp>
      <p:sp>
        <p:nvSpPr>
          <p:cNvPr id="6" name="Shape 4"/>
          <p:cNvSpPr/>
          <p:nvPr/>
        </p:nvSpPr>
        <p:spPr>
          <a:xfrm>
            <a:off x="548640" y="1874520"/>
            <a:ext cx="3547872" cy="2697480"/>
          </a:xfrm>
          <a:prstGeom prst="roundRect">
            <a:avLst>
              <a:gd name="adj" fmla="val 3390"/>
            </a:avLst>
          </a:prstGeom>
          <a:solidFill>
            <a:srgbClr val="DDEDF1"/>
          </a:solidFill>
          <a:ln w="8890">
            <a:solidFill>
              <a:srgbClr val="DDEDF1">
                <a:alpha val="0"/>
              </a:srgbClr>
            </a:solidFill>
            <a:prstDash val="solid"/>
          </a:ln>
        </p:spPr>
      </p:sp>
      <p:sp>
        <p:nvSpPr>
          <p:cNvPr id="7" name="Text 5"/>
          <p:cNvSpPr txBox="1"/>
          <p:nvPr/>
        </p:nvSpPr>
        <p:spPr>
          <a:xfrm>
            <a:off x="731520" y="2039112"/>
            <a:ext cx="411480" cy="320040"/>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01</a:t>
            </a:r>
            <a:endParaRPr lang="en-US" sz="1000" dirty="0"/>
          </a:p>
        </p:txBody>
      </p:sp>
      <p:sp>
        <p:nvSpPr>
          <p:cNvPr id="8" name="Text 6"/>
          <p:cNvSpPr txBox="1"/>
          <p:nvPr/>
        </p:nvSpPr>
        <p:spPr>
          <a:xfrm>
            <a:off x="731520" y="2441448"/>
            <a:ext cx="3182112" cy="393192"/>
          </a:xfrm>
          <a:prstGeom prst="rect">
            <a:avLst/>
          </a:prstGeom>
          <a:noFill/>
          <a:ln/>
        </p:spPr>
        <p:txBody>
          <a:bodyPr wrap="square" lIns="0" tIns="0" rIns="0" bIns="0" rtlCol="0" anchor="ctr">
            <a:normAutofit/>
          </a:bodyPr>
          <a:lstStyle/>
          <a:p>
            <a:pPr algn="l" indent="0" marL="0">
              <a:buNone/>
            </a:pPr>
            <a:r>
              <a:rPr lang="en-US" sz="1500" b="1" dirty="0">
                <a:solidFill>
                  <a:srgbClr val="202526"/>
                </a:solidFill>
                <a:latin typeface="Noto Sans JP" pitchFamily="34" charset="0"/>
                <a:ea typeface="Noto Sans JP" pitchFamily="34" charset="-122"/>
                <a:cs typeface="Noto Sans JP" pitchFamily="34" charset="-120"/>
              </a:rPr>
              <a:t>アカウント調査</a:t>
            </a:r>
            <a:endParaRPr lang="en-US" sz="1500" dirty="0"/>
          </a:p>
        </p:txBody>
      </p:sp>
      <p:sp>
        <p:nvSpPr>
          <p:cNvPr id="9" name="Text 7"/>
          <p:cNvSpPr txBox="1"/>
          <p:nvPr/>
        </p:nvSpPr>
        <p:spPr>
          <a:xfrm>
            <a:off x="731520" y="2898648"/>
            <a:ext cx="3182112" cy="1508760"/>
          </a:xfrm>
          <a:prstGeom prst="rect">
            <a:avLst/>
          </a:prstGeom>
          <a:noFill/>
          <a:ln/>
        </p:spPr>
        <p:txBody>
          <a:bodyPr wrap="square" lIns="0" tIns="0" rIns="0" bIns="0" rtlCol="0" anchor="t">
            <a:normAutofit/>
          </a:bodyPr>
          <a:lstStyle/>
          <a:p>
            <a:pPr algn="l" indent="0" marL="0">
              <a:buNone/>
            </a:pPr>
            <a:r>
              <a:rPr lang="en-US" sz="940" dirty="0">
                <a:solidFill>
                  <a:srgbClr val="687174"/>
                </a:solidFill>
                <a:latin typeface="Noto Sans JP" pitchFamily="34" charset="0"/>
                <a:ea typeface="Noto Sans JP" pitchFamily="34" charset="-122"/>
                <a:cs typeface="Noto Sans JP" pitchFamily="34" charset="-120"/>
              </a:rPr>
              <a:t>53アカウント／15ジャンルを収集し、プロフィール文・フォロワー数・投稿数・投稿形式・開始時期まで台帳化。</a:t>
            </a:r>
            <a:endParaRPr lang="en-US" sz="940" dirty="0"/>
          </a:p>
        </p:txBody>
      </p:sp>
      <p:sp>
        <p:nvSpPr>
          <p:cNvPr id="10" name="Shape 8"/>
          <p:cNvSpPr/>
          <p:nvPr/>
        </p:nvSpPr>
        <p:spPr>
          <a:xfrm>
            <a:off x="4315968" y="1874520"/>
            <a:ext cx="3547872" cy="2697480"/>
          </a:xfrm>
          <a:prstGeom prst="roundRect">
            <a:avLst>
              <a:gd name="adj" fmla="val 3390"/>
            </a:avLst>
          </a:prstGeom>
          <a:solidFill>
            <a:srgbClr val="FFFFFF"/>
          </a:solidFill>
          <a:ln w="8890">
            <a:solidFill>
              <a:srgbClr val="FFFFFF">
                <a:alpha val="0"/>
              </a:srgbClr>
            </a:solidFill>
            <a:prstDash val="solid"/>
          </a:ln>
        </p:spPr>
      </p:sp>
      <p:sp>
        <p:nvSpPr>
          <p:cNvPr id="11" name="Text 9"/>
          <p:cNvSpPr txBox="1"/>
          <p:nvPr/>
        </p:nvSpPr>
        <p:spPr>
          <a:xfrm>
            <a:off x="4498848" y="2039112"/>
            <a:ext cx="411480" cy="320040"/>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02</a:t>
            </a:r>
            <a:endParaRPr lang="en-US" sz="1000" dirty="0"/>
          </a:p>
        </p:txBody>
      </p:sp>
      <p:sp>
        <p:nvSpPr>
          <p:cNvPr id="12" name="Text 10"/>
          <p:cNvSpPr txBox="1"/>
          <p:nvPr/>
        </p:nvSpPr>
        <p:spPr>
          <a:xfrm>
            <a:off x="4498848" y="2441448"/>
            <a:ext cx="3182112" cy="393192"/>
          </a:xfrm>
          <a:prstGeom prst="rect">
            <a:avLst/>
          </a:prstGeom>
          <a:noFill/>
          <a:ln/>
        </p:spPr>
        <p:txBody>
          <a:bodyPr wrap="square" lIns="0" tIns="0" rIns="0" bIns="0" rtlCol="0" anchor="ctr">
            <a:normAutofit/>
          </a:bodyPr>
          <a:lstStyle/>
          <a:p>
            <a:pPr algn="l" indent="0" marL="0">
              <a:buNone/>
            </a:pPr>
            <a:r>
              <a:rPr lang="en-US" sz="1500" b="1" dirty="0">
                <a:solidFill>
                  <a:srgbClr val="202526"/>
                </a:solidFill>
                <a:latin typeface="Noto Sans JP" pitchFamily="34" charset="0"/>
                <a:ea typeface="Noto Sans JP" pitchFamily="34" charset="-122"/>
                <a:cs typeface="Noto Sans JP" pitchFamily="34" charset="-120"/>
              </a:rPr>
              <a:t>リール分解</a:t>
            </a:r>
            <a:endParaRPr lang="en-US" sz="1500" dirty="0"/>
          </a:p>
        </p:txBody>
      </p:sp>
      <p:sp>
        <p:nvSpPr>
          <p:cNvPr id="13" name="Text 11"/>
          <p:cNvSpPr txBox="1"/>
          <p:nvPr/>
        </p:nvSpPr>
        <p:spPr>
          <a:xfrm>
            <a:off x="4498848" y="2898648"/>
            <a:ext cx="3182112" cy="1508760"/>
          </a:xfrm>
          <a:prstGeom prst="rect">
            <a:avLst/>
          </a:prstGeom>
          <a:noFill/>
          <a:ln/>
        </p:spPr>
        <p:txBody>
          <a:bodyPr wrap="square" lIns="0" tIns="0" rIns="0" bIns="0" rtlCol="0" anchor="t">
            <a:normAutofit/>
          </a:bodyPr>
          <a:lstStyle/>
          <a:p>
            <a:pPr algn="l" indent="0" marL="0">
              <a:buNone/>
            </a:pPr>
            <a:r>
              <a:rPr lang="en-US" sz="940" dirty="0">
                <a:solidFill>
                  <a:srgbClr val="687174"/>
                </a:solidFill>
                <a:latin typeface="Noto Sans JP" pitchFamily="34" charset="0"/>
                <a:ea typeface="Noto Sans JP" pitchFamily="34" charset="-122"/>
                <a:cs typeface="Noto Sans JP" pitchFamily="34" charset="-120"/>
              </a:rPr>
              <a:t>伸びた動画のフック文・構成・尺を分類し、「当たりワード」として蓄積。感覚ではなく型で企画する。</a:t>
            </a:r>
            <a:endParaRPr lang="en-US" sz="940" dirty="0"/>
          </a:p>
        </p:txBody>
      </p:sp>
      <p:sp>
        <p:nvSpPr>
          <p:cNvPr id="14" name="Shape 12"/>
          <p:cNvSpPr/>
          <p:nvPr/>
        </p:nvSpPr>
        <p:spPr>
          <a:xfrm>
            <a:off x="8083296" y="1874520"/>
            <a:ext cx="3547872" cy="2697480"/>
          </a:xfrm>
          <a:prstGeom prst="roundRect">
            <a:avLst>
              <a:gd name="adj" fmla="val 3390"/>
            </a:avLst>
          </a:prstGeom>
          <a:solidFill>
            <a:srgbClr val="DDE3E2"/>
          </a:solidFill>
          <a:ln w="8890">
            <a:solidFill>
              <a:srgbClr val="DDE3E2">
                <a:alpha val="0"/>
              </a:srgbClr>
            </a:solidFill>
            <a:prstDash val="solid"/>
          </a:ln>
        </p:spPr>
      </p:sp>
      <p:sp>
        <p:nvSpPr>
          <p:cNvPr id="15" name="Text 13"/>
          <p:cNvSpPr txBox="1"/>
          <p:nvPr/>
        </p:nvSpPr>
        <p:spPr>
          <a:xfrm>
            <a:off x="8266176" y="2039112"/>
            <a:ext cx="411480" cy="320040"/>
          </a:xfrm>
          <a:prstGeom prst="rect">
            <a:avLst/>
          </a:prstGeom>
          <a:noFill/>
          <a:ln/>
        </p:spPr>
        <p:txBody>
          <a:bodyPr wrap="square" lIns="0" tIns="0" rIns="0" bIns="0" rtlCol="0" anchor="ctr">
            <a:normAutofit/>
          </a:bodyPr>
          <a:lstStyle/>
          <a:p>
            <a:pPr algn="l" indent="0" marL="0">
              <a:buNone/>
            </a:pPr>
            <a:r>
              <a:rPr lang="en-US" sz="1000" b="1" dirty="0">
                <a:solidFill>
                  <a:srgbClr val="188CA1"/>
                </a:solidFill>
                <a:latin typeface="Noto Sans JP" pitchFamily="34" charset="0"/>
                <a:ea typeface="Noto Sans JP" pitchFamily="34" charset="-122"/>
                <a:cs typeface="Noto Sans JP" pitchFamily="34" charset="-120"/>
              </a:rPr>
              <a:t>03</a:t>
            </a:r>
            <a:endParaRPr lang="en-US" sz="1000" dirty="0"/>
          </a:p>
        </p:txBody>
      </p:sp>
      <p:sp>
        <p:nvSpPr>
          <p:cNvPr id="16" name="Text 14"/>
          <p:cNvSpPr txBox="1"/>
          <p:nvPr/>
        </p:nvSpPr>
        <p:spPr>
          <a:xfrm>
            <a:off x="8266176" y="2441448"/>
            <a:ext cx="3182112" cy="393192"/>
          </a:xfrm>
          <a:prstGeom prst="rect">
            <a:avLst/>
          </a:prstGeom>
          <a:noFill/>
          <a:ln/>
        </p:spPr>
        <p:txBody>
          <a:bodyPr wrap="square" lIns="0" tIns="0" rIns="0" bIns="0" rtlCol="0" anchor="ctr">
            <a:normAutofit/>
          </a:bodyPr>
          <a:lstStyle/>
          <a:p>
            <a:pPr algn="l" indent="0" marL="0">
              <a:buNone/>
            </a:pPr>
            <a:r>
              <a:rPr lang="en-US" sz="1500" b="1" dirty="0">
                <a:solidFill>
                  <a:srgbClr val="202526"/>
                </a:solidFill>
                <a:latin typeface="Noto Sans JP" pitchFamily="34" charset="0"/>
                <a:ea typeface="Noto Sans JP" pitchFamily="34" charset="-122"/>
                <a:cs typeface="Noto Sans JP" pitchFamily="34" charset="-120"/>
              </a:rPr>
              <a:t>市場マップ</a:t>
            </a:r>
            <a:endParaRPr lang="en-US" sz="1500" dirty="0"/>
          </a:p>
        </p:txBody>
      </p:sp>
      <p:sp>
        <p:nvSpPr>
          <p:cNvPr id="17" name="Text 15"/>
          <p:cNvSpPr txBox="1"/>
          <p:nvPr/>
        </p:nvSpPr>
        <p:spPr>
          <a:xfrm>
            <a:off x="8266176" y="2898648"/>
            <a:ext cx="3182112" cy="1508760"/>
          </a:xfrm>
          <a:prstGeom prst="rect">
            <a:avLst/>
          </a:prstGeom>
          <a:noFill/>
          <a:ln/>
        </p:spPr>
        <p:txBody>
          <a:bodyPr wrap="square" lIns="0" tIns="0" rIns="0" bIns="0" rtlCol="0" anchor="t">
            <a:normAutofit/>
          </a:bodyPr>
          <a:lstStyle/>
          <a:p>
            <a:pPr algn="l" indent="0" marL="0">
              <a:buNone/>
            </a:pPr>
            <a:r>
              <a:rPr lang="en-US" sz="940" dirty="0">
                <a:solidFill>
                  <a:srgbClr val="687174"/>
                </a:solidFill>
                <a:latin typeface="Noto Sans JP" pitchFamily="34" charset="0"/>
                <a:ea typeface="Noto Sans JP" pitchFamily="34" charset="-122"/>
                <a:cs typeface="Noto Sans JP" pitchFamily="34" charset="-120"/>
              </a:rPr>
              <a:t>ジャンル別に需要と競合密度を並べ、まだ埋まっていない切り口を特定してから発信を設計する。</a:t>
            </a:r>
            <a:endParaRPr lang="en-US" sz="940" dirty="0"/>
          </a:p>
        </p:txBody>
      </p:sp>
      <p:sp>
        <p:nvSpPr>
          <p:cNvPr id="18" name="Shape 16"/>
          <p:cNvSpPr/>
          <p:nvPr/>
        </p:nvSpPr>
        <p:spPr>
          <a:xfrm>
            <a:off x="548640" y="4846320"/>
            <a:ext cx="11082528" cy="914400"/>
          </a:xfrm>
          <a:prstGeom prst="roundRect">
            <a:avLst>
              <a:gd name="adj" fmla="val 8000"/>
            </a:avLst>
          </a:prstGeom>
          <a:solidFill>
            <a:srgbClr val="202526"/>
          </a:solidFill>
          <a:ln w="8890">
            <a:solidFill>
              <a:srgbClr val="202526">
                <a:alpha val="0"/>
              </a:srgbClr>
            </a:solidFill>
            <a:prstDash val="solid"/>
          </a:ln>
        </p:spPr>
      </p:sp>
      <p:sp>
        <p:nvSpPr>
          <p:cNvPr id="19" name="Text 17"/>
          <p:cNvSpPr txBox="1"/>
          <p:nvPr/>
        </p:nvSpPr>
        <p:spPr>
          <a:xfrm>
            <a:off x="841248" y="4992624"/>
            <a:ext cx="2743200" cy="274320"/>
          </a:xfrm>
          <a:prstGeom prst="rect">
            <a:avLst/>
          </a:prstGeom>
          <a:noFill/>
          <a:ln/>
        </p:spPr>
        <p:txBody>
          <a:bodyPr wrap="square" lIns="0" tIns="0" rIns="0" bIns="0" rtlCol="0" anchor="ctr">
            <a:normAutofit/>
          </a:bodyPr>
          <a:lstStyle/>
          <a:p>
            <a:pPr algn="l" indent="0" marL="0">
              <a:buNone/>
            </a:pPr>
            <a:r>
              <a:rPr lang="en-US" sz="900" b="1" spc="80" kern="0" dirty="0">
                <a:solidFill>
                  <a:srgbClr val="42AFC0"/>
                </a:solidFill>
                <a:latin typeface="Noto Sans JP" pitchFamily="34" charset="0"/>
                <a:ea typeface="Noto Sans JP" pitchFamily="34" charset="-122"/>
                <a:cs typeface="Noto Sans JP" pitchFamily="34" charset="-120"/>
              </a:rPr>
              <a:t>保有するリサーチ台帳</a:t>
            </a:r>
            <a:endParaRPr lang="en-US" sz="900" dirty="0"/>
          </a:p>
        </p:txBody>
      </p:sp>
      <p:sp>
        <p:nvSpPr>
          <p:cNvPr id="20" name="Text 18"/>
          <p:cNvSpPr txBox="1"/>
          <p:nvPr/>
        </p:nvSpPr>
        <p:spPr>
          <a:xfrm>
            <a:off x="841248" y="5303520"/>
            <a:ext cx="10515600" cy="310896"/>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Noto Sans JP" pitchFamily="34" charset="0"/>
                <a:ea typeface="Noto Sans JP" pitchFamily="34" charset="-122"/>
                <a:cs typeface="Noto Sans JP" pitchFamily="34" charset="-120"/>
              </a:rPr>
              <a:t>アカウントリサーチ台帳（53件）　／　バズリールリサーチシート（フック当たりワード・高品質リール・0→1企画）　／　Instagram Market Research Master</a:t>
            </a:r>
            <a:endParaRPr lang="en-US" sz="1000" dirty="0"/>
          </a:p>
        </p:txBody>
      </p:sp>
      <p:sp>
        <p:nvSpPr>
          <p:cNvPr id="21" name="Text 19"/>
          <p:cNvSpPr txBox="1"/>
          <p:nvPr/>
        </p:nvSpPr>
        <p:spPr>
          <a:xfrm>
            <a:off x="548640" y="5943600"/>
            <a:ext cx="11082528" cy="256032"/>
          </a:xfrm>
          <a:prstGeom prst="rect">
            <a:avLst/>
          </a:prstGeom>
          <a:noFill/>
          <a:ln/>
        </p:spPr>
        <p:txBody>
          <a:bodyPr wrap="square" lIns="0" tIns="0" rIns="0" bIns="0" rtlCol="0" anchor="ctr">
            <a:normAutofit/>
          </a:bodyPr>
          <a:lstStyle/>
          <a:p>
            <a:pPr algn="l" indent="0" marL="0">
              <a:buNone/>
            </a:pPr>
            <a:r>
              <a:rPr lang="en-US" sz="850" dirty="0">
                <a:solidFill>
                  <a:srgbClr val="687174"/>
                </a:solidFill>
                <a:latin typeface="Noto Sans JP" pitchFamily="34" charset="0"/>
                <a:ea typeface="Noto Sans JP" pitchFamily="34" charset="-122"/>
                <a:cs typeface="Noto Sans JP" pitchFamily="34" charset="-120"/>
              </a:rPr>
              <a:t>※ 台帳はいずれも当方が独自に作成・運用しているものです。</a:t>
            </a:r>
            <a:endParaRPr lang="en-US" sz="85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09</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ORIGINAL METRIC</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フォロワー数ではなく、「1投稿あたりの効率」で見る。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他社と同じ数字を見ていては、他社と同じ結論しか出ません。</a:t>
            </a:r>
            <a:endParaRPr lang="en-US" sz="1050" dirty="0"/>
          </a:p>
        </p:txBody>
      </p:sp>
      <p:sp>
        <p:nvSpPr>
          <p:cNvPr id="6" name="Shape 4"/>
          <p:cNvSpPr/>
          <p:nvPr/>
        </p:nvSpPr>
        <p:spPr>
          <a:xfrm>
            <a:off x="548640" y="1847088"/>
            <a:ext cx="11082528" cy="1371600"/>
          </a:xfrm>
          <a:prstGeom prst="roundRect">
            <a:avLst>
              <a:gd name="adj" fmla="val 5333"/>
            </a:avLst>
          </a:prstGeom>
          <a:solidFill>
            <a:srgbClr val="42AFC0"/>
          </a:solidFill>
          <a:ln w="8890">
            <a:solidFill>
              <a:srgbClr val="42AFC0">
                <a:alpha val="0"/>
              </a:srgbClr>
            </a:solidFill>
            <a:prstDash val="solid"/>
          </a:ln>
        </p:spPr>
      </p:sp>
      <p:sp>
        <p:nvSpPr>
          <p:cNvPr id="7" name="Text 5"/>
          <p:cNvSpPr txBox="1"/>
          <p:nvPr/>
        </p:nvSpPr>
        <p:spPr>
          <a:xfrm>
            <a:off x="822960" y="2103120"/>
            <a:ext cx="10515600" cy="548640"/>
          </a:xfrm>
          <a:prstGeom prst="rect">
            <a:avLst/>
          </a:prstGeom>
          <a:noFill/>
          <a:ln/>
        </p:spPr>
        <p:txBody>
          <a:bodyPr wrap="square" lIns="0" tIns="0" rIns="0" bIns="0" rtlCol="0" anchor="ctr">
            <a:normAutofit/>
          </a:bodyPr>
          <a:lstStyle/>
          <a:p>
            <a:pPr algn="ctr" indent="0" marL="0">
              <a:buNone/>
            </a:pPr>
            <a:r>
              <a:rPr lang="en-US" sz="2600" b="1" dirty="0">
                <a:solidFill>
                  <a:srgbClr val="FFFFFF"/>
                </a:solidFill>
                <a:latin typeface="Noto Sans JP" pitchFamily="34" charset="0"/>
                <a:ea typeface="Noto Sans JP" pitchFamily="34" charset="-122"/>
                <a:cs typeface="Noto Sans JP" pitchFamily="34" charset="-120"/>
              </a:rPr>
              <a:t>フォロワー数  ÷  投稿数  ×  100</a:t>
            </a:r>
            <a:endParaRPr lang="en-US" sz="2600" dirty="0"/>
          </a:p>
        </p:txBody>
      </p:sp>
      <p:sp>
        <p:nvSpPr>
          <p:cNvPr id="8" name="Text 6"/>
          <p:cNvSpPr txBox="1"/>
          <p:nvPr/>
        </p:nvSpPr>
        <p:spPr>
          <a:xfrm>
            <a:off x="822960" y="2743200"/>
            <a:ext cx="10515600" cy="274320"/>
          </a:xfrm>
          <a:prstGeom prst="rect">
            <a:avLst/>
          </a:prstGeom>
          <a:noFill/>
          <a:ln/>
        </p:spPr>
        <p:txBody>
          <a:bodyPr wrap="square" lIns="0" tIns="0" rIns="0" bIns="0" rtlCol="0" anchor="ctr">
            <a:normAutofit/>
          </a:bodyPr>
          <a:lstStyle/>
          <a:p>
            <a:pPr algn="ctr" indent="0" marL="0">
              <a:buNone/>
            </a:pPr>
            <a:r>
              <a:rPr lang="en-US" sz="1050" dirty="0">
                <a:solidFill>
                  <a:srgbClr val="202526"/>
                </a:solidFill>
                <a:latin typeface="Noto Sans JP" pitchFamily="34" charset="0"/>
                <a:ea typeface="Noto Sans JP" pitchFamily="34" charset="-122"/>
                <a:cs typeface="Noto Sans JP" pitchFamily="34" charset="-120"/>
              </a:rPr>
              <a:t>＝ 投稿1本が、どれだけフォロワーを連れてきたか</a:t>
            </a:r>
            <a:endParaRPr lang="en-US" sz="1050" dirty="0"/>
          </a:p>
        </p:txBody>
      </p:sp>
      <p:sp>
        <p:nvSpPr>
          <p:cNvPr id="9" name="Shape 7"/>
          <p:cNvSpPr/>
          <p:nvPr/>
        </p:nvSpPr>
        <p:spPr>
          <a:xfrm>
            <a:off x="548640" y="3474720"/>
            <a:ext cx="3547872" cy="1783080"/>
          </a:xfrm>
          <a:prstGeom prst="roundRect">
            <a:avLst>
              <a:gd name="adj" fmla="val 4103"/>
            </a:avLst>
          </a:prstGeom>
          <a:solidFill>
            <a:srgbClr val="FFFFFF"/>
          </a:solidFill>
          <a:ln w="8890">
            <a:solidFill>
              <a:srgbClr val="FFFFFF">
                <a:alpha val="0"/>
              </a:srgbClr>
            </a:solidFill>
            <a:prstDash val="solid"/>
          </a:ln>
        </p:spPr>
      </p:sp>
      <p:sp>
        <p:nvSpPr>
          <p:cNvPr id="10" name="Text 8"/>
          <p:cNvSpPr txBox="1"/>
          <p:nvPr/>
        </p:nvSpPr>
        <p:spPr>
          <a:xfrm>
            <a:off x="713232" y="3602736"/>
            <a:ext cx="3218688"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なぜ必要か</a:t>
            </a:r>
            <a:endParaRPr lang="en-US" sz="1150" dirty="0"/>
          </a:p>
        </p:txBody>
      </p:sp>
      <p:sp>
        <p:nvSpPr>
          <p:cNvPr id="11" name="Text 9"/>
          <p:cNvSpPr txBox="1"/>
          <p:nvPr/>
        </p:nvSpPr>
        <p:spPr>
          <a:xfrm>
            <a:off x="713232" y="3931920"/>
            <a:ext cx="3218688" cy="117957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フォロワー数だけでは、投稿を大量に重ねて積み上げたアカウントと、少ない本数で深く刺さったアカウントを区別できない。</a:t>
            </a:r>
            <a:endParaRPr lang="en-US" sz="900" dirty="0"/>
          </a:p>
        </p:txBody>
      </p:sp>
      <p:sp>
        <p:nvSpPr>
          <p:cNvPr id="12" name="Shape 10"/>
          <p:cNvSpPr/>
          <p:nvPr/>
        </p:nvSpPr>
        <p:spPr>
          <a:xfrm>
            <a:off x="4279392" y="3474720"/>
            <a:ext cx="3547872" cy="1783080"/>
          </a:xfrm>
          <a:prstGeom prst="roundRect">
            <a:avLst>
              <a:gd name="adj" fmla="val 4103"/>
            </a:avLst>
          </a:prstGeom>
          <a:solidFill>
            <a:srgbClr val="DDEDF1"/>
          </a:solidFill>
          <a:ln w="8890">
            <a:solidFill>
              <a:srgbClr val="DDEDF1">
                <a:alpha val="0"/>
              </a:srgbClr>
            </a:solidFill>
            <a:prstDash val="solid"/>
          </a:ln>
        </p:spPr>
      </p:sp>
      <p:sp>
        <p:nvSpPr>
          <p:cNvPr id="13" name="Text 11"/>
          <p:cNvSpPr txBox="1"/>
          <p:nvPr/>
        </p:nvSpPr>
        <p:spPr>
          <a:xfrm>
            <a:off x="4443984" y="3602736"/>
            <a:ext cx="3218688"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何が分かるか</a:t>
            </a:r>
            <a:endParaRPr lang="en-US" sz="1150" dirty="0"/>
          </a:p>
        </p:txBody>
      </p:sp>
      <p:sp>
        <p:nvSpPr>
          <p:cNvPr id="14" name="Text 12"/>
          <p:cNvSpPr txBox="1"/>
          <p:nvPr/>
        </p:nvSpPr>
        <p:spPr>
          <a:xfrm>
            <a:off x="4443984" y="3931920"/>
            <a:ext cx="3218688" cy="117957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企画の再現性。効率が高いアカウントほど、1本あたりの設計が強く、真似すべき「型」を持っている。</a:t>
            </a:r>
            <a:endParaRPr lang="en-US" sz="900" dirty="0"/>
          </a:p>
        </p:txBody>
      </p:sp>
      <p:sp>
        <p:nvSpPr>
          <p:cNvPr id="15" name="Shape 13"/>
          <p:cNvSpPr/>
          <p:nvPr/>
        </p:nvSpPr>
        <p:spPr>
          <a:xfrm>
            <a:off x="8010144" y="3474720"/>
            <a:ext cx="3547872" cy="1783080"/>
          </a:xfrm>
          <a:prstGeom prst="roundRect">
            <a:avLst>
              <a:gd name="adj" fmla="val 4103"/>
            </a:avLst>
          </a:prstGeom>
          <a:solidFill>
            <a:srgbClr val="FFFFFF"/>
          </a:solidFill>
          <a:ln w="8890">
            <a:solidFill>
              <a:srgbClr val="FFFFFF">
                <a:alpha val="0"/>
              </a:srgbClr>
            </a:solidFill>
            <a:prstDash val="solid"/>
          </a:ln>
        </p:spPr>
      </p:sp>
      <p:sp>
        <p:nvSpPr>
          <p:cNvPr id="16" name="Text 14"/>
          <p:cNvSpPr txBox="1"/>
          <p:nvPr/>
        </p:nvSpPr>
        <p:spPr>
          <a:xfrm>
            <a:off x="8174736" y="3602736"/>
            <a:ext cx="3218688"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どう使うか</a:t>
            </a:r>
            <a:endParaRPr lang="en-US" sz="1150" dirty="0"/>
          </a:p>
        </p:txBody>
      </p:sp>
      <p:sp>
        <p:nvSpPr>
          <p:cNvPr id="17" name="Text 15"/>
          <p:cNvSpPr txBox="1"/>
          <p:nvPr/>
        </p:nvSpPr>
        <p:spPr>
          <a:xfrm>
            <a:off x="8174736" y="3931920"/>
            <a:ext cx="3218688" cy="117957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効率上位のアカウントだけを抽出し、その型をクライアントのジャンル・語り口へ翻訳して投稿計画に落とす。</a:t>
            </a:r>
            <a:endParaRPr lang="en-US" sz="900" dirty="0"/>
          </a:p>
        </p:txBody>
      </p:sp>
      <p:sp>
        <p:nvSpPr>
          <p:cNvPr id="18" name="Shape 16"/>
          <p:cNvSpPr/>
          <p:nvPr/>
        </p:nvSpPr>
        <p:spPr>
          <a:xfrm>
            <a:off x="548640" y="5504688"/>
            <a:ext cx="11082528" cy="548640"/>
          </a:xfrm>
          <a:prstGeom prst="roundRect">
            <a:avLst>
              <a:gd name="adj" fmla="val 13333"/>
            </a:avLst>
          </a:prstGeom>
          <a:solidFill>
            <a:srgbClr val="DDE3E2"/>
          </a:solidFill>
          <a:ln w="8890">
            <a:solidFill>
              <a:srgbClr val="DDE3E2">
                <a:alpha val="0"/>
              </a:srgbClr>
            </a:solidFill>
            <a:prstDash val="solid"/>
          </a:ln>
        </p:spPr>
      </p:sp>
      <p:sp>
        <p:nvSpPr>
          <p:cNvPr id="19" name="Text 17"/>
          <p:cNvSpPr txBox="1"/>
          <p:nvPr/>
        </p:nvSpPr>
        <p:spPr>
          <a:xfrm>
            <a:off x="822960" y="5632704"/>
            <a:ext cx="10515600" cy="292608"/>
          </a:xfrm>
          <a:prstGeom prst="rect">
            <a:avLst/>
          </a:prstGeom>
          <a:noFill/>
          <a:ln/>
        </p:spPr>
        <p:txBody>
          <a:bodyPr wrap="square" lIns="0" tIns="0" rIns="0" bIns="0" rtlCol="0" anchor="ctr">
            <a:normAutofit/>
          </a:bodyPr>
          <a:lstStyle/>
          <a:p>
            <a:pPr algn="ctr" indent="0" marL="0">
              <a:buNone/>
            </a:pPr>
            <a:r>
              <a:rPr lang="en-US" sz="1100" b="1" dirty="0">
                <a:solidFill>
                  <a:srgbClr val="202526"/>
                </a:solidFill>
                <a:latin typeface="Noto Sans JP" pitchFamily="34" charset="0"/>
                <a:ea typeface="Noto Sans JP" pitchFamily="34" charset="-122"/>
                <a:cs typeface="Noto Sans JP" pitchFamily="34" charset="-120"/>
              </a:rPr>
              <a:t>台帳は案件ごとに作り直します。ジャンルが違えば、勝ち筋も変わるからです。</a:t>
            </a:r>
            <a:endParaRPr lang="en-US" sz="1100" dirty="0"/>
          </a:p>
        </p:txBody>
      </p:sp>
      <p:sp>
        <p:nvSpPr>
          <p:cNvPr id="20" name="Text 18"/>
          <p:cNvSpPr txBox="1"/>
          <p:nvPr/>
        </p:nvSpPr>
        <p:spPr>
          <a:xfrm>
            <a:off x="548640" y="6199632"/>
            <a:ext cx="11082528" cy="256032"/>
          </a:xfrm>
          <a:prstGeom prst="rect">
            <a:avLst/>
          </a:prstGeom>
          <a:noFill/>
          <a:ln/>
        </p:spPr>
        <p:txBody>
          <a:bodyPr wrap="square" lIns="0" tIns="0" rIns="0" bIns="0" rtlCol="0" anchor="ctr">
            <a:normAutofit/>
          </a:bodyPr>
          <a:lstStyle/>
          <a:p>
            <a:pPr algn="l" indent="0" marL="0">
              <a:buNone/>
            </a:pPr>
            <a:r>
              <a:rPr lang="en-US" sz="850" dirty="0">
                <a:solidFill>
                  <a:srgbClr val="687174"/>
                </a:solidFill>
                <a:latin typeface="Noto Sans JP" pitchFamily="34" charset="0"/>
                <a:ea typeface="Noto Sans JP" pitchFamily="34" charset="-122"/>
                <a:cs typeface="Noto Sans JP" pitchFamily="34" charset="-120"/>
              </a:rPr>
              <a:t>※ この指標は当方が独自に設計したものです。Instagram公式の指標ではありません。</a:t>
            </a:r>
            <a:endParaRPr lang="en-US" sz="85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10</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TRENDS</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公式発表を、運用の判断材料にする。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出典はすべて Meta / Instagram 公式発表。参照日：2026年8月17日。</a:t>
            </a:r>
            <a:endParaRPr lang="en-US" sz="1050" dirty="0"/>
          </a:p>
        </p:txBody>
      </p:sp>
      <p:sp>
        <p:nvSpPr>
          <p:cNvPr id="6" name="Shape 4"/>
          <p:cNvSpPr/>
          <p:nvPr/>
        </p:nvSpPr>
        <p:spPr>
          <a:xfrm>
            <a:off x="548640" y="1847088"/>
            <a:ext cx="5321808" cy="1572768"/>
          </a:xfrm>
          <a:prstGeom prst="roundRect">
            <a:avLst>
              <a:gd name="adj" fmla="val 4651"/>
            </a:avLst>
          </a:prstGeom>
          <a:solidFill>
            <a:srgbClr val="DDEDF1"/>
          </a:solidFill>
          <a:ln w="8890">
            <a:solidFill>
              <a:srgbClr val="DDEDF1">
                <a:alpha val="0"/>
              </a:srgbClr>
            </a:solidFill>
            <a:prstDash val="solid"/>
          </a:ln>
        </p:spPr>
      </p:sp>
      <p:sp>
        <p:nvSpPr>
          <p:cNvPr id="7" name="Shape 5"/>
          <p:cNvSpPr/>
          <p:nvPr/>
        </p:nvSpPr>
        <p:spPr>
          <a:xfrm>
            <a:off x="731520" y="2029968"/>
            <a:ext cx="786384" cy="274320"/>
          </a:xfrm>
          <a:prstGeom prst="roundRect">
            <a:avLst>
              <a:gd name="adj" fmla="val 46667"/>
            </a:avLst>
          </a:prstGeom>
          <a:solidFill>
            <a:srgbClr val="188CA1"/>
          </a:solidFill>
          <a:ln w="8890">
            <a:solidFill>
              <a:srgbClr val="188CA1">
                <a:alpha val="0"/>
              </a:srgbClr>
            </a:solidFill>
            <a:prstDash val="solid"/>
          </a:ln>
        </p:spPr>
      </p:sp>
      <p:sp>
        <p:nvSpPr>
          <p:cNvPr id="8" name="Text 6"/>
          <p:cNvSpPr txBox="1"/>
          <p:nvPr/>
        </p:nvSpPr>
        <p:spPr>
          <a:xfrm>
            <a:off x="731520" y="2057400"/>
            <a:ext cx="786384" cy="21945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Noto Sans JP" pitchFamily="34" charset="0"/>
                <a:ea typeface="Noto Sans JP" pitchFamily="34" charset="-122"/>
                <a:cs typeface="Noto Sans JP" pitchFamily="34" charset="-120"/>
              </a:rPr>
              <a:t>2024.12</a:t>
            </a:r>
            <a:endParaRPr lang="en-US" sz="800" dirty="0"/>
          </a:p>
        </p:txBody>
      </p:sp>
      <p:sp>
        <p:nvSpPr>
          <p:cNvPr id="9" name="Text 7"/>
          <p:cNvSpPr txBox="1"/>
          <p:nvPr/>
        </p:nvSpPr>
        <p:spPr>
          <a:xfrm>
            <a:off x="1645920" y="2011680"/>
            <a:ext cx="4023360" cy="310896"/>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Trial Reels</a:t>
            </a:r>
            <a:endParaRPr lang="en-US" sz="1400" dirty="0"/>
          </a:p>
        </p:txBody>
      </p:sp>
      <p:sp>
        <p:nvSpPr>
          <p:cNvPr id="10" name="Text 8"/>
          <p:cNvSpPr txBox="1"/>
          <p:nvPr/>
        </p:nvSpPr>
        <p:spPr>
          <a:xfrm>
            <a:off x="731520" y="2450592"/>
            <a:ext cx="4956048" cy="841248"/>
          </a:xfrm>
          <a:prstGeom prst="rect">
            <a:avLst/>
          </a:prstGeom>
          <a:noFill/>
          <a:ln/>
        </p:spPr>
        <p:txBody>
          <a:bodyPr wrap="square" lIns="0" tIns="0" rIns="0" bIns="0" rtlCol="0" anchor="t">
            <a:normAutofit/>
          </a:bodyPr>
          <a:lstStyle/>
          <a:p>
            <a:pPr algn="l" indent="0" marL="0">
              <a:buNone/>
            </a:pPr>
            <a:r>
              <a:rPr lang="en-US" sz="920" dirty="0">
                <a:solidFill>
                  <a:srgbClr val="687174"/>
                </a:solidFill>
                <a:latin typeface="Noto Sans JP" pitchFamily="34" charset="0"/>
                <a:ea typeface="Noto Sans JP" pitchFamily="34" charset="-122"/>
                <a:cs typeface="Noto Sans JP" pitchFamily="34" charset="-120"/>
              </a:rPr>
              <a:t>非フォロワーへ先行配信し、約24時間で表示数・いいね・コメント・シェアを確認できる。72時間以内の成績で自動的に全体公開する設定も選べる。</a:t>
            </a:r>
            <a:endParaRPr lang="en-US" sz="920" dirty="0"/>
          </a:p>
        </p:txBody>
      </p:sp>
      <p:sp>
        <p:nvSpPr>
          <p:cNvPr id="11" name="Shape 9"/>
          <p:cNvSpPr/>
          <p:nvPr/>
        </p:nvSpPr>
        <p:spPr>
          <a:xfrm>
            <a:off x="6153912" y="1847088"/>
            <a:ext cx="5321808" cy="1572768"/>
          </a:xfrm>
          <a:prstGeom prst="roundRect">
            <a:avLst>
              <a:gd name="adj" fmla="val 4651"/>
            </a:avLst>
          </a:prstGeom>
          <a:solidFill>
            <a:srgbClr val="FFFFFF"/>
          </a:solidFill>
          <a:ln w="8890">
            <a:solidFill>
              <a:srgbClr val="FFFFFF">
                <a:alpha val="0"/>
              </a:srgbClr>
            </a:solidFill>
            <a:prstDash val="solid"/>
          </a:ln>
        </p:spPr>
      </p:sp>
      <p:sp>
        <p:nvSpPr>
          <p:cNvPr id="12" name="Shape 10"/>
          <p:cNvSpPr/>
          <p:nvPr/>
        </p:nvSpPr>
        <p:spPr>
          <a:xfrm>
            <a:off x="6336792" y="2029968"/>
            <a:ext cx="786384" cy="274320"/>
          </a:xfrm>
          <a:prstGeom prst="roundRect">
            <a:avLst>
              <a:gd name="adj" fmla="val 46667"/>
            </a:avLst>
          </a:prstGeom>
          <a:solidFill>
            <a:srgbClr val="188CA1"/>
          </a:solidFill>
          <a:ln w="8890">
            <a:solidFill>
              <a:srgbClr val="188CA1">
                <a:alpha val="0"/>
              </a:srgbClr>
            </a:solidFill>
            <a:prstDash val="solid"/>
          </a:ln>
        </p:spPr>
      </p:sp>
      <p:sp>
        <p:nvSpPr>
          <p:cNvPr id="13" name="Text 11"/>
          <p:cNvSpPr txBox="1"/>
          <p:nvPr/>
        </p:nvSpPr>
        <p:spPr>
          <a:xfrm>
            <a:off x="6336792" y="2057400"/>
            <a:ext cx="786384" cy="21945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Noto Sans JP" pitchFamily="34" charset="0"/>
                <a:ea typeface="Noto Sans JP" pitchFamily="34" charset="-122"/>
                <a:cs typeface="Noto Sans JP" pitchFamily="34" charset="-120"/>
              </a:rPr>
              <a:t>2025.01</a:t>
            </a:r>
            <a:endParaRPr lang="en-US" sz="800" dirty="0"/>
          </a:p>
        </p:txBody>
      </p:sp>
      <p:sp>
        <p:nvSpPr>
          <p:cNvPr id="14" name="Text 12"/>
          <p:cNvSpPr txBox="1"/>
          <p:nvPr/>
        </p:nvSpPr>
        <p:spPr>
          <a:xfrm>
            <a:off x="7251192" y="2011680"/>
            <a:ext cx="4023360" cy="310896"/>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リールの推奨条件</a:t>
            </a:r>
            <a:endParaRPr lang="en-US" sz="1400" dirty="0"/>
          </a:p>
        </p:txBody>
      </p:sp>
      <p:sp>
        <p:nvSpPr>
          <p:cNvPr id="15" name="Text 13"/>
          <p:cNvSpPr txBox="1"/>
          <p:nvPr/>
        </p:nvSpPr>
        <p:spPr>
          <a:xfrm>
            <a:off x="6336792" y="2450592"/>
            <a:ext cx="4956048" cy="841248"/>
          </a:xfrm>
          <a:prstGeom prst="rect">
            <a:avLst/>
          </a:prstGeom>
          <a:noFill/>
          <a:ln/>
        </p:spPr>
        <p:txBody>
          <a:bodyPr wrap="square" lIns="0" tIns="0" rIns="0" bIns="0" rtlCol="0" anchor="t">
            <a:normAutofit/>
          </a:bodyPr>
          <a:lstStyle/>
          <a:p>
            <a:pPr algn="l" indent="0" marL="0">
              <a:buNone/>
            </a:pPr>
            <a:r>
              <a:rPr lang="en-US" sz="920" dirty="0">
                <a:solidFill>
                  <a:srgbClr val="687174"/>
                </a:solidFill>
                <a:latin typeface="Noto Sans JP" pitchFamily="34" charset="0"/>
                <a:ea typeface="Noto Sans JP" pitchFamily="34" charset="-122"/>
                <a:cs typeface="Noto Sans JP" pitchFamily="34" charset="-120"/>
              </a:rPr>
              <a:t>最長3分の動画が推奨対象に。写真・カルーセルも音源を付けるとリールタブの対象になる、と公式が案内している。</a:t>
            </a:r>
            <a:endParaRPr lang="en-US" sz="920" dirty="0"/>
          </a:p>
        </p:txBody>
      </p:sp>
      <p:sp>
        <p:nvSpPr>
          <p:cNvPr id="16" name="Shape 14"/>
          <p:cNvSpPr/>
          <p:nvPr/>
        </p:nvSpPr>
        <p:spPr>
          <a:xfrm>
            <a:off x="548640" y="3721608"/>
            <a:ext cx="5321808" cy="1572768"/>
          </a:xfrm>
          <a:prstGeom prst="roundRect">
            <a:avLst>
              <a:gd name="adj" fmla="val 4651"/>
            </a:avLst>
          </a:prstGeom>
          <a:solidFill>
            <a:srgbClr val="FFFFFF"/>
          </a:solidFill>
          <a:ln w="8890">
            <a:solidFill>
              <a:srgbClr val="FFFFFF">
                <a:alpha val="0"/>
              </a:srgbClr>
            </a:solidFill>
            <a:prstDash val="solid"/>
          </a:ln>
        </p:spPr>
      </p:sp>
      <p:sp>
        <p:nvSpPr>
          <p:cNvPr id="17" name="Shape 15"/>
          <p:cNvSpPr/>
          <p:nvPr/>
        </p:nvSpPr>
        <p:spPr>
          <a:xfrm>
            <a:off x="731520" y="3904488"/>
            <a:ext cx="786384" cy="274320"/>
          </a:xfrm>
          <a:prstGeom prst="roundRect">
            <a:avLst>
              <a:gd name="adj" fmla="val 46667"/>
            </a:avLst>
          </a:prstGeom>
          <a:solidFill>
            <a:srgbClr val="188CA1"/>
          </a:solidFill>
          <a:ln w="8890">
            <a:solidFill>
              <a:srgbClr val="188CA1">
                <a:alpha val="0"/>
              </a:srgbClr>
            </a:solidFill>
            <a:prstDash val="solid"/>
          </a:ln>
        </p:spPr>
      </p:sp>
      <p:sp>
        <p:nvSpPr>
          <p:cNvPr id="18" name="Text 16"/>
          <p:cNvSpPr txBox="1"/>
          <p:nvPr/>
        </p:nvSpPr>
        <p:spPr>
          <a:xfrm>
            <a:off x="731520" y="3931920"/>
            <a:ext cx="786384" cy="21945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Noto Sans JP" pitchFamily="34" charset="0"/>
                <a:ea typeface="Noto Sans JP" pitchFamily="34" charset="-122"/>
                <a:cs typeface="Noto Sans JP" pitchFamily="34" charset="-120"/>
              </a:rPr>
              <a:t>2025.08</a:t>
            </a:r>
            <a:endParaRPr lang="en-US" sz="800" dirty="0"/>
          </a:p>
        </p:txBody>
      </p:sp>
      <p:sp>
        <p:nvSpPr>
          <p:cNvPr id="19" name="Text 17"/>
          <p:cNvSpPr txBox="1"/>
          <p:nvPr/>
        </p:nvSpPr>
        <p:spPr>
          <a:xfrm>
            <a:off x="1645920" y="3886200"/>
            <a:ext cx="4023360" cy="310896"/>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リポスト</a:t>
            </a:r>
            <a:endParaRPr lang="en-US" sz="1400" dirty="0"/>
          </a:p>
        </p:txBody>
      </p:sp>
      <p:sp>
        <p:nvSpPr>
          <p:cNvPr id="20" name="Text 18"/>
          <p:cNvSpPr txBox="1"/>
          <p:nvPr/>
        </p:nvSpPr>
        <p:spPr>
          <a:xfrm>
            <a:off x="731520" y="4325112"/>
            <a:ext cx="4956048" cy="841248"/>
          </a:xfrm>
          <a:prstGeom prst="rect">
            <a:avLst/>
          </a:prstGeom>
          <a:noFill/>
          <a:ln/>
        </p:spPr>
        <p:txBody>
          <a:bodyPr wrap="square" lIns="0" tIns="0" rIns="0" bIns="0" rtlCol="0" anchor="t">
            <a:normAutofit/>
          </a:bodyPr>
          <a:lstStyle/>
          <a:p>
            <a:pPr algn="l" indent="0" marL="0">
              <a:buNone/>
            </a:pPr>
            <a:r>
              <a:rPr lang="en-US" sz="920" dirty="0">
                <a:solidFill>
                  <a:srgbClr val="687174"/>
                </a:solidFill>
                <a:latin typeface="Noto Sans JP" pitchFamily="34" charset="0"/>
                <a:ea typeface="Noto Sans JP" pitchFamily="34" charset="-122"/>
                <a:cs typeface="Noto Sans JP" pitchFamily="34" charset="-120"/>
              </a:rPr>
              <a:t>公開中のリール・フィード投稿を他のユーザーが再共有でき、元の投稿者がクレジットされる。第三者経由の露出が増える。</a:t>
            </a:r>
            <a:endParaRPr lang="en-US" sz="920" dirty="0"/>
          </a:p>
        </p:txBody>
      </p:sp>
      <p:sp>
        <p:nvSpPr>
          <p:cNvPr id="21" name="Shape 19"/>
          <p:cNvSpPr/>
          <p:nvPr/>
        </p:nvSpPr>
        <p:spPr>
          <a:xfrm>
            <a:off x="6153912" y="3721608"/>
            <a:ext cx="5321808" cy="1572768"/>
          </a:xfrm>
          <a:prstGeom prst="roundRect">
            <a:avLst>
              <a:gd name="adj" fmla="val 4651"/>
            </a:avLst>
          </a:prstGeom>
          <a:solidFill>
            <a:srgbClr val="DDEDF1"/>
          </a:solidFill>
          <a:ln w="8890">
            <a:solidFill>
              <a:srgbClr val="DDEDF1">
                <a:alpha val="0"/>
              </a:srgbClr>
            </a:solidFill>
            <a:prstDash val="solid"/>
          </a:ln>
        </p:spPr>
      </p:sp>
      <p:sp>
        <p:nvSpPr>
          <p:cNvPr id="22" name="Shape 20"/>
          <p:cNvSpPr/>
          <p:nvPr/>
        </p:nvSpPr>
        <p:spPr>
          <a:xfrm>
            <a:off x="6336792" y="3904488"/>
            <a:ext cx="786384" cy="274320"/>
          </a:xfrm>
          <a:prstGeom prst="roundRect">
            <a:avLst>
              <a:gd name="adj" fmla="val 46667"/>
            </a:avLst>
          </a:prstGeom>
          <a:solidFill>
            <a:srgbClr val="188CA1"/>
          </a:solidFill>
          <a:ln w="8890">
            <a:solidFill>
              <a:srgbClr val="188CA1">
                <a:alpha val="0"/>
              </a:srgbClr>
            </a:solidFill>
            <a:prstDash val="solid"/>
          </a:ln>
        </p:spPr>
      </p:sp>
      <p:sp>
        <p:nvSpPr>
          <p:cNvPr id="23" name="Text 21"/>
          <p:cNvSpPr txBox="1"/>
          <p:nvPr/>
        </p:nvSpPr>
        <p:spPr>
          <a:xfrm>
            <a:off x="6336792" y="3931920"/>
            <a:ext cx="786384" cy="21945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Noto Sans JP" pitchFamily="34" charset="0"/>
                <a:ea typeface="Noto Sans JP" pitchFamily="34" charset="-122"/>
                <a:cs typeface="Noto Sans JP" pitchFamily="34" charset="-120"/>
              </a:rPr>
              <a:t>2025.08</a:t>
            </a:r>
            <a:endParaRPr lang="en-US" sz="800" dirty="0"/>
          </a:p>
        </p:txBody>
      </p:sp>
      <p:sp>
        <p:nvSpPr>
          <p:cNvPr id="24" name="Text 22"/>
          <p:cNvSpPr txBox="1"/>
          <p:nvPr/>
        </p:nvSpPr>
        <p:spPr>
          <a:xfrm>
            <a:off x="7251192" y="3886200"/>
            <a:ext cx="4023360" cy="310896"/>
          </a:xfrm>
          <a:prstGeom prst="rect">
            <a:avLst/>
          </a:prstGeom>
          <a:noFill/>
          <a:ln/>
        </p:spPr>
        <p:txBody>
          <a:bodyPr wrap="square" lIns="0" tIns="0" rIns="0" bIns="0" rtlCol="0" anchor="ctr">
            <a:normAutofit/>
          </a:bodyPr>
          <a:lstStyle/>
          <a:p>
            <a:pPr algn="l" indent="0" marL="0">
              <a:buNone/>
            </a:pPr>
            <a:r>
              <a:rPr lang="en-US" sz="1400" b="1" dirty="0">
                <a:solidFill>
                  <a:srgbClr val="202526"/>
                </a:solidFill>
                <a:latin typeface="Noto Sans JP" pitchFamily="34" charset="0"/>
                <a:ea typeface="Noto Sans JP" pitchFamily="34" charset="-122"/>
                <a:cs typeface="Noto Sans JP" pitchFamily="34" charset="-120"/>
              </a:rPr>
              <a:t>Friends タブ</a:t>
            </a:r>
            <a:endParaRPr lang="en-US" sz="1400" dirty="0"/>
          </a:p>
        </p:txBody>
      </p:sp>
      <p:sp>
        <p:nvSpPr>
          <p:cNvPr id="25" name="Text 23"/>
          <p:cNvSpPr txBox="1"/>
          <p:nvPr/>
        </p:nvSpPr>
        <p:spPr>
          <a:xfrm>
            <a:off x="6336792" y="4325112"/>
            <a:ext cx="4956048" cy="841248"/>
          </a:xfrm>
          <a:prstGeom prst="rect">
            <a:avLst/>
          </a:prstGeom>
          <a:noFill/>
          <a:ln/>
        </p:spPr>
        <p:txBody>
          <a:bodyPr wrap="square" lIns="0" tIns="0" rIns="0" bIns="0" rtlCol="0" anchor="t">
            <a:normAutofit/>
          </a:bodyPr>
          <a:lstStyle/>
          <a:p>
            <a:pPr algn="l" indent="0" marL="0">
              <a:buNone/>
            </a:pPr>
            <a:r>
              <a:rPr lang="en-US" sz="920" dirty="0">
                <a:solidFill>
                  <a:srgbClr val="687174"/>
                </a:solidFill>
                <a:latin typeface="Noto Sans JP" pitchFamily="34" charset="0"/>
                <a:ea typeface="Noto Sans JP" pitchFamily="34" charset="-122"/>
                <a:cs typeface="Noto Sans JP" pitchFamily="34" charset="-120"/>
              </a:rPr>
              <a:t>友人が「いいね・作成・リポスト・コメント」したリールが並ぶ面が追加。知人の反応が到達の経路になる。</a:t>
            </a:r>
            <a:endParaRPr lang="en-US" sz="920" dirty="0"/>
          </a:p>
        </p:txBody>
      </p:sp>
      <p:sp>
        <p:nvSpPr>
          <p:cNvPr id="26" name="Text 24"/>
          <p:cNvSpPr txBox="1"/>
          <p:nvPr/>
        </p:nvSpPr>
        <p:spPr>
          <a:xfrm>
            <a:off x="548640" y="5742432"/>
            <a:ext cx="11082528" cy="457200"/>
          </a:xfrm>
          <a:prstGeom prst="rect">
            <a:avLst/>
          </a:prstGeom>
          <a:noFill/>
          <a:ln/>
        </p:spPr>
        <p:txBody>
          <a:bodyPr wrap="square" lIns="0" tIns="0" rIns="0" bIns="0" rtlCol="0" anchor="t">
            <a:normAutofit/>
          </a:bodyPr>
          <a:lstStyle/>
          <a:p>
            <a:pPr algn="l" indent="0" marL="0">
              <a:buNone/>
            </a:pPr>
            <a:r>
              <a:rPr lang="en-US" sz="680" dirty="0">
                <a:solidFill>
                  <a:srgbClr val="687174"/>
                </a:solidFill>
                <a:latin typeface="Noto Sans JP" pitchFamily="34" charset="0"/>
                <a:ea typeface="Noto Sans JP" pitchFamily="34" charset="-122"/>
                <a:cs typeface="Noto Sans JP" pitchFamily="34" charset="-120"/>
              </a:rPr>
              <a:t>出典：about.fb.com/news/2024/12/trial-reels-try-content-non-followers-first-see-what-perfoms-best/　／　creators.instagram.com/blog/the-latest-with-instagram（2025年1月21日）　／　about.fb.com/news/2025/08/new-instagram-features-help-you-connect/</a:t>
            </a:r>
            <a:endParaRPr lang="en-US" sz="68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11</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ALGORITHM</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公式のランキング指標に、運用を合わせる。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Instagram公式「Instagram Ranking Explained」（2023年5月31日公開）が示す面ごとのシグナルに基づく。</a:t>
            </a:r>
            <a:endParaRPr lang="en-US" sz="1050" dirty="0"/>
          </a:p>
        </p:txBody>
      </p:sp>
      <p:sp>
        <p:nvSpPr>
          <p:cNvPr id="6" name="Text 4"/>
          <p:cNvSpPr txBox="1"/>
          <p:nvPr/>
        </p:nvSpPr>
        <p:spPr>
          <a:xfrm>
            <a:off x="658368" y="1810512"/>
            <a:ext cx="1371600" cy="237744"/>
          </a:xfrm>
          <a:prstGeom prst="rect">
            <a:avLst/>
          </a:prstGeom>
          <a:noFill/>
          <a:ln/>
        </p:spPr>
        <p:txBody>
          <a:bodyPr wrap="square" lIns="0" tIns="0" rIns="0" bIns="0" rtlCol="0" anchor="ctr">
            <a:normAutofit/>
          </a:bodyPr>
          <a:lstStyle/>
          <a:p>
            <a:pPr algn="l" indent="0" marL="0">
              <a:buNone/>
            </a:pPr>
            <a:r>
              <a:rPr lang="en-US" sz="750" b="1" spc="100" kern="0" dirty="0">
                <a:solidFill>
                  <a:srgbClr val="188CA1"/>
                </a:solidFill>
                <a:latin typeface="Noto Sans JP" pitchFamily="34" charset="0"/>
                <a:ea typeface="Noto Sans JP" pitchFamily="34" charset="-122"/>
                <a:cs typeface="Noto Sans JP" pitchFamily="34" charset="-120"/>
              </a:rPr>
              <a:t>面</a:t>
            </a:r>
            <a:endParaRPr lang="en-US" sz="750" dirty="0"/>
          </a:p>
        </p:txBody>
      </p:sp>
      <p:sp>
        <p:nvSpPr>
          <p:cNvPr id="7" name="Text 5"/>
          <p:cNvSpPr txBox="1"/>
          <p:nvPr/>
        </p:nvSpPr>
        <p:spPr>
          <a:xfrm>
            <a:off x="2212848" y="1810512"/>
            <a:ext cx="4206240" cy="237744"/>
          </a:xfrm>
          <a:prstGeom prst="rect">
            <a:avLst/>
          </a:prstGeom>
          <a:noFill/>
          <a:ln/>
        </p:spPr>
        <p:txBody>
          <a:bodyPr wrap="square" lIns="0" tIns="0" rIns="0" bIns="0" rtlCol="0" anchor="ctr">
            <a:normAutofit/>
          </a:bodyPr>
          <a:lstStyle/>
          <a:p>
            <a:pPr algn="l" indent="0" marL="0">
              <a:buNone/>
            </a:pPr>
            <a:r>
              <a:rPr lang="en-US" sz="750" b="1" spc="100" kern="0" dirty="0">
                <a:solidFill>
                  <a:srgbClr val="188CA1"/>
                </a:solidFill>
                <a:latin typeface="Noto Sans JP" pitchFamily="34" charset="0"/>
                <a:ea typeface="Noto Sans JP" pitchFamily="34" charset="-122"/>
                <a:cs typeface="Noto Sans JP" pitchFamily="34" charset="-120"/>
              </a:rPr>
              <a:t>公式が挙げるシグナル</a:t>
            </a:r>
            <a:endParaRPr lang="en-US" sz="750" dirty="0"/>
          </a:p>
        </p:txBody>
      </p:sp>
      <p:sp>
        <p:nvSpPr>
          <p:cNvPr id="8" name="Text 6"/>
          <p:cNvSpPr txBox="1"/>
          <p:nvPr/>
        </p:nvSpPr>
        <p:spPr>
          <a:xfrm>
            <a:off x="6858000" y="1810512"/>
            <a:ext cx="4572000" cy="237744"/>
          </a:xfrm>
          <a:prstGeom prst="rect">
            <a:avLst/>
          </a:prstGeom>
          <a:noFill/>
          <a:ln/>
        </p:spPr>
        <p:txBody>
          <a:bodyPr wrap="square" lIns="0" tIns="0" rIns="0" bIns="0" rtlCol="0" anchor="ctr">
            <a:normAutofit/>
          </a:bodyPr>
          <a:lstStyle/>
          <a:p>
            <a:pPr algn="l" indent="0" marL="0">
              <a:buNone/>
            </a:pPr>
            <a:r>
              <a:rPr lang="en-US" sz="750" b="1" spc="100" kern="0" dirty="0">
                <a:solidFill>
                  <a:srgbClr val="188CA1"/>
                </a:solidFill>
                <a:latin typeface="Noto Sans JP" pitchFamily="34" charset="0"/>
                <a:ea typeface="Noto Sans JP" pitchFamily="34" charset="-122"/>
                <a:cs typeface="Noto Sans JP" pitchFamily="34" charset="-120"/>
              </a:rPr>
              <a:t>運用でやること</a:t>
            </a:r>
            <a:endParaRPr lang="en-US" sz="750" dirty="0"/>
          </a:p>
        </p:txBody>
      </p:sp>
      <p:sp>
        <p:nvSpPr>
          <p:cNvPr id="9" name="Shape 7"/>
          <p:cNvSpPr/>
          <p:nvPr/>
        </p:nvSpPr>
        <p:spPr>
          <a:xfrm>
            <a:off x="548640" y="2139696"/>
            <a:ext cx="11082528" cy="859536"/>
          </a:xfrm>
          <a:prstGeom prst="roundRect">
            <a:avLst>
              <a:gd name="adj" fmla="val 6383"/>
            </a:avLst>
          </a:prstGeom>
          <a:solidFill>
            <a:srgbClr val="DDEDF1"/>
          </a:solidFill>
          <a:ln w="8890">
            <a:solidFill>
              <a:srgbClr val="DDEDF1">
                <a:alpha val="0"/>
              </a:srgbClr>
            </a:solidFill>
            <a:prstDash val="solid"/>
          </a:ln>
        </p:spPr>
      </p:sp>
      <p:sp>
        <p:nvSpPr>
          <p:cNvPr id="10" name="Text 8"/>
          <p:cNvSpPr txBox="1"/>
          <p:nvPr/>
        </p:nvSpPr>
        <p:spPr>
          <a:xfrm>
            <a:off x="768096" y="2395728"/>
            <a:ext cx="1463040" cy="347472"/>
          </a:xfrm>
          <a:prstGeom prst="rect">
            <a:avLst/>
          </a:prstGeom>
          <a:noFill/>
          <a:ln/>
        </p:spPr>
        <p:txBody>
          <a:bodyPr wrap="square" lIns="0" tIns="0" rIns="0" bIns="0" rtlCol="0" anchor="ctr">
            <a:normAutofit/>
          </a:bodyPr>
          <a:lstStyle/>
          <a:p>
            <a:pPr algn="l" indent="0" marL="0">
              <a:buNone/>
            </a:pPr>
            <a:r>
              <a:rPr lang="en-US" sz="1250" b="1" dirty="0">
                <a:solidFill>
                  <a:srgbClr val="202526"/>
                </a:solidFill>
                <a:latin typeface="Noto Sans JP" pitchFamily="34" charset="0"/>
                <a:ea typeface="Noto Sans JP" pitchFamily="34" charset="-122"/>
                <a:cs typeface="Noto Sans JP" pitchFamily="34" charset="-120"/>
              </a:rPr>
              <a:t>フィード</a:t>
            </a:r>
            <a:endParaRPr lang="en-US" sz="1250" dirty="0"/>
          </a:p>
        </p:txBody>
      </p:sp>
      <p:sp>
        <p:nvSpPr>
          <p:cNvPr id="11" name="Text 9"/>
          <p:cNvSpPr txBox="1"/>
          <p:nvPr/>
        </p:nvSpPr>
        <p:spPr>
          <a:xfrm>
            <a:off x="2212848" y="2267712"/>
            <a:ext cx="4434840" cy="603504"/>
          </a:xfrm>
          <a:prstGeom prst="rect">
            <a:avLst/>
          </a:prstGeom>
          <a:noFill/>
          <a:ln/>
        </p:spPr>
        <p:txBody>
          <a:bodyPr wrap="square" lIns="0" tIns="0" rIns="0" bIns="0" rtlCol="0" anchor="ctr">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自分の活動／投稿の情報／投稿者の情報／過去の交流</a:t>
            </a:r>
            <a:endParaRPr lang="en-US" sz="900" dirty="0"/>
          </a:p>
        </p:txBody>
      </p:sp>
      <p:sp>
        <p:nvSpPr>
          <p:cNvPr id="12" name="Shape 10"/>
          <p:cNvSpPr/>
          <p:nvPr/>
        </p:nvSpPr>
        <p:spPr>
          <a:xfrm>
            <a:off x="6656832" y="2286000"/>
            <a:ext cx="0" cy="566928"/>
          </a:xfrm>
          <a:prstGeom prst="line">
            <a:avLst/>
          </a:prstGeom>
          <a:noFill/>
          <a:ln w="12700">
            <a:solidFill>
              <a:srgbClr val="DDE3E2"/>
            </a:solidFill>
            <a:prstDash val="solid"/>
            <a:headEnd type="none"/>
            <a:tailEnd type="none"/>
          </a:ln>
        </p:spPr>
      </p:sp>
      <p:sp>
        <p:nvSpPr>
          <p:cNvPr id="13" name="Text 11"/>
          <p:cNvSpPr txBox="1"/>
          <p:nvPr/>
        </p:nvSpPr>
        <p:spPr>
          <a:xfrm>
            <a:off x="6858000" y="2267712"/>
            <a:ext cx="4572000" cy="603504"/>
          </a:xfrm>
          <a:prstGeom prst="rect">
            <a:avLst/>
          </a:prstGeom>
          <a:noFill/>
          <a:ln/>
        </p:spPr>
        <p:txBody>
          <a:bodyPr wrap="square" lIns="0" tIns="0" rIns="0" bIns="0" rtlCol="0" anchor="ctr">
            <a:normAutofit/>
          </a:bodyPr>
          <a:lstStyle/>
          <a:p>
            <a:pPr algn="l" indent="0" marL="0">
              <a:buNone/>
            </a:pPr>
            <a:r>
              <a:rPr lang="en-US" sz="940" dirty="0">
                <a:solidFill>
                  <a:srgbClr val="202526"/>
                </a:solidFill>
                <a:latin typeface="Noto Sans JP" pitchFamily="34" charset="0"/>
                <a:ea typeface="Noto Sans JP" pitchFamily="34" charset="-122"/>
                <a:cs typeface="Noto Sans JP" pitchFamily="34" charset="-120"/>
              </a:rPr>
              <a:t>保存とシェアが起きる情報設計に寄せる。単発ではなく、同じ相手に届き続ける連載型で組む。</a:t>
            </a:r>
            <a:endParaRPr lang="en-US" sz="940" dirty="0"/>
          </a:p>
        </p:txBody>
      </p:sp>
      <p:sp>
        <p:nvSpPr>
          <p:cNvPr id="14" name="Shape 12"/>
          <p:cNvSpPr/>
          <p:nvPr/>
        </p:nvSpPr>
        <p:spPr>
          <a:xfrm>
            <a:off x="548640" y="3099816"/>
            <a:ext cx="11082528" cy="859536"/>
          </a:xfrm>
          <a:prstGeom prst="roundRect">
            <a:avLst>
              <a:gd name="adj" fmla="val 6383"/>
            </a:avLst>
          </a:prstGeom>
          <a:solidFill>
            <a:srgbClr val="FFFFFF"/>
          </a:solidFill>
          <a:ln w="8890">
            <a:solidFill>
              <a:srgbClr val="FFFFFF">
                <a:alpha val="0"/>
              </a:srgbClr>
            </a:solidFill>
            <a:prstDash val="solid"/>
          </a:ln>
        </p:spPr>
      </p:sp>
      <p:sp>
        <p:nvSpPr>
          <p:cNvPr id="15" name="Text 13"/>
          <p:cNvSpPr txBox="1"/>
          <p:nvPr/>
        </p:nvSpPr>
        <p:spPr>
          <a:xfrm>
            <a:off x="768096" y="3355848"/>
            <a:ext cx="1463040" cy="347472"/>
          </a:xfrm>
          <a:prstGeom prst="rect">
            <a:avLst/>
          </a:prstGeom>
          <a:noFill/>
          <a:ln/>
        </p:spPr>
        <p:txBody>
          <a:bodyPr wrap="square" lIns="0" tIns="0" rIns="0" bIns="0" rtlCol="0" anchor="ctr">
            <a:normAutofit/>
          </a:bodyPr>
          <a:lstStyle/>
          <a:p>
            <a:pPr algn="l" indent="0" marL="0">
              <a:buNone/>
            </a:pPr>
            <a:r>
              <a:rPr lang="en-US" sz="1250" b="1" dirty="0">
                <a:solidFill>
                  <a:srgbClr val="202526"/>
                </a:solidFill>
                <a:latin typeface="Noto Sans JP" pitchFamily="34" charset="0"/>
                <a:ea typeface="Noto Sans JP" pitchFamily="34" charset="-122"/>
                <a:cs typeface="Noto Sans JP" pitchFamily="34" charset="-120"/>
              </a:rPr>
              <a:t>ストーリーズ</a:t>
            </a:r>
            <a:endParaRPr lang="en-US" sz="1250" dirty="0"/>
          </a:p>
        </p:txBody>
      </p:sp>
      <p:sp>
        <p:nvSpPr>
          <p:cNvPr id="16" name="Text 14"/>
          <p:cNvSpPr txBox="1"/>
          <p:nvPr/>
        </p:nvSpPr>
        <p:spPr>
          <a:xfrm>
            <a:off x="2212848" y="3227832"/>
            <a:ext cx="4434840" cy="603504"/>
          </a:xfrm>
          <a:prstGeom prst="rect">
            <a:avLst/>
          </a:prstGeom>
          <a:noFill/>
          <a:ln/>
        </p:spPr>
        <p:txBody>
          <a:bodyPr wrap="square" lIns="0" tIns="0" rIns="0" bIns="0" rtlCol="0" anchor="ctr">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視聴履歴／エンゲージ履歴／親密度</a:t>
            </a:r>
            <a:endParaRPr lang="en-US" sz="900" dirty="0"/>
          </a:p>
        </p:txBody>
      </p:sp>
      <p:sp>
        <p:nvSpPr>
          <p:cNvPr id="17" name="Shape 15"/>
          <p:cNvSpPr/>
          <p:nvPr/>
        </p:nvSpPr>
        <p:spPr>
          <a:xfrm>
            <a:off x="6656832" y="3246120"/>
            <a:ext cx="0" cy="566928"/>
          </a:xfrm>
          <a:prstGeom prst="line">
            <a:avLst/>
          </a:prstGeom>
          <a:noFill/>
          <a:ln w="12700">
            <a:solidFill>
              <a:srgbClr val="DDE3E2"/>
            </a:solidFill>
            <a:prstDash val="solid"/>
            <a:headEnd type="none"/>
            <a:tailEnd type="none"/>
          </a:ln>
        </p:spPr>
      </p:sp>
      <p:sp>
        <p:nvSpPr>
          <p:cNvPr id="18" name="Text 16"/>
          <p:cNvSpPr txBox="1"/>
          <p:nvPr/>
        </p:nvSpPr>
        <p:spPr>
          <a:xfrm>
            <a:off x="6858000" y="3227832"/>
            <a:ext cx="4572000" cy="603504"/>
          </a:xfrm>
          <a:prstGeom prst="rect">
            <a:avLst/>
          </a:prstGeom>
          <a:noFill/>
          <a:ln/>
        </p:spPr>
        <p:txBody>
          <a:bodyPr wrap="square" lIns="0" tIns="0" rIns="0" bIns="0" rtlCol="0" anchor="ctr">
            <a:normAutofit/>
          </a:bodyPr>
          <a:lstStyle/>
          <a:p>
            <a:pPr algn="l" indent="0" marL="0">
              <a:buNone/>
            </a:pPr>
            <a:r>
              <a:rPr lang="en-US" sz="940" dirty="0">
                <a:solidFill>
                  <a:srgbClr val="202526"/>
                </a:solidFill>
                <a:latin typeface="Noto Sans JP" pitchFamily="34" charset="0"/>
                <a:ea typeface="Noto Sans JP" pitchFamily="34" charset="-122"/>
                <a:cs typeface="Noto Sans JP" pitchFamily="34" charset="-120"/>
              </a:rPr>
              <a:t>質問・アンケートなど反応装置を置き、双方向の履歴そのものを資産としてつくる。</a:t>
            </a:r>
            <a:endParaRPr lang="en-US" sz="940" dirty="0"/>
          </a:p>
        </p:txBody>
      </p:sp>
      <p:sp>
        <p:nvSpPr>
          <p:cNvPr id="19" name="Shape 17"/>
          <p:cNvSpPr/>
          <p:nvPr/>
        </p:nvSpPr>
        <p:spPr>
          <a:xfrm>
            <a:off x="548640" y="4059936"/>
            <a:ext cx="11082528" cy="859536"/>
          </a:xfrm>
          <a:prstGeom prst="roundRect">
            <a:avLst>
              <a:gd name="adj" fmla="val 6383"/>
            </a:avLst>
          </a:prstGeom>
          <a:solidFill>
            <a:srgbClr val="DDEDF1"/>
          </a:solidFill>
          <a:ln w="8890">
            <a:solidFill>
              <a:srgbClr val="DDEDF1">
                <a:alpha val="0"/>
              </a:srgbClr>
            </a:solidFill>
            <a:prstDash val="solid"/>
          </a:ln>
        </p:spPr>
      </p:sp>
      <p:sp>
        <p:nvSpPr>
          <p:cNvPr id="20" name="Text 18"/>
          <p:cNvSpPr txBox="1"/>
          <p:nvPr/>
        </p:nvSpPr>
        <p:spPr>
          <a:xfrm>
            <a:off x="768096" y="4315968"/>
            <a:ext cx="1463040" cy="347472"/>
          </a:xfrm>
          <a:prstGeom prst="rect">
            <a:avLst/>
          </a:prstGeom>
          <a:noFill/>
          <a:ln/>
        </p:spPr>
        <p:txBody>
          <a:bodyPr wrap="square" lIns="0" tIns="0" rIns="0" bIns="0" rtlCol="0" anchor="ctr">
            <a:normAutofit/>
          </a:bodyPr>
          <a:lstStyle/>
          <a:p>
            <a:pPr algn="l" indent="0" marL="0">
              <a:buNone/>
            </a:pPr>
            <a:r>
              <a:rPr lang="en-US" sz="1250" b="1" dirty="0">
                <a:solidFill>
                  <a:srgbClr val="202526"/>
                </a:solidFill>
                <a:latin typeface="Noto Sans JP" pitchFamily="34" charset="0"/>
                <a:ea typeface="Noto Sans JP" pitchFamily="34" charset="-122"/>
                <a:cs typeface="Noto Sans JP" pitchFamily="34" charset="-120"/>
              </a:rPr>
              <a:t>発見</a:t>
            </a:r>
            <a:endParaRPr lang="en-US" sz="1250" dirty="0"/>
          </a:p>
        </p:txBody>
      </p:sp>
      <p:sp>
        <p:nvSpPr>
          <p:cNvPr id="21" name="Text 19"/>
          <p:cNvSpPr txBox="1"/>
          <p:nvPr/>
        </p:nvSpPr>
        <p:spPr>
          <a:xfrm>
            <a:off x="2212848" y="4187952"/>
            <a:ext cx="4434840" cy="603504"/>
          </a:xfrm>
          <a:prstGeom prst="rect">
            <a:avLst/>
          </a:prstGeom>
          <a:noFill/>
          <a:ln/>
        </p:spPr>
        <p:txBody>
          <a:bodyPr wrap="square" lIns="0" tIns="0" rIns="0" bIns="0" rtlCol="0" anchor="ctr">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投稿の人気度／発見での行動／投稿者の情報</a:t>
            </a:r>
            <a:endParaRPr lang="en-US" sz="900" dirty="0"/>
          </a:p>
        </p:txBody>
      </p:sp>
      <p:sp>
        <p:nvSpPr>
          <p:cNvPr id="22" name="Shape 20"/>
          <p:cNvSpPr/>
          <p:nvPr/>
        </p:nvSpPr>
        <p:spPr>
          <a:xfrm>
            <a:off x="6656832" y="4206240"/>
            <a:ext cx="0" cy="566928"/>
          </a:xfrm>
          <a:prstGeom prst="line">
            <a:avLst/>
          </a:prstGeom>
          <a:noFill/>
          <a:ln w="12700">
            <a:solidFill>
              <a:srgbClr val="DDE3E2"/>
            </a:solidFill>
            <a:prstDash val="solid"/>
            <a:headEnd type="none"/>
            <a:tailEnd type="none"/>
          </a:ln>
        </p:spPr>
      </p:sp>
      <p:sp>
        <p:nvSpPr>
          <p:cNvPr id="23" name="Text 21"/>
          <p:cNvSpPr txBox="1"/>
          <p:nvPr/>
        </p:nvSpPr>
        <p:spPr>
          <a:xfrm>
            <a:off x="6858000" y="4187952"/>
            <a:ext cx="4572000" cy="603504"/>
          </a:xfrm>
          <a:prstGeom prst="rect">
            <a:avLst/>
          </a:prstGeom>
          <a:noFill/>
          <a:ln/>
        </p:spPr>
        <p:txBody>
          <a:bodyPr wrap="square" lIns="0" tIns="0" rIns="0" bIns="0" rtlCol="0" anchor="ctr">
            <a:normAutofit/>
          </a:bodyPr>
          <a:lstStyle/>
          <a:p>
            <a:pPr algn="l" indent="0" marL="0">
              <a:buNone/>
            </a:pPr>
            <a:r>
              <a:rPr lang="en-US" sz="940" dirty="0">
                <a:solidFill>
                  <a:srgbClr val="202526"/>
                </a:solidFill>
                <a:latin typeface="Noto Sans JP" pitchFamily="34" charset="0"/>
                <a:ea typeface="Noto Sans JP" pitchFamily="34" charset="-122"/>
                <a:cs typeface="Noto Sans JP" pitchFamily="34" charset="-120"/>
              </a:rPr>
              <a:t>初見の相手に届く前提で、1枚目とフックを設計する。文脈が要る言い回しを避ける。</a:t>
            </a:r>
            <a:endParaRPr lang="en-US" sz="940" dirty="0"/>
          </a:p>
        </p:txBody>
      </p:sp>
      <p:sp>
        <p:nvSpPr>
          <p:cNvPr id="24" name="Shape 22"/>
          <p:cNvSpPr/>
          <p:nvPr/>
        </p:nvSpPr>
        <p:spPr>
          <a:xfrm>
            <a:off x="548640" y="5020056"/>
            <a:ext cx="11082528" cy="859536"/>
          </a:xfrm>
          <a:prstGeom prst="roundRect">
            <a:avLst>
              <a:gd name="adj" fmla="val 6383"/>
            </a:avLst>
          </a:prstGeom>
          <a:solidFill>
            <a:srgbClr val="FFFFFF"/>
          </a:solidFill>
          <a:ln w="8890">
            <a:solidFill>
              <a:srgbClr val="FFFFFF">
                <a:alpha val="0"/>
              </a:srgbClr>
            </a:solidFill>
            <a:prstDash val="solid"/>
          </a:ln>
        </p:spPr>
      </p:sp>
      <p:sp>
        <p:nvSpPr>
          <p:cNvPr id="25" name="Text 23"/>
          <p:cNvSpPr txBox="1"/>
          <p:nvPr/>
        </p:nvSpPr>
        <p:spPr>
          <a:xfrm>
            <a:off x="768096" y="5276088"/>
            <a:ext cx="1463040" cy="347472"/>
          </a:xfrm>
          <a:prstGeom prst="rect">
            <a:avLst/>
          </a:prstGeom>
          <a:noFill/>
          <a:ln/>
        </p:spPr>
        <p:txBody>
          <a:bodyPr wrap="square" lIns="0" tIns="0" rIns="0" bIns="0" rtlCol="0" anchor="ctr">
            <a:normAutofit/>
          </a:bodyPr>
          <a:lstStyle/>
          <a:p>
            <a:pPr algn="l" indent="0" marL="0">
              <a:buNone/>
            </a:pPr>
            <a:r>
              <a:rPr lang="en-US" sz="1250" b="1" dirty="0">
                <a:solidFill>
                  <a:srgbClr val="202526"/>
                </a:solidFill>
                <a:latin typeface="Noto Sans JP" pitchFamily="34" charset="0"/>
                <a:ea typeface="Noto Sans JP" pitchFamily="34" charset="-122"/>
                <a:cs typeface="Noto Sans JP" pitchFamily="34" charset="-120"/>
              </a:rPr>
              <a:t>リール</a:t>
            </a:r>
            <a:endParaRPr lang="en-US" sz="1250" dirty="0"/>
          </a:p>
        </p:txBody>
      </p:sp>
      <p:sp>
        <p:nvSpPr>
          <p:cNvPr id="26" name="Text 24"/>
          <p:cNvSpPr txBox="1"/>
          <p:nvPr/>
        </p:nvSpPr>
        <p:spPr>
          <a:xfrm>
            <a:off x="2212848" y="5148072"/>
            <a:ext cx="4434840" cy="603504"/>
          </a:xfrm>
          <a:prstGeom prst="rect">
            <a:avLst/>
          </a:prstGeom>
          <a:noFill/>
          <a:ln/>
        </p:spPr>
        <p:txBody>
          <a:bodyPr wrap="square" lIns="0" tIns="0" rIns="0" bIns="0" rtlCol="0" anchor="ctr">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自分の活動／過去の交流／リールの情報（音源・映像）／投稿者の情報</a:t>
            </a:r>
            <a:endParaRPr lang="en-US" sz="900" dirty="0"/>
          </a:p>
        </p:txBody>
      </p:sp>
      <p:sp>
        <p:nvSpPr>
          <p:cNvPr id="27" name="Shape 25"/>
          <p:cNvSpPr/>
          <p:nvPr/>
        </p:nvSpPr>
        <p:spPr>
          <a:xfrm>
            <a:off x="6656832" y="5166360"/>
            <a:ext cx="0" cy="566928"/>
          </a:xfrm>
          <a:prstGeom prst="line">
            <a:avLst/>
          </a:prstGeom>
          <a:noFill/>
          <a:ln w="12700">
            <a:solidFill>
              <a:srgbClr val="DDE3E2"/>
            </a:solidFill>
            <a:prstDash val="solid"/>
            <a:headEnd type="none"/>
            <a:tailEnd type="none"/>
          </a:ln>
        </p:spPr>
      </p:sp>
      <p:sp>
        <p:nvSpPr>
          <p:cNvPr id="28" name="Text 26"/>
          <p:cNvSpPr txBox="1"/>
          <p:nvPr/>
        </p:nvSpPr>
        <p:spPr>
          <a:xfrm>
            <a:off x="6858000" y="5148072"/>
            <a:ext cx="4572000" cy="603504"/>
          </a:xfrm>
          <a:prstGeom prst="rect">
            <a:avLst/>
          </a:prstGeom>
          <a:noFill/>
          <a:ln/>
        </p:spPr>
        <p:txBody>
          <a:bodyPr wrap="square" lIns="0" tIns="0" rIns="0" bIns="0" rtlCol="0" anchor="ctr">
            <a:normAutofit/>
          </a:bodyPr>
          <a:lstStyle/>
          <a:p>
            <a:pPr algn="l" indent="0" marL="0">
              <a:buNone/>
            </a:pPr>
            <a:r>
              <a:rPr lang="en-US" sz="940" dirty="0">
                <a:solidFill>
                  <a:srgbClr val="202526"/>
                </a:solidFill>
                <a:latin typeface="Noto Sans JP" pitchFamily="34" charset="0"/>
                <a:ea typeface="Noto Sans JP" pitchFamily="34" charset="-122"/>
                <a:cs typeface="Noto Sans JP" pitchFamily="34" charset="-120"/>
              </a:rPr>
              <a:t>音源と冒頭2秒を検証対象に固定し、Trial Reelsで非フォロワーに先に当てて判断する。</a:t>
            </a:r>
            <a:endParaRPr lang="en-US" sz="940" dirty="0"/>
          </a:p>
        </p:txBody>
      </p:sp>
      <p:sp>
        <p:nvSpPr>
          <p:cNvPr id="29" name="Text 27"/>
          <p:cNvSpPr txBox="1"/>
          <p:nvPr/>
        </p:nvSpPr>
        <p:spPr>
          <a:xfrm>
            <a:off x="548640" y="6108192"/>
            <a:ext cx="11082528" cy="274320"/>
          </a:xfrm>
          <a:prstGeom prst="rect">
            <a:avLst/>
          </a:prstGeom>
          <a:noFill/>
          <a:ln/>
        </p:spPr>
        <p:txBody>
          <a:bodyPr wrap="square" lIns="0" tIns="0" rIns="0" bIns="0" rtlCol="0" anchor="ctr">
            <a:normAutofit/>
          </a:bodyPr>
          <a:lstStyle/>
          <a:p>
            <a:pPr algn="l" indent="0" marL="0">
              <a:buNone/>
            </a:pPr>
            <a:r>
              <a:rPr lang="en-US" sz="850" dirty="0">
                <a:solidFill>
                  <a:srgbClr val="687174"/>
                </a:solidFill>
                <a:latin typeface="Noto Sans JP" pitchFamily="34" charset="0"/>
                <a:ea typeface="Noto Sans JP" pitchFamily="34" charset="-122"/>
                <a:cs typeface="Noto Sans JP" pitchFamily="34" charset="-120"/>
              </a:rPr>
              <a:t>※ アルゴリズムは変化します。公式発表を継続的に確認し、運用ルールを更新したうえでご報告します。</a:t>
            </a:r>
            <a:endParaRPr lang="en-US" sz="85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12</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FRAMEWORK</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「投稿」ではなく、「伝わり続ける流れ」を設計。</a:t>
            </a:r>
            <a:endParaRPr lang="en-US" sz="2400" dirty="0"/>
          </a:p>
        </p:txBody>
      </p:sp>
      <p:sp>
        <p:nvSpPr>
          <p:cNvPr id="5" name="Shape 3"/>
          <p:cNvSpPr/>
          <p:nvPr/>
        </p:nvSpPr>
        <p:spPr>
          <a:xfrm>
            <a:off x="749808" y="2057400"/>
            <a:ext cx="1572768" cy="1572768"/>
          </a:xfrm>
          <a:prstGeom prst="ellipse">
            <a:avLst/>
          </a:prstGeom>
          <a:solidFill>
            <a:srgbClr val="FFFFFF"/>
          </a:solidFill>
          <a:ln w="12700">
            <a:solidFill>
              <a:srgbClr val="DDE3E2"/>
            </a:solidFill>
            <a:prstDash val="solid"/>
          </a:ln>
        </p:spPr>
      </p:sp>
      <p:sp>
        <p:nvSpPr>
          <p:cNvPr id="6" name="Text 4"/>
          <p:cNvSpPr txBox="1"/>
          <p:nvPr/>
        </p:nvSpPr>
        <p:spPr>
          <a:xfrm>
            <a:off x="841248" y="2487168"/>
            <a:ext cx="1389888" cy="329184"/>
          </a:xfrm>
          <a:prstGeom prst="rect">
            <a:avLst/>
          </a:prstGeom>
          <a:noFill/>
          <a:ln/>
        </p:spPr>
        <p:txBody>
          <a:bodyPr wrap="square" lIns="0" tIns="0" rIns="0" bIns="0" rtlCol="0" anchor="ctr">
            <a:normAutofit/>
          </a:bodyPr>
          <a:lstStyle/>
          <a:p>
            <a:pPr algn="ctr" indent="0" marL="0">
              <a:buNone/>
            </a:pPr>
            <a:r>
              <a:rPr lang="en-US" sz="1400" b="1" dirty="0">
                <a:solidFill>
                  <a:srgbClr val="202526"/>
                </a:solidFill>
                <a:latin typeface="Noto Sans JP" pitchFamily="34" charset="0"/>
                <a:ea typeface="Noto Sans JP" pitchFamily="34" charset="-122"/>
                <a:cs typeface="Noto Sans JP" pitchFamily="34" charset="-120"/>
              </a:rPr>
              <a:t>想い</a:t>
            </a:r>
            <a:endParaRPr lang="en-US" sz="1400" dirty="0"/>
          </a:p>
        </p:txBody>
      </p:sp>
      <p:sp>
        <p:nvSpPr>
          <p:cNvPr id="7" name="Text 5"/>
          <p:cNvSpPr txBox="1"/>
          <p:nvPr/>
        </p:nvSpPr>
        <p:spPr>
          <a:xfrm>
            <a:off x="841248" y="2907792"/>
            <a:ext cx="1389888" cy="201168"/>
          </a:xfrm>
          <a:prstGeom prst="rect">
            <a:avLst/>
          </a:prstGeom>
          <a:noFill/>
          <a:ln/>
        </p:spPr>
        <p:txBody>
          <a:bodyPr wrap="square" lIns="0" tIns="0" rIns="0" bIns="0" rtlCol="0" anchor="ctr">
            <a:normAutofit/>
          </a:bodyPr>
          <a:lstStyle/>
          <a:p>
            <a:pPr algn="ctr" indent="0" marL="0">
              <a:buNone/>
            </a:pPr>
            <a:r>
              <a:rPr lang="en-US" sz="680" b="1" spc="80" kern="0" dirty="0">
                <a:solidFill>
                  <a:srgbClr val="188CA1"/>
                </a:solidFill>
                <a:latin typeface="Noto Sans JP" pitchFamily="34" charset="0"/>
                <a:ea typeface="Noto Sans JP" pitchFamily="34" charset="-122"/>
                <a:cs typeface="Noto Sans JP" pitchFamily="34" charset="-120"/>
              </a:rPr>
              <a:t>WHY</a:t>
            </a:r>
            <a:endParaRPr lang="en-US" sz="680" dirty="0"/>
          </a:p>
        </p:txBody>
      </p:sp>
      <p:sp>
        <p:nvSpPr>
          <p:cNvPr id="8" name="Shape 6"/>
          <p:cNvSpPr/>
          <p:nvPr/>
        </p:nvSpPr>
        <p:spPr>
          <a:xfrm>
            <a:off x="2322576" y="2834640"/>
            <a:ext cx="640080" cy="0"/>
          </a:xfrm>
          <a:prstGeom prst="line">
            <a:avLst/>
          </a:prstGeom>
          <a:noFill/>
          <a:ln w="20320">
            <a:solidFill>
              <a:srgbClr val="42AFC0"/>
            </a:solidFill>
            <a:prstDash val="solid"/>
            <a:headEnd type="none"/>
            <a:tailEnd type="none"/>
          </a:ln>
        </p:spPr>
      </p:sp>
      <p:sp>
        <p:nvSpPr>
          <p:cNvPr id="9" name="Shape 7"/>
          <p:cNvSpPr/>
          <p:nvPr/>
        </p:nvSpPr>
        <p:spPr>
          <a:xfrm>
            <a:off x="2962656" y="2057400"/>
            <a:ext cx="1572768" cy="1572768"/>
          </a:xfrm>
          <a:prstGeom prst="ellipse">
            <a:avLst/>
          </a:prstGeom>
          <a:solidFill>
            <a:srgbClr val="DDE3E2"/>
          </a:solidFill>
          <a:ln w="12700">
            <a:solidFill>
              <a:srgbClr val="DDE3E2"/>
            </a:solidFill>
            <a:prstDash val="solid"/>
          </a:ln>
        </p:spPr>
      </p:sp>
      <p:sp>
        <p:nvSpPr>
          <p:cNvPr id="10" name="Text 8"/>
          <p:cNvSpPr txBox="1"/>
          <p:nvPr/>
        </p:nvSpPr>
        <p:spPr>
          <a:xfrm>
            <a:off x="3054096" y="2487168"/>
            <a:ext cx="1389888" cy="329184"/>
          </a:xfrm>
          <a:prstGeom prst="rect">
            <a:avLst/>
          </a:prstGeom>
          <a:noFill/>
          <a:ln/>
        </p:spPr>
        <p:txBody>
          <a:bodyPr wrap="square" lIns="0" tIns="0" rIns="0" bIns="0" rtlCol="0" anchor="ctr">
            <a:normAutofit/>
          </a:bodyPr>
          <a:lstStyle/>
          <a:p>
            <a:pPr algn="ctr" indent="0" marL="0">
              <a:buNone/>
            </a:pPr>
            <a:r>
              <a:rPr lang="en-US" sz="1400" b="1" dirty="0">
                <a:solidFill>
                  <a:srgbClr val="202526"/>
                </a:solidFill>
                <a:latin typeface="Noto Sans JP" pitchFamily="34" charset="0"/>
                <a:ea typeface="Noto Sans JP" pitchFamily="34" charset="-122"/>
                <a:cs typeface="Noto Sans JP" pitchFamily="34" charset="-120"/>
              </a:rPr>
              <a:t>言語化</a:t>
            </a:r>
            <a:endParaRPr lang="en-US" sz="1400" dirty="0"/>
          </a:p>
        </p:txBody>
      </p:sp>
      <p:sp>
        <p:nvSpPr>
          <p:cNvPr id="11" name="Text 9"/>
          <p:cNvSpPr txBox="1"/>
          <p:nvPr/>
        </p:nvSpPr>
        <p:spPr>
          <a:xfrm>
            <a:off x="3054096" y="2907792"/>
            <a:ext cx="1389888" cy="201168"/>
          </a:xfrm>
          <a:prstGeom prst="rect">
            <a:avLst/>
          </a:prstGeom>
          <a:noFill/>
          <a:ln/>
        </p:spPr>
        <p:txBody>
          <a:bodyPr wrap="square" lIns="0" tIns="0" rIns="0" bIns="0" rtlCol="0" anchor="ctr">
            <a:normAutofit/>
          </a:bodyPr>
          <a:lstStyle/>
          <a:p>
            <a:pPr algn="ctr" indent="0" marL="0">
              <a:buNone/>
            </a:pPr>
            <a:r>
              <a:rPr lang="en-US" sz="680" b="1" spc="80" kern="0" dirty="0">
                <a:solidFill>
                  <a:srgbClr val="188CA1"/>
                </a:solidFill>
                <a:latin typeface="Noto Sans JP" pitchFamily="34" charset="0"/>
                <a:ea typeface="Noto Sans JP" pitchFamily="34" charset="-122"/>
                <a:cs typeface="Noto Sans JP" pitchFamily="34" charset="-120"/>
              </a:rPr>
              <a:t>MESSAGE</a:t>
            </a:r>
            <a:endParaRPr lang="en-US" sz="680" dirty="0"/>
          </a:p>
        </p:txBody>
      </p:sp>
      <p:sp>
        <p:nvSpPr>
          <p:cNvPr id="12" name="Shape 10"/>
          <p:cNvSpPr/>
          <p:nvPr/>
        </p:nvSpPr>
        <p:spPr>
          <a:xfrm>
            <a:off x="4535424" y="2834640"/>
            <a:ext cx="640080" cy="0"/>
          </a:xfrm>
          <a:prstGeom prst="line">
            <a:avLst/>
          </a:prstGeom>
          <a:noFill/>
          <a:ln w="20320">
            <a:solidFill>
              <a:srgbClr val="42AFC0"/>
            </a:solidFill>
            <a:prstDash val="solid"/>
            <a:headEnd type="none"/>
            <a:tailEnd type="none"/>
          </a:ln>
        </p:spPr>
      </p:sp>
      <p:sp>
        <p:nvSpPr>
          <p:cNvPr id="13" name="Shape 11"/>
          <p:cNvSpPr/>
          <p:nvPr/>
        </p:nvSpPr>
        <p:spPr>
          <a:xfrm>
            <a:off x="5175504" y="2057400"/>
            <a:ext cx="1572768" cy="1572768"/>
          </a:xfrm>
          <a:prstGeom prst="ellipse">
            <a:avLst/>
          </a:prstGeom>
          <a:solidFill>
            <a:srgbClr val="FFFFFF"/>
          </a:solidFill>
          <a:ln w="12700">
            <a:solidFill>
              <a:srgbClr val="DDE3E2"/>
            </a:solidFill>
            <a:prstDash val="solid"/>
          </a:ln>
        </p:spPr>
      </p:sp>
      <p:sp>
        <p:nvSpPr>
          <p:cNvPr id="14" name="Text 12"/>
          <p:cNvSpPr txBox="1"/>
          <p:nvPr/>
        </p:nvSpPr>
        <p:spPr>
          <a:xfrm>
            <a:off x="5266944" y="2487168"/>
            <a:ext cx="1389888" cy="329184"/>
          </a:xfrm>
          <a:prstGeom prst="rect">
            <a:avLst/>
          </a:prstGeom>
          <a:noFill/>
          <a:ln/>
        </p:spPr>
        <p:txBody>
          <a:bodyPr wrap="square" lIns="0" tIns="0" rIns="0" bIns="0" rtlCol="0" anchor="ctr">
            <a:normAutofit/>
          </a:bodyPr>
          <a:lstStyle/>
          <a:p>
            <a:pPr algn="ctr" indent="0" marL="0">
              <a:buNone/>
            </a:pPr>
            <a:r>
              <a:rPr lang="en-US" sz="1400" b="1" dirty="0">
                <a:solidFill>
                  <a:srgbClr val="202526"/>
                </a:solidFill>
                <a:latin typeface="Noto Sans JP" pitchFamily="34" charset="0"/>
                <a:ea typeface="Noto Sans JP" pitchFamily="34" charset="-122"/>
                <a:cs typeface="Noto Sans JP" pitchFamily="34" charset="-120"/>
              </a:rPr>
              <a:t>世界観</a:t>
            </a:r>
            <a:endParaRPr lang="en-US" sz="1400" dirty="0"/>
          </a:p>
        </p:txBody>
      </p:sp>
      <p:sp>
        <p:nvSpPr>
          <p:cNvPr id="15" name="Text 13"/>
          <p:cNvSpPr txBox="1"/>
          <p:nvPr/>
        </p:nvSpPr>
        <p:spPr>
          <a:xfrm>
            <a:off x="5266944" y="2907792"/>
            <a:ext cx="1389888" cy="201168"/>
          </a:xfrm>
          <a:prstGeom prst="rect">
            <a:avLst/>
          </a:prstGeom>
          <a:noFill/>
          <a:ln/>
        </p:spPr>
        <p:txBody>
          <a:bodyPr wrap="square" lIns="0" tIns="0" rIns="0" bIns="0" rtlCol="0" anchor="ctr">
            <a:normAutofit/>
          </a:bodyPr>
          <a:lstStyle/>
          <a:p>
            <a:pPr algn="ctr" indent="0" marL="0">
              <a:buNone/>
            </a:pPr>
            <a:r>
              <a:rPr lang="en-US" sz="680" b="1" spc="80" kern="0" dirty="0">
                <a:solidFill>
                  <a:srgbClr val="188CA1"/>
                </a:solidFill>
                <a:latin typeface="Noto Sans JP" pitchFamily="34" charset="0"/>
                <a:ea typeface="Noto Sans JP" pitchFamily="34" charset="-122"/>
                <a:cs typeface="Noto Sans JP" pitchFamily="34" charset="-120"/>
              </a:rPr>
              <a:t>IDENTITY</a:t>
            </a:r>
            <a:endParaRPr lang="en-US" sz="680" dirty="0"/>
          </a:p>
        </p:txBody>
      </p:sp>
      <p:sp>
        <p:nvSpPr>
          <p:cNvPr id="16" name="Shape 14"/>
          <p:cNvSpPr/>
          <p:nvPr/>
        </p:nvSpPr>
        <p:spPr>
          <a:xfrm>
            <a:off x="6748272" y="2834640"/>
            <a:ext cx="640080" cy="0"/>
          </a:xfrm>
          <a:prstGeom prst="line">
            <a:avLst/>
          </a:prstGeom>
          <a:noFill/>
          <a:ln w="20320">
            <a:solidFill>
              <a:srgbClr val="42AFC0"/>
            </a:solidFill>
            <a:prstDash val="solid"/>
            <a:headEnd type="none"/>
            <a:tailEnd type="none"/>
          </a:ln>
        </p:spPr>
      </p:sp>
      <p:sp>
        <p:nvSpPr>
          <p:cNvPr id="17" name="Shape 15"/>
          <p:cNvSpPr/>
          <p:nvPr/>
        </p:nvSpPr>
        <p:spPr>
          <a:xfrm>
            <a:off x="7388352" y="2057400"/>
            <a:ext cx="1572768" cy="1572768"/>
          </a:xfrm>
          <a:prstGeom prst="ellipse">
            <a:avLst/>
          </a:prstGeom>
          <a:solidFill>
            <a:srgbClr val="DDE3E2"/>
          </a:solidFill>
          <a:ln w="12700">
            <a:solidFill>
              <a:srgbClr val="DDE3E2"/>
            </a:solidFill>
            <a:prstDash val="solid"/>
          </a:ln>
        </p:spPr>
      </p:sp>
      <p:sp>
        <p:nvSpPr>
          <p:cNvPr id="18" name="Text 16"/>
          <p:cNvSpPr txBox="1"/>
          <p:nvPr/>
        </p:nvSpPr>
        <p:spPr>
          <a:xfrm>
            <a:off x="7479792" y="2487168"/>
            <a:ext cx="1389888" cy="329184"/>
          </a:xfrm>
          <a:prstGeom prst="rect">
            <a:avLst/>
          </a:prstGeom>
          <a:noFill/>
          <a:ln/>
        </p:spPr>
        <p:txBody>
          <a:bodyPr wrap="square" lIns="0" tIns="0" rIns="0" bIns="0" rtlCol="0" anchor="ctr">
            <a:normAutofit/>
          </a:bodyPr>
          <a:lstStyle/>
          <a:p>
            <a:pPr algn="ctr" indent="0" marL="0">
              <a:buNone/>
            </a:pPr>
            <a:r>
              <a:rPr lang="en-US" sz="1400" b="1" dirty="0">
                <a:solidFill>
                  <a:srgbClr val="202526"/>
                </a:solidFill>
                <a:latin typeface="Noto Sans JP" pitchFamily="34" charset="0"/>
                <a:ea typeface="Noto Sans JP" pitchFamily="34" charset="-122"/>
                <a:cs typeface="Noto Sans JP" pitchFamily="34" charset="-120"/>
              </a:rPr>
              <a:t>コンテンツ</a:t>
            </a:r>
            <a:endParaRPr lang="en-US" sz="1400" dirty="0"/>
          </a:p>
        </p:txBody>
      </p:sp>
      <p:sp>
        <p:nvSpPr>
          <p:cNvPr id="19" name="Text 17"/>
          <p:cNvSpPr txBox="1"/>
          <p:nvPr/>
        </p:nvSpPr>
        <p:spPr>
          <a:xfrm>
            <a:off x="7479792" y="2907792"/>
            <a:ext cx="1389888" cy="201168"/>
          </a:xfrm>
          <a:prstGeom prst="rect">
            <a:avLst/>
          </a:prstGeom>
          <a:noFill/>
          <a:ln/>
        </p:spPr>
        <p:txBody>
          <a:bodyPr wrap="square" lIns="0" tIns="0" rIns="0" bIns="0" rtlCol="0" anchor="ctr">
            <a:normAutofit/>
          </a:bodyPr>
          <a:lstStyle/>
          <a:p>
            <a:pPr algn="ctr" indent="0" marL="0">
              <a:buNone/>
            </a:pPr>
            <a:r>
              <a:rPr lang="en-US" sz="680" b="1" spc="80" kern="0" dirty="0">
                <a:solidFill>
                  <a:srgbClr val="188CA1"/>
                </a:solidFill>
                <a:latin typeface="Noto Sans JP" pitchFamily="34" charset="0"/>
                <a:ea typeface="Noto Sans JP" pitchFamily="34" charset="-122"/>
                <a:cs typeface="Noto Sans JP" pitchFamily="34" charset="-120"/>
              </a:rPr>
              <a:t>CONTENT</a:t>
            </a:r>
            <a:endParaRPr lang="en-US" sz="680" dirty="0"/>
          </a:p>
        </p:txBody>
      </p:sp>
      <p:sp>
        <p:nvSpPr>
          <p:cNvPr id="20" name="Shape 18"/>
          <p:cNvSpPr/>
          <p:nvPr/>
        </p:nvSpPr>
        <p:spPr>
          <a:xfrm>
            <a:off x="8961120" y="2834640"/>
            <a:ext cx="640080" cy="0"/>
          </a:xfrm>
          <a:prstGeom prst="line">
            <a:avLst/>
          </a:prstGeom>
          <a:noFill/>
          <a:ln w="20320">
            <a:solidFill>
              <a:srgbClr val="42AFC0"/>
            </a:solidFill>
            <a:prstDash val="solid"/>
            <a:headEnd type="none"/>
            <a:tailEnd type="none"/>
          </a:ln>
        </p:spPr>
      </p:sp>
      <p:sp>
        <p:nvSpPr>
          <p:cNvPr id="21" name="Shape 19"/>
          <p:cNvSpPr/>
          <p:nvPr/>
        </p:nvSpPr>
        <p:spPr>
          <a:xfrm>
            <a:off x="9601200" y="2057400"/>
            <a:ext cx="1572768" cy="1572768"/>
          </a:xfrm>
          <a:prstGeom prst="ellipse">
            <a:avLst/>
          </a:prstGeom>
          <a:solidFill>
            <a:srgbClr val="42AFC0"/>
          </a:solidFill>
          <a:ln w="12700">
            <a:solidFill>
              <a:srgbClr val="42AFC0"/>
            </a:solidFill>
            <a:prstDash val="solid"/>
          </a:ln>
        </p:spPr>
      </p:sp>
      <p:sp>
        <p:nvSpPr>
          <p:cNvPr id="22" name="Text 20"/>
          <p:cNvSpPr txBox="1"/>
          <p:nvPr/>
        </p:nvSpPr>
        <p:spPr>
          <a:xfrm>
            <a:off x="9692640" y="2487168"/>
            <a:ext cx="1389888" cy="32918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継続運用</a:t>
            </a:r>
            <a:endParaRPr lang="en-US" sz="1400" dirty="0"/>
          </a:p>
        </p:txBody>
      </p:sp>
      <p:sp>
        <p:nvSpPr>
          <p:cNvPr id="23" name="Text 21"/>
          <p:cNvSpPr txBox="1"/>
          <p:nvPr/>
        </p:nvSpPr>
        <p:spPr>
          <a:xfrm>
            <a:off x="9692640" y="2907792"/>
            <a:ext cx="1389888" cy="201168"/>
          </a:xfrm>
          <a:prstGeom prst="rect">
            <a:avLst/>
          </a:prstGeom>
          <a:noFill/>
          <a:ln/>
        </p:spPr>
        <p:txBody>
          <a:bodyPr wrap="square" lIns="0" tIns="0" rIns="0" bIns="0" rtlCol="0" anchor="ctr">
            <a:normAutofit/>
          </a:bodyPr>
          <a:lstStyle/>
          <a:p>
            <a:pPr algn="ctr" indent="0" marL="0">
              <a:buNone/>
            </a:pPr>
            <a:r>
              <a:rPr lang="en-US" sz="680" b="1" spc="80" kern="0" dirty="0">
                <a:solidFill>
                  <a:srgbClr val="202526"/>
                </a:solidFill>
                <a:latin typeface="Noto Sans JP" pitchFamily="34" charset="0"/>
                <a:ea typeface="Noto Sans JP" pitchFamily="34" charset="-122"/>
                <a:cs typeface="Noto Sans JP" pitchFamily="34" charset="-120"/>
              </a:rPr>
              <a:t>OPERATION</a:t>
            </a:r>
            <a:endParaRPr lang="en-US" sz="680" dirty="0"/>
          </a:p>
        </p:txBody>
      </p:sp>
      <p:sp>
        <p:nvSpPr>
          <p:cNvPr id="24" name="Shape 22"/>
          <p:cNvSpPr/>
          <p:nvPr/>
        </p:nvSpPr>
        <p:spPr>
          <a:xfrm>
            <a:off x="1143000" y="4251960"/>
            <a:ext cx="9902952" cy="1143000"/>
          </a:xfrm>
          <a:prstGeom prst="roundRect">
            <a:avLst>
              <a:gd name="adj" fmla="val 6400"/>
            </a:avLst>
          </a:prstGeom>
          <a:solidFill>
            <a:srgbClr val="202526"/>
          </a:solidFill>
          <a:ln w="8890">
            <a:solidFill>
              <a:srgbClr val="202526">
                <a:alpha val="0"/>
              </a:srgbClr>
            </a:solidFill>
            <a:prstDash val="solid"/>
          </a:ln>
        </p:spPr>
      </p:sp>
      <p:sp>
        <p:nvSpPr>
          <p:cNvPr id="25" name="Text 23"/>
          <p:cNvSpPr txBox="1"/>
          <p:nvPr/>
        </p:nvSpPr>
        <p:spPr>
          <a:xfrm>
            <a:off x="1463040" y="4526280"/>
            <a:ext cx="9281160" cy="384048"/>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Noto Sans JP" pitchFamily="34" charset="0"/>
                <a:ea typeface="Noto Sans JP" pitchFamily="34" charset="-122"/>
                <a:cs typeface="Noto Sans JP" pitchFamily="34" charset="-120"/>
              </a:rPr>
              <a:t>ブランドの核を守りながら、媒体と顧客に合わせて表現を変える。</a:t>
            </a:r>
            <a:endParaRPr lang="en-US" sz="1600" dirty="0"/>
          </a:p>
        </p:txBody>
      </p:sp>
      <p:sp>
        <p:nvSpPr>
          <p:cNvPr id="26" name="Text 24"/>
          <p:cNvSpPr txBox="1"/>
          <p:nvPr/>
        </p:nvSpPr>
        <p:spPr>
          <a:xfrm>
            <a:off x="2103120" y="5669280"/>
            <a:ext cx="8001000" cy="292608"/>
          </a:xfrm>
          <a:prstGeom prst="rect">
            <a:avLst/>
          </a:prstGeom>
          <a:noFill/>
          <a:ln/>
        </p:spPr>
        <p:txBody>
          <a:bodyPr wrap="square" lIns="0" tIns="0" rIns="0" bIns="0" rtlCol="0" anchor="ctr">
            <a:normAutofit/>
          </a:bodyPr>
          <a:lstStyle/>
          <a:p>
            <a:pPr algn="ctr" indent="0" marL="0">
              <a:buNone/>
            </a:pPr>
            <a:r>
              <a:rPr lang="en-US" sz="1000" dirty="0">
                <a:solidFill>
                  <a:srgbClr val="687174"/>
                </a:solidFill>
                <a:latin typeface="Noto Sans JP" pitchFamily="34" charset="0"/>
                <a:ea typeface="Noto Sans JP" pitchFamily="34" charset="-122"/>
                <a:cs typeface="Noto Sans JP" pitchFamily="34" charset="-120"/>
              </a:rPr>
              <a:t>一貫性と変化の両方が、長く選ばれるSNSをつくります。</a:t>
            </a:r>
            <a:endParaRPr lang="en-US" sz="10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13</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WORKS 01 / INSTAGRAM FEED</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少年サッカー情報舎 VAMOS｜告知を、参加動機に変える。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第3回 VAMOSまつり（2026年6月28日／ルイガンズ福岡）の告知クリエイティブ。</a:t>
            </a:r>
            <a:endParaRPr lang="en-US" sz="1050" dirty="0"/>
          </a:p>
        </p:txBody>
      </p:sp>
      <p:sp>
        <p:nvSpPr>
          <p:cNvPr id="6" name="Shape 4"/>
          <p:cNvSpPr/>
          <p:nvPr/>
        </p:nvSpPr>
        <p:spPr>
          <a:xfrm>
            <a:off x="566928" y="1783080"/>
            <a:ext cx="2487168" cy="3108960"/>
          </a:xfrm>
          <a:prstGeom prst="roundRect">
            <a:avLst>
              <a:gd name="adj" fmla="val 2941"/>
            </a:avLst>
          </a:prstGeom>
          <a:solidFill>
            <a:srgbClr val="FFFFFF"/>
          </a:solidFill>
          <a:ln w="8890">
            <a:solidFill>
              <a:srgbClr val="FFFFFF">
                <a:alpha val="0"/>
              </a:srgbClr>
            </a:solidFill>
            <a:prstDash val="solid"/>
          </a:ln>
        </p:spPr>
      </p:sp>
      <p:pic>
        <p:nvPicPr>
          <p:cNvPr id="7" name="Image 0" descr="/Users/imadatadahito/Desktop/ai-imadaruma/04_貿易省/文化庁/portfolio/assets/instagram/vamos_festival_01.png">    </p:cNvPr>
          <p:cNvPicPr>
            <a:picLocks noChangeAspect="1"/>
          </p:cNvPicPr>
          <p:nvPr/>
        </p:nvPicPr>
        <p:blipFill>
          <a:blip r:embed="rId1"/>
          <a:stretch>
            <a:fillRect/>
          </a:stretch>
        </p:blipFill>
        <p:spPr>
          <a:xfrm>
            <a:off x="676656" y="1920240"/>
            <a:ext cx="2267712" cy="2834640"/>
          </a:xfrm>
          <a:prstGeom prst="rect">
            <a:avLst/>
          </a:prstGeom>
        </p:spPr>
      </p:pic>
      <p:sp>
        <p:nvSpPr>
          <p:cNvPr id="8" name="Shape 5"/>
          <p:cNvSpPr/>
          <p:nvPr/>
        </p:nvSpPr>
        <p:spPr>
          <a:xfrm>
            <a:off x="3246120" y="1783080"/>
            <a:ext cx="2487168" cy="3108960"/>
          </a:xfrm>
          <a:prstGeom prst="roundRect">
            <a:avLst>
              <a:gd name="adj" fmla="val 2941"/>
            </a:avLst>
          </a:prstGeom>
          <a:solidFill>
            <a:srgbClr val="FFFFFF"/>
          </a:solidFill>
          <a:ln w="8890">
            <a:solidFill>
              <a:srgbClr val="FFFFFF">
                <a:alpha val="0"/>
              </a:srgbClr>
            </a:solidFill>
            <a:prstDash val="solid"/>
          </a:ln>
        </p:spPr>
      </p:sp>
      <p:pic>
        <p:nvPicPr>
          <p:cNvPr id="9" name="Image 1" descr="/Users/imadatadahito/Desktop/ai-imadaruma/04_貿易省/文化庁/portfolio/assets/instagram/vamos_festival_02.png">    </p:cNvPr>
          <p:cNvPicPr>
            <a:picLocks noChangeAspect="1"/>
          </p:cNvPicPr>
          <p:nvPr/>
        </p:nvPicPr>
        <p:blipFill>
          <a:blip r:embed="rId2"/>
          <a:stretch>
            <a:fillRect/>
          </a:stretch>
        </p:blipFill>
        <p:spPr>
          <a:xfrm>
            <a:off x="3355848" y="1920240"/>
            <a:ext cx="2267712" cy="2834640"/>
          </a:xfrm>
          <a:prstGeom prst="rect">
            <a:avLst/>
          </a:prstGeom>
        </p:spPr>
      </p:pic>
      <p:sp>
        <p:nvSpPr>
          <p:cNvPr id="10" name="Shape 6"/>
          <p:cNvSpPr/>
          <p:nvPr/>
        </p:nvSpPr>
        <p:spPr>
          <a:xfrm>
            <a:off x="6035040" y="1783080"/>
            <a:ext cx="5596128" cy="3108960"/>
          </a:xfrm>
          <a:prstGeom prst="roundRect">
            <a:avLst>
              <a:gd name="adj" fmla="val 2353"/>
            </a:avLst>
          </a:prstGeom>
          <a:solidFill>
            <a:srgbClr val="DDEDF1"/>
          </a:solidFill>
          <a:ln w="8890">
            <a:solidFill>
              <a:srgbClr val="DDEDF1">
                <a:alpha val="0"/>
              </a:srgbClr>
            </a:solidFill>
            <a:prstDash val="solid"/>
          </a:ln>
        </p:spPr>
      </p:sp>
      <p:sp>
        <p:nvSpPr>
          <p:cNvPr id="11" name="Text 7"/>
          <p:cNvSpPr txBox="1"/>
          <p:nvPr/>
        </p:nvSpPr>
        <p:spPr>
          <a:xfrm>
            <a:off x="6291072" y="2011680"/>
            <a:ext cx="1828800" cy="219456"/>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CLIENT</a:t>
            </a:r>
            <a:endParaRPr lang="en-US" sz="720" dirty="0"/>
          </a:p>
        </p:txBody>
      </p:sp>
      <p:sp>
        <p:nvSpPr>
          <p:cNvPr id="12" name="Text 8"/>
          <p:cNvSpPr txBox="1"/>
          <p:nvPr/>
        </p:nvSpPr>
        <p:spPr>
          <a:xfrm>
            <a:off x="6291072" y="2286000"/>
            <a:ext cx="5120640" cy="310896"/>
          </a:xfrm>
          <a:prstGeom prst="rect">
            <a:avLst/>
          </a:prstGeom>
          <a:noFill/>
          <a:ln/>
        </p:spPr>
        <p:txBody>
          <a:bodyPr wrap="square" lIns="0" tIns="0" rIns="0" bIns="0" rtlCol="0" anchor="ctr">
            <a:normAutofit/>
          </a:bodyPr>
          <a:lstStyle/>
          <a:p>
            <a:pPr algn="l" indent="0" marL="0">
              <a:buNone/>
            </a:pPr>
            <a:r>
              <a:rPr lang="en-US" sz="1200" b="1" dirty="0">
                <a:solidFill>
                  <a:srgbClr val="202526"/>
                </a:solidFill>
                <a:latin typeface="Noto Sans JP" pitchFamily="34" charset="0"/>
                <a:ea typeface="Noto Sans JP" pitchFamily="34" charset="-122"/>
                <a:cs typeface="Noto Sans JP" pitchFamily="34" charset="-120"/>
              </a:rPr>
              <a:t>少年サッカー情報舎 VAMOS ／ ケイカフェ（共催）</a:t>
            </a:r>
            <a:endParaRPr lang="en-US" sz="1200" dirty="0"/>
          </a:p>
        </p:txBody>
      </p:sp>
      <p:sp>
        <p:nvSpPr>
          <p:cNvPr id="13" name="Shape 9"/>
          <p:cNvSpPr/>
          <p:nvPr/>
        </p:nvSpPr>
        <p:spPr>
          <a:xfrm>
            <a:off x="6291072" y="2724912"/>
            <a:ext cx="5084064" cy="0"/>
          </a:xfrm>
          <a:prstGeom prst="line">
            <a:avLst/>
          </a:prstGeom>
          <a:noFill/>
          <a:ln w="15240">
            <a:solidFill>
              <a:srgbClr val="FFFFFF"/>
            </a:solidFill>
            <a:prstDash val="solid"/>
            <a:headEnd type="none"/>
            <a:tailEnd type="none"/>
          </a:ln>
        </p:spPr>
      </p:sp>
      <p:sp>
        <p:nvSpPr>
          <p:cNvPr id="14" name="Text 10"/>
          <p:cNvSpPr txBox="1"/>
          <p:nvPr/>
        </p:nvSpPr>
        <p:spPr>
          <a:xfrm>
            <a:off x="6291072" y="2907792"/>
            <a:ext cx="1828800" cy="219456"/>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FORMAT</a:t>
            </a:r>
            <a:endParaRPr lang="en-US" sz="720" dirty="0"/>
          </a:p>
        </p:txBody>
      </p:sp>
      <p:sp>
        <p:nvSpPr>
          <p:cNvPr id="15" name="Text 11"/>
          <p:cNvSpPr txBox="1"/>
          <p:nvPr/>
        </p:nvSpPr>
        <p:spPr>
          <a:xfrm>
            <a:off x="6291072" y="3182112"/>
            <a:ext cx="5120640" cy="310896"/>
          </a:xfrm>
          <a:prstGeom prst="rect">
            <a:avLst/>
          </a:prstGeom>
          <a:noFill/>
          <a:ln/>
        </p:spPr>
        <p:txBody>
          <a:bodyPr wrap="square" lIns="0" tIns="0" rIns="0" bIns="0" rtlCol="0" anchor="ctr">
            <a:normAutofit/>
          </a:bodyPr>
          <a:lstStyle/>
          <a:p>
            <a:pPr algn="l" indent="0" marL="0">
              <a:buNone/>
            </a:pPr>
            <a:r>
              <a:rPr lang="en-US" sz="1200" b="1" dirty="0">
                <a:solidFill>
                  <a:srgbClr val="202526"/>
                </a:solidFill>
                <a:latin typeface="Noto Sans JP" pitchFamily="34" charset="0"/>
                <a:ea typeface="Noto Sans JP" pitchFamily="34" charset="-122"/>
                <a:cs typeface="Noto Sans JP" pitchFamily="34" charset="-120"/>
              </a:rPr>
              <a:t>Instagram フィード（4:5）／ イベント告知シリーズ</a:t>
            </a:r>
            <a:endParaRPr lang="en-US" sz="1200" dirty="0"/>
          </a:p>
        </p:txBody>
      </p:sp>
      <p:sp>
        <p:nvSpPr>
          <p:cNvPr id="16" name="Shape 12"/>
          <p:cNvSpPr/>
          <p:nvPr/>
        </p:nvSpPr>
        <p:spPr>
          <a:xfrm>
            <a:off x="6291072" y="3621024"/>
            <a:ext cx="5084064" cy="0"/>
          </a:xfrm>
          <a:prstGeom prst="line">
            <a:avLst/>
          </a:prstGeom>
          <a:noFill/>
          <a:ln w="15240">
            <a:solidFill>
              <a:srgbClr val="FFFFFF"/>
            </a:solidFill>
            <a:prstDash val="solid"/>
            <a:headEnd type="none"/>
            <a:tailEnd type="none"/>
          </a:ln>
        </p:spPr>
      </p:sp>
      <p:sp>
        <p:nvSpPr>
          <p:cNvPr id="17" name="Text 13"/>
          <p:cNvSpPr txBox="1"/>
          <p:nvPr/>
        </p:nvSpPr>
        <p:spPr>
          <a:xfrm>
            <a:off x="6291072" y="3785616"/>
            <a:ext cx="5084064" cy="960120"/>
          </a:xfrm>
          <a:prstGeom prst="rect">
            <a:avLst/>
          </a:prstGeom>
          <a:noFill/>
          <a:ln/>
        </p:spPr>
        <p:txBody>
          <a:bodyPr wrap="square" lIns="0" tIns="0" rIns="0" bIns="0" rtlCol="0" anchor="t">
            <a:normAutofit/>
          </a:bodyPr>
          <a:lstStyle/>
          <a:p>
            <a:pPr algn="l" indent="0" marL="0">
              <a:buNone/>
            </a:pPr>
            <a:r>
              <a:rPr lang="en-US" sz="960" dirty="0">
                <a:solidFill>
                  <a:srgbClr val="687174"/>
                </a:solidFill>
                <a:latin typeface="Noto Sans JP" pitchFamily="34" charset="0"/>
                <a:ea typeface="Noto Sans JP" pitchFamily="34" charset="-122"/>
                <a:cs typeface="Noto Sans JP" pitchFamily="34" charset="-120"/>
              </a:rPr>
              <a:t>同じイベントでも、伝える相手によって1枚の役割を変えています。左は「大会そのもの」を告知する回、右は「観に来る家族」に向けた回。冠協賛（ケイカフェ／MAKERS GROUP）のロゴは毎回同じ位置に固定し、告知としての強さとスポンサーへの還元を同時に成立させています。</a:t>
            </a:r>
            <a:endParaRPr lang="en-US" sz="960" dirty="0"/>
          </a:p>
        </p:txBody>
      </p:sp>
      <p:sp>
        <p:nvSpPr>
          <p:cNvPr id="18" name="Text 14"/>
          <p:cNvSpPr txBox="1"/>
          <p:nvPr/>
        </p:nvSpPr>
        <p:spPr>
          <a:xfrm>
            <a:off x="603504" y="5074920"/>
            <a:ext cx="658368" cy="228600"/>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ROLE</a:t>
            </a:r>
            <a:endParaRPr lang="en-US" sz="720" dirty="0"/>
          </a:p>
        </p:txBody>
      </p:sp>
      <p:sp>
        <p:nvSpPr>
          <p:cNvPr id="19" name="Text 15"/>
          <p:cNvSpPr txBox="1"/>
          <p:nvPr/>
        </p:nvSpPr>
        <p:spPr>
          <a:xfrm>
            <a:off x="1389888" y="5038344"/>
            <a:ext cx="9921240" cy="310896"/>
          </a:xfrm>
          <a:prstGeom prst="rect">
            <a:avLst/>
          </a:prstGeom>
          <a:noFill/>
          <a:ln/>
        </p:spPr>
        <p:txBody>
          <a:bodyPr wrap="square" lIns="0" tIns="0" rIns="0" bIns="0" rtlCol="0" anchor="ctr">
            <a:normAutofit/>
          </a:bodyPr>
          <a:lstStyle/>
          <a:p>
            <a:pPr algn="l" indent="0" marL="0">
              <a:buNone/>
            </a:pPr>
            <a:r>
              <a:rPr lang="en-US" sz="1080" b="1" dirty="0">
                <a:solidFill>
                  <a:srgbClr val="202526"/>
                </a:solidFill>
                <a:latin typeface="Noto Sans JP" pitchFamily="34" charset="0"/>
                <a:ea typeface="Noto Sans JP" pitchFamily="34" charset="-122"/>
                <a:cs typeface="Noto Sans JP" pitchFamily="34" charset="-120"/>
              </a:rPr>
              <a:t>グラフィック制作／告知ビジュアル設計</a:t>
            </a:r>
            <a:endParaRPr lang="en-US" sz="1080" dirty="0"/>
          </a:p>
        </p:txBody>
      </p:sp>
      <p:sp>
        <p:nvSpPr>
          <p:cNvPr id="20" name="Shape 16"/>
          <p:cNvSpPr/>
          <p:nvPr/>
        </p:nvSpPr>
        <p:spPr>
          <a:xfrm>
            <a:off x="566928" y="5394960"/>
            <a:ext cx="3520440" cy="868680"/>
          </a:xfrm>
          <a:prstGeom prst="roundRect">
            <a:avLst>
              <a:gd name="adj" fmla="val 8421"/>
            </a:avLst>
          </a:prstGeom>
          <a:solidFill>
            <a:srgbClr val="FFFFFF"/>
          </a:solidFill>
          <a:ln w="8890">
            <a:solidFill>
              <a:srgbClr val="FFFFFF">
                <a:alpha val="0"/>
              </a:srgbClr>
            </a:solidFill>
            <a:prstDash val="solid"/>
          </a:ln>
        </p:spPr>
      </p:sp>
      <p:sp>
        <p:nvSpPr>
          <p:cNvPr id="21" name="Text 17"/>
          <p:cNvSpPr txBox="1"/>
          <p:nvPr/>
        </p:nvSpPr>
        <p:spPr>
          <a:xfrm>
            <a:off x="731520" y="5522976"/>
            <a:ext cx="3191256"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主役を決める</a:t>
            </a:r>
            <a:endParaRPr lang="en-US" sz="1150" dirty="0"/>
          </a:p>
        </p:txBody>
      </p:sp>
      <p:sp>
        <p:nvSpPr>
          <p:cNvPr id="22" name="Text 18"/>
          <p:cNvSpPr txBox="1"/>
          <p:nvPr/>
        </p:nvSpPr>
        <p:spPr>
          <a:xfrm>
            <a:off x="731520" y="5852160"/>
            <a:ext cx="3191256" cy="26517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参加した子どもたちの集合写真を主役に置き、「行けば自分もあの輪に入れる」を一目で伝える。</a:t>
            </a:r>
            <a:endParaRPr lang="en-US" sz="900" dirty="0"/>
          </a:p>
        </p:txBody>
      </p:sp>
      <p:sp>
        <p:nvSpPr>
          <p:cNvPr id="23" name="Shape 19"/>
          <p:cNvSpPr/>
          <p:nvPr/>
        </p:nvSpPr>
        <p:spPr>
          <a:xfrm>
            <a:off x="4270248" y="5394960"/>
            <a:ext cx="3520440" cy="868680"/>
          </a:xfrm>
          <a:prstGeom prst="roundRect">
            <a:avLst>
              <a:gd name="adj" fmla="val 8421"/>
            </a:avLst>
          </a:prstGeom>
          <a:solidFill>
            <a:srgbClr val="DDEDF1"/>
          </a:solidFill>
          <a:ln w="8890">
            <a:solidFill>
              <a:srgbClr val="DDEDF1">
                <a:alpha val="0"/>
              </a:srgbClr>
            </a:solidFill>
            <a:prstDash val="solid"/>
          </a:ln>
        </p:spPr>
      </p:sp>
      <p:sp>
        <p:nvSpPr>
          <p:cNvPr id="24" name="Text 20"/>
          <p:cNvSpPr txBox="1"/>
          <p:nvPr/>
        </p:nvSpPr>
        <p:spPr>
          <a:xfrm>
            <a:off x="4434840" y="5522976"/>
            <a:ext cx="3191256"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読む相手を変える</a:t>
            </a:r>
            <a:endParaRPr lang="en-US" sz="1150" dirty="0"/>
          </a:p>
        </p:txBody>
      </p:sp>
      <p:sp>
        <p:nvSpPr>
          <p:cNvPr id="25" name="Text 21"/>
          <p:cNvSpPr txBox="1"/>
          <p:nvPr/>
        </p:nvSpPr>
        <p:spPr>
          <a:xfrm>
            <a:off x="4434840" y="5852160"/>
            <a:ext cx="3191256" cy="26517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家族向けの回では観戦する人の表情を主役に差し替え、同じ大会を別の動機で見せる。</a:t>
            </a:r>
            <a:endParaRPr lang="en-US" sz="900" dirty="0"/>
          </a:p>
        </p:txBody>
      </p:sp>
      <p:sp>
        <p:nvSpPr>
          <p:cNvPr id="26" name="Shape 22"/>
          <p:cNvSpPr/>
          <p:nvPr/>
        </p:nvSpPr>
        <p:spPr>
          <a:xfrm>
            <a:off x="7973568" y="5394960"/>
            <a:ext cx="3520440" cy="868680"/>
          </a:xfrm>
          <a:prstGeom prst="roundRect">
            <a:avLst>
              <a:gd name="adj" fmla="val 8421"/>
            </a:avLst>
          </a:prstGeom>
          <a:solidFill>
            <a:srgbClr val="FFFFFF"/>
          </a:solidFill>
          <a:ln w="8890">
            <a:solidFill>
              <a:srgbClr val="FFFFFF">
                <a:alpha val="0"/>
              </a:srgbClr>
            </a:solidFill>
            <a:prstDash val="solid"/>
          </a:ln>
        </p:spPr>
      </p:sp>
      <p:sp>
        <p:nvSpPr>
          <p:cNvPr id="27" name="Text 23"/>
          <p:cNvSpPr txBox="1"/>
          <p:nvPr/>
        </p:nvSpPr>
        <p:spPr>
          <a:xfrm>
            <a:off x="8138160" y="5522976"/>
            <a:ext cx="3191256"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協賛を立てる</a:t>
            </a:r>
            <a:endParaRPr lang="en-US" sz="1150" dirty="0"/>
          </a:p>
        </p:txBody>
      </p:sp>
      <p:sp>
        <p:nvSpPr>
          <p:cNvPr id="28" name="Text 24"/>
          <p:cNvSpPr txBox="1"/>
          <p:nvPr/>
        </p:nvSpPr>
        <p:spPr>
          <a:xfrm>
            <a:off x="8138160" y="5852160"/>
            <a:ext cx="3191256" cy="26517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冠協賛のロゴを定位置に固定。告知の強さとスポンサーへの還元を両立させる。</a:t>
            </a:r>
            <a:endParaRPr lang="en-US" sz="9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14</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WORKS 02 / INSTAGRAM FEED</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駅前不動産 presents 第3回 VAMOS CUP｜大会の「格」を、1枚で伝える。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同じクライアントの別シリーズ。まつりとは狙いを変え、競技の緊張感を前に出す。</a:t>
            </a:r>
            <a:endParaRPr lang="en-US" sz="1050" dirty="0"/>
          </a:p>
        </p:txBody>
      </p:sp>
      <p:sp>
        <p:nvSpPr>
          <p:cNvPr id="6" name="Shape 4"/>
          <p:cNvSpPr/>
          <p:nvPr/>
        </p:nvSpPr>
        <p:spPr>
          <a:xfrm>
            <a:off x="566928" y="1783080"/>
            <a:ext cx="2487168" cy="3108960"/>
          </a:xfrm>
          <a:prstGeom prst="roundRect">
            <a:avLst>
              <a:gd name="adj" fmla="val 2941"/>
            </a:avLst>
          </a:prstGeom>
          <a:solidFill>
            <a:srgbClr val="FFFFFF"/>
          </a:solidFill>
          <a:ln w="8890">
            <a:solidFill>
              <a:srgbClr val="FFFFFF">
                <a:alpha val="0"/>
              </a:srgbClr>
            </a:solidFill>
            <a:prstDash val="solid"/>
          </a:ln>
        </p:spPr>
      </p:sp>
      <p:pic>
        <p:nvPicPr>
          <p:cNvPr id="7" name="Image 0" descr="/Users/imadatadahito/Desktop/ai-imadaruma/04_貿易省/文化庁/portfolio/assets/instagram/vamoscup_01.png">    </p:cNvPr>
          <p:cNvPicPr>
            <a:picLocks noChangeAspect="1"/>
          </p:cNvPicPr>
          <p:nvPr/>
        </p:nvPicPr>
        <p:blipFill>
          <a:blip r:embed="rId1"/>
          <a:stretch>
            <a:fillRect/>
          </a:stretch>
        </p:blipFill>
        <p:spPr>
          <a:xfrm>
            <a:off x="676656" y="1920745"/>
            <a:ext cx="2267712" cy="2833629"/>
          </a:xfrm>
          <a:prstGeom prst="rect">
            <a:avLst/>
          </a:prstGeom>
        </p:spPr>
      </p:pic>
      <p:sp>
        <p:nvSpPr>
          <p:cNvPr id="8" name="Shape 5"/>
          <p:cNvSpPr/>
          <p:nvPr/>
        </p:nvSpPr>
        <p:spPr>
          <a:xfrm>
            <a:off x="3246120" y="1783080"/>
            <a:ext cx="2487168" cy="3108960"/>
          </a:xfrm>
          <a:prstGeom prst="roundRect">
            <a:avLst>
              <a:gd name="adj" fmla="val 2941"/>
            </a:avLst>
          </a:prstGeom>
          <a:solidFill>
            <a:srgbClr val="FFFFFF"/>
          </a:solidFill>
          <a:ln w="8890">
            <a:solidFill>
              <a:srgbClr val="FFFFFF">
                <a:alpha val="0"/>
              </a:srgbClr>
            </a:solidFill>
            <a:prstDash val="solid"/>
          </a:ln>
        </p:spPr>
      </p:sp>
      <p:pic>
        <p:nvPicPr>
          <p:cNvPr id="9" name="Image 1" descr="/Users/imadatadahito/Desktop/ai-imadaruma/04_貿易省/文化庁/portfolio/assets/instagram/vamoscup_02.png">    </p:cNvPr>
          <p:cNvPicPr>
            <a:picLocks noChangeAspect="1"/>
          </p:cNvPicPr>
          <p:nvPr/>
        </p:nvPicPr>
        <p:blipFill>
          <a:blip r:embed="rId2"/>
          <a:stretch>
            <a:fillRect/>
          </a:stretch>
        </p:blipFill>
        <p:spPr>
          <a:xfrm>
            <a:off x="3355848" y="1920745"/>
            <a:ext cx="2267712" cy="2833629"/>
          </a:xfrm>
          <a:prstGeom prst="rect">
            <a:avLst/>
          </a:prstGeom>
        </p:spPr>
      </p:pic>
      <p:sp>
        <p:nvSpPr>
          <p:cNvPr id="10" name="Shape 6"/>
          <p:cNvSpPr/>
          <p:nvPr/>
        </p:nvSpPr>
        <p:spPr>
          <a:xfrm>
            <a:off x="5925312" y="1783080"/>
            <a:ext cx="2487168" cy="3108960"/>
          </a:xfrm>
          <a:prstGeom prst="roundRect">
            <a:avLst>
              <a:gd name="adj" fmla="val 2941"/>
            </a:avLst>
          </a:prstGeom>
          <a:solidFill>
            <a:srgbClr val="FFFFFF"/>
          </a:solidFill>
          <a:ln w="8890">
            <a:solidFill>
              <a:srgbClr val="FFFFFF">
                <a:alpha val="0"/>
              </a:srgbClr>
            </a:solidFill>
            <a:prstDash val="solid"/>
          </a:ln>
        </p:spPr>
      </p:sp>
      <p:pic>
        <p:nvPicPr>
          <p:cNvPr id="11" name="Image 2" descr="/Users/imadatadahito/Desktop/ai-imadaruma/04_貿易省/文化庁/portfolio/assets/instagram/vamoscup_03.png">    </p:cNvPr>
          <p:cNvPicPr>
            <a:picLocks noChangeAspect="1"/>
          </p:cNvPicPr>
          <p:nvPr/>
        </p:nvPicPr>
        <p:blipFill>
          <a:blip r:embed="rId3"/>
          <a:stretch>
            <a:fillRect/>
          </a:stretch>
        </p:blipFill>
        <p:spPr>
          <a:xfrm>
            <a:off x="6035040" y="1920745"/>
            <a:ext cx="2267712" cy="2833629"/>
          </a:xfrm>
          <a:prstGeom prst="rect">
            <a:avLst/>
          </a:prstGeom>
        </p:spPr>
      </p:pic>
      <p:sp>
        <p:nvSpPr>
          <p:cNvPr id="12" name="Shape 7"/>
          <p:cNvSpPr/>
          <p:nvPr/>
        </p:nvSpPr>
        <p:spPr>
          <a:xfrm>
            <a:off x="8732520" y="1783080"/>
            <a:ext cx="2898648" cy="3108960"/>
          </a:xfrm>
          <a:prstGeom prst="roundRect">
            <a:avLst>
              <a:gd name="adj" fmla="val 2524"/>
            </a:avLst>
          </a:prstGeom>
          <a:solidFill>
            <a:srgbClr val="DDE3E2"/>
          </a:solidFill>
          <a:ln w="8890">
            <a:solidFill>
              <a:srgbClr val="DDE3E2">
                <a:alpha val="0"/>
              </a:srgbClr>
            </a:solidFill>
            <a:prstDash val="solid"/>
          </a:ln>
        </p:spPr>
      </p:sp>
      <p:sp>
        <p:nvSpPr>
          <p:cNvPr id="13" name="Text 8"/>
          <p:cNvSpPr txBox="1"/>
          <p:nvPr/>
        </p:nvSpPr>
        <p:spPr>
          <a:xfrm>
            <a:off x="8942832" y="1993392"/>
            <a:ext cx="2103120" cy="219456"/>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TITLE SPONSOR</a:t>
            </a:r>
            <a:endParaRPr lang="en-US" sz="720" dirty="0"/>
          </a:p>
        </p:txBody>
      </p:sp>
      <p:sp>
        <p:nvSpPr>
          <p:cNvPr id="14" name="Text 9"/>
          <p:cNvSpPr txBox="1"/>
          <p:nvPr/>
        </p:nvSpPr>
        <p:spPr>
          <a:xfrm>
            <a:off x="8942832" y="2267712"/>
            <a:ext cx="2514600" cy="365760"/>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駅前不動産グループ</a:t>
            </a:r>
            <a:endParaRPr lang="en-US" sz="1300" dirty="0"/>
          </a:p>
        </p:txBody>
      </p:sp>
      <p:sp>
        <p:nvSpPr>
          <p:cNvPr id="15" name="Shape 10"/>
          <p:cNvSpPr/>
          <p:nvPr/>
        </p:nvSpPr>
        <p:spPr>
          <a:xfrm>
            <a:off x="8942832" y="2743200"/>
            <a:ext cx="2487168" cy="0"/>
          </a:xfrm>
          <a:prstGeom prst="line">
            <a:avLst/>
          </a:prstGeom>
          <a:noFill/>
          <a:ln w="15240">
            <a:solidFill>
              <a:srgbClr val="FFFFFF"/>
            </a:solidFill>
            <a:prstDash val="solid"/>
            <a:headEnd type="none"/>
            <a:tailEnd type="none"/>
          </a:ln>
        </p:spPr>
      </p:sp>
      <p:sp>
        <p:nvSpPr>
          <p:cNvPr id="16" name="Text 11"/>
          <p:cNvSpPr txBox="1"/>
          <p:nvPr/>
        </p:nvSpPr>
        <p:spPr>
          <a:xfrm>
            <a:off x="8942832" y="2926080"/>
            <a:ext cx="1828800" cy="219456"/>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FORMAT</a:t>
            </a:r>
            <a:endParaRPr lang="en-US" sz="720" dirty="0"/>
          </a:p>
        </p:txBody>
      </p:sp>
      <p:sp>
        <p:nvSpPr>
          <p:cNvPr id="17" name="Text 12"/>
          <p:cNvSpPr txBox="1"/>
          <p:nvPr/>
        </p:nvSpPr>
        <p:spPr>
          <a:xfrm>
            <a:off x="8942832" y="3200400"/>
            <a:ext cx="2514600" cy="566928"/>
          </a:xfrm>
          <a:prstGeom prst="rect">
            <a:avLst/>
          </a:prstGeom>
          <a:noFill/>
          <a:ln/>
        </p:spPr>
        <p:txBody>
          <a:bodyPr wrap="square" lIns="0" tIns="0" rIns="0" bIns="0" rtlCol="0" anchor="t">
            <a:normAutofit/>
          </a:bodyPr>
          <a:lstStyle/>
          <a:p>
            <a:pPr algn="l" indent="0" marL="0">
              <a:buNone/>
            </a:pPr>
            <a:r>
              <a:rPr lang="en-US" sz="1100" b="1" dirty="0">
                <a:solidFill>
                  <a:srgbClr val="202526"/>
                </a:solidFill>
                <a:latin typeface="Noto Sans JP" pitchFamily="34" charset="0"/>
                <a:ea typeface="Noto Sans JP" pitchFamily="34" charset="-122"/>
                <a:cs typeface="Noto Sans JP" pitchFamily="34" charset="-120"/>
              </a:rPr>
              <a:t>Instagram フィード（4:5）</a:t>
            </a:r>
            <a:endParaRPr lang="en-US" sz="1100" dirty="0"/>
          </a:p>
          <a:p>
            <a:pPr algn="l" indent="0" marL="0">
              <a:buNone/>
            </a:pPr>
            <a:r>
              <a:rPr lang="en-US" sz="1100" b="1" dirty="0">
                <a:solidFill>
                  <a:srgbClr val="202526"/>
                </a:solidFill>
                <a:latin typeface="Noto Sans JP" pitchFamily="34" charset="0"/>
                <a:ea typeface="Noto Sans JP" pitchFamily="34" charset="-122"/>
                <a:cs typeface="Noto Sans JP" pitchFamily="34" charset="-120"/>
              </a:rPr>
              <a:t>Junior Football Tournament</a:t>
            </a:r>
            <a:endParaRPr lang="en-US" sz="1100" dirty="0"/>
          </a:p>
        </p:txBody>
      </p:sp>
      <p:sp>
        <p:nvSpPr>
          <p:cNvPr id="18" name="Shape 13"/>
          <p:cNvSpPr/>
          <p:nvPr/>
        </p:nvSpPr>
        <p:spPr>
          <a:xfrm>
            <a:off x="8942832" y="3877056"/>
            <a:ext cx="2487168" cy="0"/>
          </a:xfrm>
          <a:prstGeom prst="line">
            <a:avLst/>
          </a:prstGeom>
          <a:noFill/>
          <a:ln w="15240">
            <a:solidFill>
              <a:srgbClr val="FFFFFF"/>
            </a:solidFill>
            <a:prstDash val="solid"/>
            <a:headEnd type="none"/>
            <a:tailEnd type="none"/>
          </a:ln>
        </p:spPr>
      </p:sp>
      <p:sp>
        <p:nvSpPr>
          <p:cNvPr id="19" name="Text 14"/>
          <p:cNvSpPr txBox="1"/>
          <p:nvPr/>
        </p:nvSpPr>
        <p:spPr>
          <a:xfrm>
            <a:off x="8942832" y="4041648"/>
            <a:ext cx="2514600" cy="731520"/>
          </a:xfrm>
          <a:prstGeom prst="rect">
            <a:avLst/>
          </a:prstGeom>
          <a:noFill/>
          <a:ln/>
        </p:spPr>
        <p:txBody>
          <a:bodyPr wrap="square" lIns="0" tIns="0" rIns="0" bIns="0" rtlCol="0" anchor="t">
            <a:normAutofit/>
          </a:bodyPr>
          <a:lstStyle/>
          <a:p>
            <a:pPr algn="l" indent="0" marL="0">
              <a:buNone/>
            </a:pPr>
            <a:r>
              <a:rPr lang="en-US" sz="880" dirty="0">
                <a:solidFill>
                  <a:srgbClr val="687174"/>
                </a:solidFill>
                <a:latin typeface="Noto Sans JP" pitchFamily="34" charset="0"/>
                <a:ea typeface="Noto Sans JP" pitchFamily="34" charset="-122"/>
                <a:cs typeface="Noto Sans JP" pitchFamily="34" charset="-120"/>
              </a:rPr>
              <a:t>1枚ずつ役割を変えた連作。表紙・協賛メッセージ・ゲスト告知で構成し、大会の全体像を順に見せる。</a:t>
            </a:r>
            <a:endParaRPr lang="en-US" sz="880" dirty="0"/>
          </a:p>
        </p:txBody>
      </p:sp>
      <p:sp>
        <p:nvSpPr>
          <p:cNvPr id="20" name="Text 15"/>
          <p:cNvSpPr txBox="1"/>
          <p:nvPr/>
        </p:nvSpPr>
        <p:spPr>
          <a:xfrm>
            <a:off x="603504" y="5074920"/>
            <a:ext cx="658368" cy="228600"/>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ROLE</a:t>
            </a:r>
            <a:endParaRPr lang="en-US" sz="720" dirty="0"/>
          </a:p>
        </p:txBody>
      </p:sp>
      <p:sp>
        <p:nvSpPr>
          <p:cNvPr id="21" name="Text 16"/>
          <p:cNvSpPr txBox="1"/>
          <p:nvPr/>
        </p:nvSpPr>
        <p:spPr>
          <a:xfrm>
            <a:off x="1389888" y="5038344"/>
            <a:ext cx="9921240" cy="310896"/>
          </a:xfrm>
          <a:prstGeom prst="rect">
            <a:avLst/>
          </a:prstGeom>
          <a:noFill/>
          <a:ln/>
        </p:spPr>
        <p:txBody>
          <a:bodyPr wrap="square" lIns="0" tIns="0" rIns="0" bIns="0" rtlCol="0" anchor="ctr">
            <a:normAutofit/>
          </a:bodyPr>
          <a:lstStyle/>
          <a:p>
            <a:pPr algn="l" indent="0" marL="0">
              <a:buNone/>
            </a:pPr>
            <a:r>
              <a:rPr lang="en-US" sz="1080" b="1" dirty="0">
                <a:solidFill>
                  <a:srgbClr val="202526"/>
                </a:solidFill>
                <a:latin typeface="Noto Sans JP" pitchFamily="34" charset="0"/>
                <a:ea typeface="Noto Sans JP" pitchFamily="34" charset="-122"/>
                <a:cs typeface="Noto Sans JP" pitchFamily="34" charset="-120"/>
              </a:rPr>
              <a:t>グラフィック制作／大会ビジュアル設計／長文の組版</a:t>
            </a:r>
            <a:endParaRPr lang="en-US" sz="1080" dirty="0"/>
          </a:p>
        </p:txBody>
      </p:sp>
      <p:sp>
        <p:nvSpPr>
          <p:cNvPr id="22" name="Shape 17"/>
          <p:cNvSpPr/>
          <p:nvPr/>
        </p:nvSpPr>
        <p:spPr>
          <a:xfrm>
            <a:off x="566928" y="5394960"/>
            <a:ext cx="3520440" cy="868680"/>
          </a:xfrm>
          <a:prstGeom prst="roundRect">
            <a:avLst>
              <a:gd name="adj" fmla="val 8421"/>
            </a:avLst>
          </a:prstGeom>
          <a:solidFill>
            <a:srgbClr val="FFFFFF"/>
          </a:solidFill>
          <a:ln w="8890">
            <a:solidFill>
              <a:srgbClr val="FFFFFF">
                <a:alpha val="0"/>
              </a:srgbClr>
            </a:solidFill>
            <a:prstDash val="solid"/>
          </a:ln>
        </p:spPr>
      </p:sp>
      <p:sp>
        <p:nvSpPr>
          <p:cNvPr id="23" name="Text 18"/>
          <p:cNvSpPr txBox="1"/>
          <p:nvPr/>
        </p:nvSpPr>
        <p:spPr>
          <a:xfrm>
            <a:off x="731520" y="5522976"/>
            <a:ext cx="3191256"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① 格をつくる</a:t>
            </a:r>
            <a:endParaRPr lang="en-US" sz="1150" dirty="0"/>
          </a:p>
        </p:txBody>
      </p:sp>
      <p:sp>
        <p:nvSpPr>
          <p:cNvPr id="24" name="Text 19"/>
          <p:cNvSpPr txBox="1"/>
          <p:nvPr/>
        </p:nvSpPr>
        <p:spPr>
          <a:xfrm>
            <a:off x="731520" y="5852160"/>
            <a:ext cx="3191256" cy="26517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実写の質感と大きなロゴタイプで、地域大会に全国大会の空気をまとわせる。</a:t>
            </a:r>
            <a:endParaRPr lang="en-US" sz="900" dirty="0"/>
          </a:p>
        </p:txBody>
      </p:sp>
      <p:sp>
        <p:nvSpPr>
          <p:cNvPr id="25" name="Shape 20"/>
          <p:cNvSpPr/>
          <p:nvPr/>
        </p:nvSpPr>
        <p:spPr>
          <a:xfrm>
            <a:off x="4270248" y="5394960"/>
            <a:ext cx="3520440" cy="868680"/>
          </a:xfrm>
          <a:prstGeom prst="roundRect">
            <a:avLst>
              <a:gd name="adj" fmla="val 8421"/>
            </a:avLst>
          </a:prstGeom>
          <a:solidFill>
            <a:srgbClr val="DDEDF1"/>
          </a:solidFill>
          <a:ln w="8890">
            <a:solidFill>
              <a:srgbClr val="DDEDF1">
                <a:alpha val="0"/>
              </a:srgbClr>
            </a:solidFill>
            <a:prstDash val="solid"/>
          </a:ln>
        </p:spPr>
      </p:sp>
      <p:sp>
        <p:nvSpPr>
          <p:cNvPr id="26" name="Text 21"/>
          <p:cNvSpPr txBox="1"/>
          <p:nvPr/>
        </p:nvSpPr>
        <p:spPr>
          <a:xfrm>
            <a:off x="4434840" y="5522976"/>
            <a:ext cx="3191256"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② 長文を読ませる</a:t>
            </a:r>
            <a:endParaRPr lang="en-US" sz="1150" dirty="0"/>
          </a:p>
        </p:txBody>
      </p:sp>
      <p:sp>
        <p:nvSpPr>
          <p:cNvPr id="27" name="Text 22"/>
          <p:cNvSpPr txBox="1"/>
          <p:nvPr/>
        </p:nvSpPr>
        <p:spPr>
          <a:xfrm>
            <a:off x="4434840" y="5852160"/>
            <a:ext cx="3191256" cy="26517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協賛企業からのメッセージを、行間と段落の階層で読み飛ばされない密度に組む。</a:t>
            </a:r>
            <a:endParaRPr lang="en-US" sz="900" dirty="0"/>
          </a:p>
        </p:txBody>
      </p:sp>
      <p:sp>
        <p:nvSpPr>
          <p:cNvPr id="28" name="Shape 23"/>
          <p:cNvSpPr/>
          <p:nvPr/>
        </p:nvSpPr>
        <p:spPr>
          <a:xfrm>
            <a:off x="7973568" y="5394960"/>
            <a:ext cx="3520440" cy="868680"/>
          </a:xfrm>
          <a:prstGeom prst="roundRect">
            <a:avLst>
              <a:gd name="adj" fmla="val 8421"/>
            </a:avLst>
          </a:prstGeom>
          <a:solidFill>
            <a:srgbClr val="FFFFFF"/>
          </a:solidFill>
          <a:ln w="8890">
            <a:solidFill>
              <a:srgbClr val="FFFFFF">
                <a:alpha val="0"/>
              </a:srgbClr>
            </a:solidFill>
            <a:prstDash val="solid"/>
          </a:ln>
        </p:spPr>
      </p:sp>
      <p:sp>
        <p:nvSpPr>
          <p:cNvPr id="29" name="Text 24"/>
          <p:cNvSpPr txBox="1"/>
          <p:nvPr/>
        </p:nvSpPr>
        <p:spPr>
          <a:xfrm>
            <a:off x="8138160" y="5522976"/>
            <a:ext cx="3191256"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③ 情報を整理する</a:t>
            </a:r>
            <a:endParaRPr lang="en-US" sz="1150" dirty="0"/>
          </a:p>
        </p:txBody>
      </p:sp>
      <p:sp>
        <p:nvSpPr>
          <p:cNvPr id="30" name="Text 25"/>
          <p:cNvSpPr txBox="1"/>
          <p:nvPr/>
        </p:nvSpPr>
        <p:spPr>
          <a:xfrm>
            <a:off x="8138160" y="5852160"/>
            <a:ext cx="3191256" cy="26517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ゲスト6名の所属とJ通算成績を、対戦構図として1枚に収める。</a:t>
            </a:r>
            <a:endParaRPr lang="en-US" sz="9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15</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WORKS 03 / REELS</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Pound the Rock Design｜思想を、2秒で立ち止まらせる。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自社アカウントで、哲学・自己統治をテーマにした縦型リールを継続制作。</a:t>
            </a:r>
            <a:endParaRPr lang="en-US" sz="1050" dirty="0"/>
          </a:p>
        </p:txBody>
      </p:sp>
      <p:sp>
        <p:nvSpPr>
          <p:cNvPr id="6" name="Shape 4"/>
          <p:cNvSpPr/>
          <p:nvPr/>
        </p:nvSpPr>
        <p:spPr>
          <a:xfrm>
            <a:off x="566928" y="1783080"/>
            <a:ext cx="2240280" cy="3977640"/>
          </a:xfrm>
          <a:prstGeom prst="roundRect">
            <a:avLst>
              <a:gd name="adj" fmla="val 3265"/>
            </a:avLst>
          </a:prstGeom>
          <a:solidFill>
            <a:srgbClr val="202526"/>
          </a:solidFill>
          <a:ln w="8890">
            <a:solidFill>
              <a:srgbClr val="202526">
                <a:alpha val="0"/>
              </a:srgbClr>
            </a:solidFill>
            <a:prstDash val="solid"/>
          </a:ln>
        </p:spPr>
      </p:sp>
      <p:pic>
        <p:nvPicPr>
          <p:cNvPr id="7" name="Image 0" descr="/Users/imadatadahito/Desktop/ai-imadaruma/04_貿易省/文化庁/portfolio/assets/reels/PTRDinsta2024リール_ニーチェ流天才論.mp4.png">    </p:cNvPr>
          <p:cNvPicPr>
            <a:picLocks noChangeAspect="1"/>
          </p:cNvPicPr>
          <p:nvPr/>
        </p:nvPicPr>
        <p:blipFill>
          <a:blip r:embed="rId1"/>
          <a:stretch>
            <a:fillRect/>
          </a:stretch>
        </p:blipFill>
        <p:spPr>
          <a:xfrm>
            <a:off x="603504" y="1844612"/>
            <a:ext cx="2167128" cy="3854575"/>
          </a:xfrm>
          <a:prstGeom prst="rect">
            <a:avLst/>
          </a:prstGeom>
        </p:spPr>
      </p:pic>
      <p:sp>
        <p:nvSpPr>
          <p:cNvPr id="8" name="Shape 5"/>
          <p:cNvSpPr/>
          <p:nvPr/>
        </p:nvSpPr>
        <p:spPr>
          <a:xfrm>
            <a:off x="3017520" y="1783080"/>
            <a:ext cx="4160520" cy="3977640"/>
          </a:xfrm>
          <a:prstGeom prst="roundRect">
            <a:avLst>
              <a:gd name="adj" fmla="val 1839"/>
            </a:avLst>
          </a:prstGeom>
          <a:solidFill>
            <a:srgbClr val="202526"/>
          </a:solidFill>
          <a:ln w="8890">
            <a:solidFill>
              <a:srgbClr val="202526">
                <a:alpha val="0"/>
              </a:srgbClr>
            </a:solidFill>
            <a:prstDash val="solid"/>
          </a:ln>
        </p:spPr>
      </p:sp>
      <p:sp>
        <p:nvSpPr>
          <p:cNvPr id="9" name="Text 6"/>
          <p:cNvSpPr txBox="1"/>
          <p:nvPr/>
        </p:nvSpPr>
        <p:spPr>
          <a:xfrm>
            <a:off x="3246120" y="2011680"/>
            <a:ext cx="1828800" cy="219456"/>
          </a:xfrm>
          <a:prstGeom prst="rect">
            <a:avLst/>
          </a:prstGeom>
          <a:noFill/>
          <a:ln/>
        </p:spPr>
        <p:txBody>
          <a:bodyPr wrap="square" lIns="0" tIns="0" rIns="0" bIns="0" rtlCol="0" anchor="ctr">
            <a:normAutofit/>
          </a:bodyPr>
          <a:lstStyle/>
          <a:p>
            <a:pPr algn="l" indent="0" marL="0">
              <a:buNone/>
            </a:pPr>
            <a:r>
              <a:rPr lang="en-US" sz="720" b="1" spc="120" kern="0" dirty="0">
                <a:solidFill>
                  <a:srgbClr val="42AFC0"/>
                </a:solidFill>
                <a:latin typeface="Noto Sans JP" pitchFamily="34" charset="0"/>
                <a:ea typeface="Noto Sans JP" pitchFamily="34" charset="-122"/>
                <a:cs typeface="Noto Sans JP" pitchFamily="34" charset="-120"/>
              </a:rPr>
              <a:t>HOOK</a:t>
            </a:r>
            <a:endParaRPr lang="en-US" sz="720" dirty="0"/>
          </a:p>
        </p:txBody>
      </p:sp>
      <p:sp>
        <p:nvSpPr>
          <p:cNvPr id="10" name="Text 7"/>
          <p:cNvSpPr txBox="1"/>
          <p:nvPr/>
        </p:nvSpPr>
        <p:spPr>
          <a:xfrm>
            <a:off x="3246120" y="2331720"/>
            <a:ext cx="3749040" cy="45720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Noto Sans JP" pitchFamily="34" charset="0"/>
                <a:ea typeface="Noto Sans JP" pitchFamily="34" charset="-122"/>
                <a:cs typeface="Noto Sans JP" pitchFamily="34" charset="-120"/>
              </a:rPr>
              <a:t>「奇跡が起こったかのように」</a:t>
            </a:r>
            <a:endParaRPr lang="en-US" sz="1700" dirty="0"/>
          </a:p>
        </p:txBody>
      </p:sp>
      <p:sp>
        <p:nvSpPr>
          <p:cNvPr id="11" name="Text 8"/>
          <p:cNvSpPr txBox="1"/>
          <p:nvPr/>
        </p:nvSpPr>
        <p:spPr>
          <a:xfrm>
            <a:off x="3246120" y="2971800"/>
            <a:ext cx="3703320" cy="1005840"/>
          </a:xfrm>
          <a:prstGeom prst="rect">
            <a:avLst/>
          </a:prstGeom>
          <a:noFill/>
          <a:ln/>
        </p:spPr>
        <p:txBody>
          <a:bodyPr wrap="square" lIns="0" tIns="0" rIns="0" bIns="0" rtlCol="0" anchor="t">
            <a:normAutofit/>
          </a:bodyPr>
          <a:lstStyle/>
          <a:p>
            <a:pPr algn="l" indent="0" marL="0">
              <a:buNone/>
            </a:pPr>
            <a:r>
              <a:rPr lang="en-US" sz="960" dirty="0">
                <a:solidFill>
                  <a:srgbClr val="DDE3E2"/>
                </a:solidFill>
                <a:latin typeface="Noto Sans JP" pitchFamily="34" charset="0"/>
                <a:ea typeface="Noto Sans JP" pitchFamily="34" charset="-122"/>
                <a:cs typeface="Noto Sans JP" pitchFamily="34" charset="-120"/>
              </a:rPr>
              <a:t>結論を先に出さない。冒頭の一文だけでは意味が完結せず、続きを見ないと分からない状態をつくる。フィードを流す指を、まず止めることに全振りする。</a:t>
            </a:r>
            <a:endParaRPr lang="en-US" sz="960" dirty="0"/>
          </a:p>
        </p:txBody>
      </p:sp>
      <p:sp>
        <p:nvSpPr>
          <p:cNvPr id="12" name="Shape 9"/>
          <p:cNvSpPr/>
          <p:nvPr/>
        </p:nvSpPr>
        <p:spPr>
          <a:xfrm>
            <a:off x="3246120" y="4114800"/>
            <a:ext cx="3703320" cy="0"/>
          </a:xfrm>
          <a:prstGeom prst="line">
            <a:avLst/>
          </a:prstGeom>
          <a:noFill/>
          <a:ln w="19050">
            <a:solidFill>
              <a:srgbClr val="42AFC0"/>
            </a:solidFill>
            <a:prstDash val="solid"/>
            <a:headEnd type="none"/>
            <a:tailEnd type="none"/>
          </a:ln>
        </p:spPr>
      </p:sp>
      <p:sp>
        <p:nvSpPr>
          <p:cNvPr id="13" name="Text 10"/>
          <p:cNvSpPr txBox="1"/>
          <p:nvPr/>
        </p:nvSpPr>
        <p:spPr>
          <a:xfrm>
            <a:off x="3246120" y="4297680"/>
            <a:ext cx="3703320" cy="274320"/>
          </a:xfrm>
          <a:prstGeom prst="rect">
            <a:avLst/>
          </a:prstGeom>
          <a:noFill/>
          <a:ln/>
        </p:spPr>
        <p:txBody>
          <a:bodyPr wrap="square" lIns="0" tIns="0" rIns="0" bIns="0" rtlCol="0" anchor="ctr">
            <a:normAutofit/>
          </a:bodyPr>
          <a:lstStyle/>
          <a:p>
            <a:pPr algn="l" indent="0" marL="0">
              <a:buNone/>
            </a:pPr>
            <a:r>
              <a:rPr lang="en-US" sz="950" b="1" dirty="0">
                <a:solidFill>
                  <a:srgbClr val="42AFC0"/>
                </a:solidFill>
                <a:latin typeface="Noto Sans JP" pitchFamily="34" charset="0"/>
                <a:ea typeface="Noto Sans JP" pitchFamily="34" charset="-122"/>
                <a:cs typeface="Noto Sans JP" pitchFamily="34" charset="-120"/>
              </a:rPr>
              <a:t>テーマ：ニーチェ流 天才論</a:t>
            </a:r>
            <a:endParaRPr lang="en-US" sz="950" dirty="0"/>
          </a:p>
        </p:txBody>
      </p:sp>
      <p:sp>
        <p:nvSpPr>
          <p:cNvPr id="14" name="Text 11"/>
          <p:cNvSpPr txBox="1"/>
          <p:nvPr/>
        </p:nvSpPr>
        <p:spPr>
          <a:xfrm>
            <a:off x="3246120" y="4645152"/>
            <a:ext cx="3703320" cy="274320"/>
          </a:xfrm>
          <a:prstGeom prst="rect">
            <a:avLst/>
          </a:prstGeom>
          <a:noFill/>
          <a:ln/>
        </p:spPr>
        <p:txBody>
          <a:bodyPr wrap="square" lIns="0" tIns="0" rIns="0" bIns="0" rtlCol="0" anchor="ctr">
            <a:normAutofit/>
          </a:bodyPr>
          <a:lstStyle/>
          <a:p>
            <a:pPr algn="l" indent="0" marL="0">
              <a:buNone/>
            </a:pPr>
            <a:r>
              <a:rPr lang="en-US" sz="950" dirty="0">
                <a:solidFill>
                  <a:srgbClr val="DDE3E2"/>
                </a:solidFill>
                <a:latin typeface="Noto Sans JP" pitchFamily="34" charset="0"/>
                <a:ea typeface="Noto Sans JP" pitchFamily="34" charset="-122"/>
                <a:cs typeface="Noto Sans JP" pitchFamily="34" charset="-120"/>
              </a:rPr>
              <a:t>編集：Adobe Premiere Pro</a:t>
            </a:r>
            <a:endParaRPr lang="en-US" sz="950" dirty="0"/>
          </a:p>
        </p:txBody>
      </p:sp>
      <p:sp>
        <p:nvSpPr>
          <p:cNvPr id="15" name="Text 12"/>
          <p:cNvSpPr txBox="1"/>
          <p:nvPr/>
        </p:nvSpPr>
        <p:spPr>
          <a:xfrm>
            <a:off x="3246120" y="4992624"/>
            <a:ext cx="3703320" cy="274320"/>
          </a:xfrm>
          <a:prstGeom prst="rect">
            <a:avLst/>
          </a:prstGeom>
          <a:noFill/>
          <a:ln/>
        </p:spPr>
        <p:txBody>
          <a:bodyPr wrap="square" lIns="0" tIns="0" rIns="0" bIns="0" rtlCol="0" anchor="ctr">
            <a:normAutofit/>
          </a:bodyPr>
          <a:lstStyle/>
          <a:p>
            <a:pPr algn="l" indent="0" marL="0">
              <a:buNone/>
            </a:pPr>
            <a:r>
              <a:rPr lang="en-US" sz="950" dirty="0">
                <a:solidFill>
                  <a:srgbClr val="DDE3E2"/>
                </a:solidFill>
                <a:latin typeface="Noto Sans JP" pitchFamily="34" charset="0"/>
                <a:ea typeface="Noto Sans JP" pitchFamily="34" charset="-122"/>
                <a:cs typeface="Noto Sans JP" pitchFamily="34" charset="-120"/>
              </a:rPr>
              <a:t>形式：9:16 縦型リール</a:t>
            </a:r>
            <a:endParaRPr lang="en-US" sz="950" dirty="0"/>
          </a:p>
        </p:txBody>
      </p:sp>
      <p:sp>
        <p:nvSpPr>
          <p:cNvPr id="16" name="Shape 13"/>
          <p:cNvSpPr/>
          <p:nvPr/>
        </p:nvSpPr>
        <p:spPr>
          <a:xfrm>
            <a:off x="7406640" y="1783080"/>
            <a:ext cx="4224528" cy="1234440"/>
          </a:xfrm>
          <a:prstGeom prst="roundRect">
            <a:avLst>
              <a:gd name="adj" fmla="val 5926"/>
            </a:avLst>
          </a:prstGeom>
          <a:solidFill>
            <a:srgbClr val="FFFFFF"/>
          </a:solidFill>
          <a:ln w="8890">
            <a:solidFill>
              <a:srgbClr val="FFFFFF">
                <a:alpha val="0"/>
              </a:srgbClr>
            </a:solidFill>
            <a:prstDash val="solid"/>
          </a:ln>
        </p:spPr>
      </p:sp>
      <p:sp>
        <p:nvSpPr>
          <p:cNvPr id="17" name="Text 14"/>
          <p:cNvSpPr txBox="1"/>
          <p:nvPr/>
        </p:nvSpPr>
        <p:spPr>
          <a:xfrm>
            <a:off x="7571232" y="1911096"/>
            <a:ext cx="3895344"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画づくり</a:t>
            </a:r>
            <a:endParaRPr lang="en-US" sz="1150" dirty="0"/>
          </a:p>
        </p:txBody>
      </p:sp>
      <p:sp>
        <p:nvSpPr>
          <p:cNvPr id="18" name="Text 15"/>
          <p:cNvSpPr txBox="1"/>
          <p:nvPr/>
        </p:nvSpPr>
        <p:spPr>
          <a:xfrm>
            <a:off x="7571232" y="2240280"/>
            <a:ext cx="3895344" cy="63093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暗い背景に発光する被写体。タイムライン上で前後の投稿と輝度差が出る配色を選び、スクロール中でも視界に引っかかるようにする。</a:t>
            </a:r>
            <a:endParaRPr lang="en-US" sz="900" dirty="0"/>
          </a:p>
        </p:txBody>
      </p:sp>
      <p:sp>
        <p:nvSpPr>
          <p:cNvPr id="19" name="Shape 16"/>
          <p:cNvSpPr/>
          <p:nvPr/>
        </p:nvSpPr>
        <p:spPr>
          <a:xfrm>
            <a:off x="7406640" y="3136392"/>
            <a:ext cx="4224528" cy="1234440"/>
          </a:xfrm>
          <a:prstGeom prst="roundRect">
            <a:avLst>
              <a:gd name="adj" fmla="val 5926"/>
            </a:avLst>
          </a:prstGeom>
          <a:solidFill>
            <a:srgbClr val="DDEDF1"/>
          </a:solidFill>
          <a:ln w="8890">
            <a:solidFill>
              <a:srgbClr val="DDEDF1">
                <a:alpha val="0"/>
              </a:srgbClr>
            </a:solidFill>
            <a:prstDash val="solid"/>
          </a:ln>
        </p:spPr>
      </p:sp>
      <p:sp>
        <p:nvSpPr>
          <p:cNvPr id="20" name="Text 17"/>
          <p:cNvSpPr txBox="1"/>
          <p:nvPr/>
        </p:nvSpPr>
        <p:spPr>
          <a:xfrm>
            <a:off x="7571232" y="3264408"/>
            <a:ext cx="3895344"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縦組みの日本語</a:t>
            </a:r>
            <a:endParaRPr lang="en-US" sz="1150" dirty="0"/>
          </a:p>
        </p:txBody>
      </p:sp>
      <p:sp>
        <p:nvSpPr>
          <p:cNvPr id="21" name="Text 18"/>
          <p:cNvSpPr txBox="1"/>
          <p:nvPr/>
        </p:nvSpPr>
        <p:spPr>
          <a:xfrm>
            <a:off x="7571232" y="3593592"/>
            <a:ext cx="3895344" cy="63093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縦書きを画面中央に据える。横書きが並ぶタイムラインの中で異物になり、同時に世界観そのものを担わせる。</a:t>
            </a:r>
            <a:endParaRPr lang="en-US" sz="900" dirty="0"/>
          </a:p>
        </p:txBody>
      </p:sp>
      <p:sp>
        <p:nvSpPr>
          <p:cNvPr id="22" name="Shape 19"/>
          <p:cNvSpPr/>
          <p:nvPr/>
        </p:nvSpPr>
        <p:spPr>
          <a:xfrm>
            <a:off x="7406640" y="4489704"/>
            <a:ext cx="4224528" cy="1234440"/>
          </a:xfrm>
          <a:prstGeom prst="roundRect">
            <a:avLst>
              <a:gd name="adj" fmla="val 5926"/>
            </a:avLst>
          </a:prstGeom>
          <a:solidFill>
            <a:srgbClr val="FFFFFF"/>
          </a:solidFill>
          <a:ln w="8890">
            <a:solidFill>
              <a:srgbClr val="FFFFFF">
                <a:alpha val="0"/>
              </a:srgbClr>
            </a:solidFill>
            <a:prstDash val="solid"/>
          </a:ln>
        </p:spPr>
      </p:sp>
      <p:sp>
        <p:nvSpPr>
          <p:cNvPr id="23" name="Text 20"/>
          <p:cNvSpPr txBox="1"/>
          <p:nvPr/>
        </p:nvSpPr>
        <p:spPr>
          <a:xfrm>
            <a:off x="7571232" y="4617720"/>
            <a:ext cx="3895344"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続けられる型</a:t>
            </a:r>
            <a:endParaRPr lang="en-US" sz="1150" dirty="0"/>
          </a:p>
        </p:txBody>
      </p:sp>
      <p:sp>
        <p:nvSpPr>
          <p:cNvPr id="24" name="Text 21"/>
          <p:cNvSpPr txBox="1"/>
          <p:nvPr/>
        </p:nvSpPr>
        <p:spPr>
          <a:xfrm>
            <a:off x="7571232" y="4946904"/>
            <a:ext cx="3895344" cy="630936"/>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素材・配色・文字組みをテンプレート化。毎回ゼロから作らず、思想テーマだけを差し替えて量を出す。</a:t>
            </a:r>
            <a:endParaRPr lang="en-US" sz="900" dirty="0"/>
          </a:p>
        </p:txBody>
      </p:sp>
      <p:sp>
        <p:nvSpPr>
          <p:cNvPr id="25" name="Text 22"/>
          <p:cNvSpPr txBox="1"/>
          <p:nvPr/>
        </p:nvSpPr>
        <p:spPr>
          <a:xfrm>
            <a:off x="603504" y="5961888"/>
            <a:ext cx="658368" cy="228600"/>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ROLE</a:t>
            </a:r>
            <a:endParaRPr lang="en-US" sz="720" dirty="0"/>
          </a:p>
        </p:txBody>
      </p:sp>
      <p:sp>
        <p:nvSpPr>
          <p:cNvPr id="26" name="Text 23"/>
          <p:cNvSpPr txBox="1"/>
          <p:nvPr/>
        </p:nvSpPr>
        <p:spPr>
          <a:xfrm>
            <a:off x="1389888" y="5925312"/>
            <a:ext cx="9921240" cy="310896"/>
          </a:xfrm>
          <a:prstGeom prst="rect">
            <a:avLst/>
          </a:prstGeom>
          <a:noFill/>
          <a:ln/>
        </p:spPr>
        <p:txBody>
          <a:bodyPr wrap="square" lIns="0" tIns="0" rIns="0" bIns="0" rtlCol="0" anchor="ctr">
            <a:normAutofit/>
          </a:bodyPr>
          <a:lstStyle/>
          <a:p>
            <a:pPr algn="l" indent="0" marL="0">
              <a:buNone/>
            </a:pPr>
            <a:r>
              <a:rPr lang="en-US" sz="1080" b="1" dirty="0">
                <a:solidFill>
                  <a:srgbClr val="202526"/>
                </a:solidFill>
                <a:latin typeface="Noto Sans JP" pitchFamily="34" charset="0"/>
                <a:ea typeface="Noto Sans JP" pitchFamily="34" charset="-122"/>
                <a:cs typeface="Noto Sans JP" pitchFamily="34" charset="-120"/>
              </a:rPr>
              <a:t>企画／構成・コピー／デザイン／動画編集</a:t>
            </a:r>
            <a:endParaRPr lang="en-US" sz="108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16</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WORKS 04 / REELS</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現場を、そのままブランドの素材にする。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撮って出しにせず、「誰の発信か」が一目で分かる状態まで作り込む。</a:t>
            </a:r>
            <a:endParaRPr lang="en-US" sz="1050" dirty="0"/>
          </a:p>
        </p:txBody>
      </p:sp>
      <p:sp>
        <p:nvSpPr>
          <p:cNvPr id="6" name="Shape 4"/>
          <p:cNvSpPr/>
          <p:nvPr/>
        </p:nvSpPr>
        <p:spPr>
          <a:xfrm>
            <a:off x="566928" y="1783080"/>
            <a:ext cx="2240280" cy="3703320"/>
          </a:xfrm>
          <a:prstGeom prst="roundRect">
            <a:avLst>
              <a:gd name="adj" fmla="val 3265"/>
            </a:avLst>
          </a:prstGeom>
          <a:solidFill>
            <a:srgbClr val="202526"/>
          </a:solidFill>
          <a:ln w="8890">
            <a:solidFill>
              <a:srgbClr val="202526">
                <a:alpha val="0"/>
              </a:srgbClr>
            </a:solidFill>
            <a:prstDash val="solid"/>
          </a:ln>
        </p:spPr>
      </p:sp>
      <p:pic>
        <p:nvPicPr>
          <p:cNvPr id="7" name="Image 0" descr="/Users/imadatadahito/Desktop/ai-imadaruma/04_貿易省/文化庁/portfolio/assets/reels/imadaruma.soundリール05ブリッジヘア (1).mp4.png">    </p:cNvPr>
          <p:cNvPicPr>
            <a:picLocks noChangeAspect="1"/>
          </p:cNvPicPr>
          <p:nvPr/>
        </p:nvPicPr>
        <p:blipFill>
          <a:blip r:embed="rId1"/>
          <a:stretch>
            <a:fillRect/>
          </a:stretch>
        </p:blipFill>
        <p:spPr>
          <a:xfrm>
            <a:off x="666587" y="1819656"/>
            <a:ext cx="2040961" cy="3630168"/>
          </a:xfrm>
          <a:prstGeom prst="rect">
            <a:avLst/>
          </a:prstGeom>
        </p:spPr>
      </p:pic>
      <p:sp>
        <p:nvSpPr>
          <p:cNvPr id="8" name="Shape 5"/>
          <p:cNvSpPr/>
          <p:nvPr/>
        </p:nvSpPr>
        <p:spPr>
          <a:xfrm>
            <a:off x="3017520" y="1783080"/>
            <a:ext cx="2926080" cy="3703320"/>
          </a:xfrm>
          <a:prstGeom prst="roundRect">
            <a:avLst>
              <a:gd name="adj" fmla="val 2500"/>
            </a:avLst>
          </a:prstGeom>
          <a:solidFill>
            <a:srgbClr val="FFFFFF"/>
          </a:solidFill>
          <a:ln w="8890">
            <a:solidFill>
              <a:srgbClr val="FFFFFF">
                <a:alpha val="0"/>
              </a:srgbClr>
            </a:solidFill>
            <a:prstDash val="solid"/>
          </a:ln>
        </p:spPr>
      </p:sp>
      <p:sp>
        <p:nvSpPr>
          <p:cNvPr id="9" name="Text 6"/>
          <p:cNvSpPr txBox="1"/>
          <p:nvPr/>
        </p:nvSpPr>
        <p:spPr>
          <a:xfrm>
            <a:off x="3218688" y="1993392"/>
            <a:ext cx="2560320" cy="310896"/>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imadaruma.sound</a:t>
            </a:r>
            <a:endParaRPr lang="en-US" sz="1300" dirty="0"/>
          </a:p>
        </p:txBody>
      </p:sp>
      <p:sp>
        <p:nvSpPr>
          <p:cNvPr id="10" name="Text 7"/>
          <p:cNvSpPr txBox="1"/>
          <p:nvPr/>
        </p:nvSpPr>
        <p:spPr>
          <a:xfrm>
            <a:off x="3218688" y="2340864"/>
            <a:ext cx="2560320" cy="237744"/>
          </a:xfrm>
          <a:prstGeom prst="rect">
            <a:avLst/>
          </a:prstGeom>
          <a:noFill/>
          <a:ln/>
        </p:spPr>
        <p:txBody>
          <a:bodyPr wrap="square" lIns="0" tIns="0" rIns="0" bIns="0" rtlCol="0" anchor="ctr">
            <a:normAutofit/>
          </a:bodyPr>
          <a:lstStyle/>
          <a:p>
            <a:pPr algn="l" indent="0" marL="0">
              <a:buNone/>
            </a:pPr>
            <a:r>
              <a:rPr lang="en-US" sz="850" b="1" dirty="0">
                <a:solidFill>
                  <a:srgbClr val="188CA1"/>
                </a:solidFill>
                <a:latin typeface="Noto Sans JP" pitchFamily="34" charset="0"/>
                <a:ea typeface="Noto Sans JP" pitchFamily="34" charset="-122"/>
                <a:cs typeface="Noto Sans JP" pitchFamily="34" charset="-120"/>
              </a:rPr>
              <a:t>店舗ブランディング</a:t>
            </a:r>
            <a:endParaRPr lang="en-US" sz="850" dirty="0"/>
          </a:p>
        </p:txBody>
      </p:sp>
      <p:sp>
        <p:nvSpPr>
          <p:cNvPr id="11" name="Shape 8"/>
          <p:cNvSpPr/>
          <p:nvPr/>
        </p:nvSpPr>
        <p:spPr>
          <a:xfrm>
            <a:off x="3218688" y="2670048"/>
            <a:ext cx="2523744" cy="0"/>
          </a:xfrm>
          <a:prstGeom prst="line">
            <a:avLst/>
          </a:prstGeom>
          <a:noFill/>
          <a:ln w="12700">
            <a:solidFill>
              <a:srgbClr val="DDE3E2"/>
            </a:solidFill>
            <a:prstDash val="solid"/>
            <a:headEnd type="none"/>
            <a:tailEnd type="none"/>
          </a:ln>
        </p:spPr>
      </p:sp>
      <p:sp>
        <p:nvSpPr>
          <p:cNvPr id="12" name="Text 9"/>
          <p:cNvSpPr txBox="1"/>
          <p:nvPr/>
        </p:nvSpPr>
        <p:spPr>
          <a:xfrm>
            <a:off x="3218688" y="2834640"/>
            <a:ext cx="2523744" cy="2468880"/>
          </a:xfrm>
          <a:prstGeom prst="rect">
            <a:avLst/>
          </a:prstGeom>
          <a:noFill/>
          <a:ln/>
        </p:spPr>
        <p:txBody>
          <a:bodyPr wrap="square" lIns="0" tIns="0" rIns="0" bIns="0" rtlCol="0" anchor="t">
            <a:normAutofit/>
          </a:bodyPr>
          <a:lstStyle/>
          <a:p>
            <a:pPr algn="l" indent="0" marL="0">
              <a:buNone/>
            </a:pPr>
            <a:r>
              <a:rPr lang="en-US" sz="920" dirty="0">
                <a:solidFill>
                  <a:srgbClr val="687174"/>
                </a:solidFill>
                <a:latin typeface="Noto Sans JP" pitchFamily="34" charset="0"/>
                <a:ea typeface="Noto Sans JP" pitchFamily="34" charset="-122"/>
                <a:cs typeface="Noto Sans JP" pitchFamily="34" charset="-120"/>
              </a:rPr>
              <a:t>店舗の外観から入り、ガラス越しに店内へ視線を送る導入。何の店で、どんな空気かを、説明せずに見せる。</a:t>
            </a:r>
            <a:endParaRPr lang="en-US" sz="920" dirty="0"/>
          </a:p>
          <a:p>
            <a:pPr algn="l" indent="0" marL="0">
              <a:buNone/>
            </a:pPr>
            <a:endParaRPr lang="en-US" sz="920" dirty="0"/>
          </a:p>
          <a:p>
            <a:pPr algn="l" indent="0" marL="0">
              <a:buNone/>
            </a:pPr>
            <a:r>
              <a:rPr lang="en-US" sz="920" dirty="0">
                <a:solidFill>
                  <a:srgbClr val="687174"/>
                </a:solidFill>
                <a:latin typeface="Noto Sans JP" pitchFamily="34" charset="0"/>
                <a:ea typeface="Noto Sans JP" pitchFamily="34" charset="-122"/>
                <a:cs typeface="Noto Sans JP" pitchFamily="34" charset="-120"/>
              </a:rPr>
              <a:t>右上にロゴを常時表示し、リポストや保存で文脈が外れても発信元が分かる状態を保つ。</a:t>
            </a:r>
            <a:endParaRPr lang="en-US" sz="920" dirty="0"/>
          </a:p>
        </p:txBody>
      </p:sp>
      <p:sp>
        <p:nvSpPr>
          <p:cNvPr id="13" name="Shape 10"/>
          <p:cNvSpPr/>
          <p:nvPr/>
        </p:nvSpPr>
        <p:spPr>
          <a:xfrm>
            <a:off x="6172200" y="1783080"/>
            <a:ext cx="2240280" cy="3703320"/>
          </a:xfrm>
          <a:prstGeom prst="roundRect">
            <a:avLst>
              <a:gd name="adj" fmla="val 3265"/>
            </a:avLst>
          </a:prstGeom>
          <a:solidFill>
            <a:srgbClr val="202526"/>
          </a:solidFill>
          <a:ln w="8890">
            <a:solidFill>
              <a:srgbClr val="202526">
                <a:alpha val="0"/>
              </a:srgbClr>
            </a:solidFill>
            <a:prstDash val="solid"/>
          </a:ln>
        </p:spPr>
      </p:sp>
      <p:pic>
        <p:nvPicPr>
          <p:cNvPr id="14" name="Image 1" descr="/Users/imadatadahito/Desktop/ai-imadaruma/04_貿易省/文化庁/portfolio/assets/reels/rex-trainingcamp.mp4.png">    </p:cNvPr>
          <p:cNvPicPr>
            <a:picLocks noChangeAspect="1"/>
          </p:cNvPicPr>
          <p:nvPr/>
        </p:nvPicPr>
        <p:blipFill>
          <a:blip r:embed="rId2"/>
          <a:stretch>
            <a:fillRect/>
          </a:stretch>
        </p:blipFill>
        <p:spPr>
          <a:xfrm>
            <a:off x="6271859" y="1819656"/>
            <a:ext cx="2040961" cy="3630168"/>
          </a:xfrm>
          <a:prstGeom prst="rect">
            <a:avLst/>
          </a:prstGeom>
        </p:spPr>
      </p:pic>
      <p:sp>
        <p:nvSpPr>
          <p:cNvPr id="15" name="Shape 11"/>
          <p:cNvSpPr/>
          <p:nvPr/>
        </p:nvSpPr>
        <p:spPr>
          <a:xfrm>
            <a:off x="8622792" y="1783080"/>
            <a:ext cx="3008376" cy="3703320"/>
          </a:xfrm>
          <a:prstGeom prst="roundRect">
            <a:avLst>
              <a:gd name="adj" fmla="val 2432"/>
            </a:avLst>
          </a:prstGeom>
          <a:solidFill>
            <a:srgbClr val="DDEDF1"/>
          </a:solidFill>
          <a:ln w="8890">
            <a:solidFill>
              <a:srgbClr val="DDEDF1">
                <a:alpha val="0"/>
              </a:srgbClr>
            </a:solidFill>
            <a:prstDash val="solid"/>
          </a:ln>
        </p:spPr>
      </p:sp>
      <p:sp>
        <p:nvSpPr>
          <p:cNvPr id="16" name="Text 12"/>
          <p:cNvSpPr txBox="1"/>
          <p:nvPr/>
        </p:nvSpPr>
        <p:spPr>
          <a:xfrm>
            <a:off x="8823960" y="1993392"/>
            <a:ext cx="2651760" cy="310896"/>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CFC REX 筑紫</a:t>
            </a:r>
            <a:endParaRPr lang="en-US" sz="1300" dirty="0"/>
          </a:p>
        </p:txBody>
      </p:sp>
      <p:sp>
        <p:nvSpPr>
          <p:cNvPr id="17" name="Text 13"/>
          <p:cNvSpPr txBox="1"/>
          <p:nvPr/>
        </p:nvSpPr>
        <p:spPr>
          <a:xfrm>
            <a:off x="8823960" y="2340864"/>
            <a:ext cx="2651760" cy="237744"/>
          </a:xfrm>
          <a:prstGeom prst="rect">
            <a:avLst/>
          </a:prstGeom>
          <a:noFill/>
          <a:ln/>
        </p:spPr>
        <p:txBody>
          <a:bodyPr wrap="square" lIns="0" tIns="0" rIns="0" bIns="0" rtlCol="0" anchor="ctr">
            <a:normAutofit/>
          </a:bodyPr>
          <a:lstStyle/>
          <a:p>
            <a:pPr algn="l" indent="0" marL="0">
              <a:buNone/>
            </a:pPr>
            <a:r>
              <a:rPr lang="en-US" sz="850" b="1" dirty="0">
                <a:solidFill>
                  <a:srgbClr val="188CA1"/>
                </a:solidFill>
                <a:latin typeface="Noto Sans JP" pitchFamily="34" charset="0"/>
                <a:ea typeface="Noto Sans JP" pitchFamily="34" charset="-122"/>
                <a:cs typeface="Noto Sans JP" pitchFamily="34" charset="-120"/>
              </a:rPr>
              <a:t>スポーツクラブ｜合宿レポート</a:t>
            </a:r>
            <a:endParaRPr lang="en-US" sz="850" dirty="0"/>
          </a:p>
        </p:txBody>
      </p:sp>
      <p:sp>
        <p:nvSpPr>
          <p:cNvPr id="18" name="Shape 14"/>
          <p:cNvSpPr/>
          <p:nvPr/>
        </p:nvSpPr>
        <p:spPr>
          <a:xfrm>
            <a:off x="8823960" y="2670048"/>
            <a:ext cx="2606040" cy="0"/>
          </a:xfrm>
          <a:prstGeom prst="line">
            <a:avLst/>
          </a:prstGeom>
          <a:noFill/>
          <a:ln w="15240">
            <a:solidFill>
              <a:srgbClr val="FFFFFF"/>
            </a:solidFill>
            <a:prstDash val="solid"/>
            <a:headEnd type="none"/>
            <a:tailEnd type="none"/>
          </a:ln>
        </p:spPr>
      </p:sp>
      <p:sp>
        <p:nvSpPr>
          <p:cNvPr id="19" name="Text 15"/>
          <p:cNvSpPr txBox="1"/>
          <p:nvPr/>
        </p:nvSpPr>
        <p:spPr>
          <a:xfrm>
            <a:off x="8823960" y="2834640"/>
            <a:ext cx="2606040" cy="2468880"/>
          </a:xfrm>
          <a:prstGeom prst="rect">
            <a:avLst/>
          </a:prstGeom>
          <a:noFill/>
          <a:ln/>
        </p:spPr>
        <p:txBody>
          <a:bodyPr wrap="square" lIns="0" tIns="0" rIns="0" bIns="0" rtlCol="0" anchor="t">
            <a:normAutofit/>
          </a:bodyPr>
          <a:lstStyle/>
          <a:p>
            <a:pPr algn="l" indent="0" marL="0">
              <a:buNone/>
            </a:pPr>
            <a:r>
              <a:rPr lang="en-US" sz="920" dirty="0">
                <a:solidFill>
                  <a:srgbClr val="687174"/>
                </a:solidFill>
                <a:latin typeface="Noto Sans JP" pitchFamily="34" charset="0"/>
                <a:ea typeface="Noto Sans JP" pitchFamily="34" charset="-122"/>
                <a:cs typeface="Noto Sans JP" pitchFamily="34" charset="-120"/>
              </a:rPr>
              <a:t>練習風景を4分割グリッドで構成し、短い尺に複数カットを収める。「どんな活動をしているか」を一度に伝える。</a:t>
            </a:r>
            <a:endParaRPr lang="en-US" sz="920" dirty="0"/>
          </a:p>
          <a:p>
            <a:pPr algn="l" indent="0" marL="0">
              <a:buNone/>
            </a:pPr>
            <a:endParaRPr lang="en-US" sz="920" dirty="0"/>
          </a:p>
          <a:p>
            <a:pPr algn="l" indent="0" marL="0">
              <a:buNone/>
            </a:pPr>
            <a:r>
              <a:rPr lang="en-US" sz="920" dirty="0">
                <a:solidFill>
                  <a:srgbClr val="687174"/>
                </a:solidFill>
                <a:latin typeface="Noto Sans JP" pitchFamily="34" charset="0"/>
                <a:ea typeface="Noto Sans JP" pitchFamily="34" charset="-122"/>
                <a:cs typeface="Noto Sans JP" pitchFamily="34" charset="-120"/>
              </a:rPr>
              <a:t>中央にクラブエンブレムを重ね、選手・保護者・見込み入団者の誰が見てもクラブの公式発信だと分かるようにする。</a:t>
            </a:r>
            <a:endParaRPr lang="en-US" sz="920" dirty="0"/>
          </a:p>
        </p:txBody>
      </p:sp>
      <p:sp>
        <p:nvSpPr>
          <p:cNvPr id="20" name="Text 16"/>
          <p:cNvSpPr txBox="1"/>
          <p:nvPr/>
        </p:nvSpPr>
        <p:spPr>
          <a:xfrm>
            <a:off x="603504" y="5669280"/>
            <a:ext cx="658368" cy="228600"/>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ROLE</a:t>
            </a:r>
            <a:endParaRPr lang="en-US" sz="720" dirty="0"/>
          </a:p>
        </p:txBody>
      </p:sp>
      <p:sp>
        <p:nvSpPr>
          <p:cNvPr id="21" name="Text 17"/>
          <p:cNvSpPr txBox="1"/>
          <p:nvPr/>
        </p:nvSpPr>
        <p:spPr>
          <a:xfrm>
            <a:off x="1389888" y="5632704"/>
            <a:ext cx="9921240" cy="310896"/>
          </a:xfrm>
          <a:prstGeom prst="rect">
            <a:avLst/>
          </a:prstGeom>
          <a:noFill/>
          <a:ln/>
        </p:spPr>
        <p:txBody>
          <a:bodyPr wrap="square" lIns="0" tIns="0" rIns="0" bIns="0" rtlCol="0" anchor="ctr">
            <a:normAutofit/>
          </a:bodyPr>
          <a:lstStyle/>
          <a:p>
            <a:pPr algn="l" indent="0" marL="0">
              <a:buNone/>
            </a:pPr>
            <a:r>
              <a:rPr lang="en-US" sz="1080" b="1" dirty="0">
                <a:solidFill>
                  <a:srgbClr val="202526"/>
                </a:solidFill>
                <a:latin typeface="Noto Sans JP" pitchFamily="34" charset="0"/>
                <a:ea typeface="Noto Sans JP" pitchFamily="34" charset="-122"/>
                <a:cs typeface="Noto Sans JP" pitchFamily="34" charset="-120"/>
              </a:rPr>
              <a:t>撮影素材の編集／構成設計／ブランド要素の実装</a:t>
            </a:r>
            <a:endParaRPr lang="en-US" sz="1080" dirty="0"/>
          </a:p>
        </p:txBody>
      </p:sp>
      <p:sp>
        <p:nvSpPr>
          <p:cNvPr id="22" name="Text 18"/>
          <p:cNvSpPr txBox="1"/>
          <p:nvPr/>
        </p:nvSpPr>
        <p:spPr>
          <a:xfrm>
            <a:off x="603504" y="6053328"/>
            <a:ext cx="10972800" cy="274320"/>
          </a:xfrm>
          <a:prstGeom prst="rect">
            <a:avLst/>
          </a:prstGeom>
          <a:noFill/>
          <a:ln/>
        </p:spPr>
        <p:txBody>
          <a:bodyPr wrap="square" lIns="0" tIns="0" rIns="0" bIns="0" rtlCol="0" anchor="ctr">
            <a:normAutofit/>
          </a:bodyPr>
          <a:lstStyle/>
          <a:p>
            <a:pPr algn="l" indent="0" marL="0">
              <a:buNone/>
            </a:pPr>
            <a:r>
              <a:rPr lang="en-US" sz="850" dirty="0">
                <a:solidFill>
                  <a:srgbClr val="687174"/>
                </a:solidFill>
                <a:latin typeface="Noto Sans JP" pitchFamily="34" charset="0"/>
                <a:ea typeface="Noto Sans JP" pitchFamily="34" charset="-122"/>
                <a:cs typeface="Noto Sans JP" pitchFamily="34" charset="-120"/>
              </a:rPr>
              <a:t>※ 掲載中の映像はいずれも縦型（9:16）リール。静止画はサムネイル用に書き出したものです。</a:t>
            </a:r>
            <a:endParaRPr lang="en-US" sz="85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17</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WORKS 05 / SPORTS BRANDING</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スポーツクラブ｜らしさが伝わる、チームの顔づくり。</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ロゴ・エンブレムからSNSビジュアルまで、一貫したトーンを設計。</a:t>
            </a:r>
            <a:endParaRPr lang="en-US" sz="1050" dirty="0"/>
          </a:p>
        </p:txBody>
      </p:sp>
      <p:sp>
        <p:nvSpPr>
          <p:cNvPr id="6" name="Shape 4"/>
          <p:cNvSpPr/>
          <p:nvPr/>
        </p:nvSpPr>
        <p:spPr>
          <a:xfrm>
            <a:off x="566928" y="1856232"/>
            <a:ext cx="2395728" cy="2395728"/>
          </a:xfrm>
          <a:prstGeom prst="roundRect">
            <a:avLst>
              <a:gd name="adj" fmla="val 3053"/>
            </a:avLst>
          </a:prstGeom>
          <a:solidFill>
            <a:srgbClr val="FFFFFF"/>
          </a:solidFill>
          <a:ln w="8890">
            <a:solidFill>
              <a:srgbClr val="FFFFFF">
                <a:alpha val="0"/>
              </a:srgbClr>
            </a:solidFill>
            <a:prstDash val="solid"/>
          </a:ln>
        </p:spPr>
      </p:sp>
      <p:pic>
        <p:nvPicPr>
          <p:cNvPr id="7" name="Image 0" descr="/Volumes/HDPH-macOS拡張/フレスト筑紫/ロゴ-エンブレム/フレスト2021エンブレム.jpg">    </p:cNvPr>
          <p:cNvPicPr>
            <a:picLocks noChangeAspect="1"/>
          </p:cNvPicPr>
          <p:nvPr/>
        </p:nvPicPr>
        <p:blipFill>
          <a:blip r:embed="rId1"/>
          <a:stretch>
            <a:fillRect/>
          </a:stretch>
        </p:blipFill>
        <p:spPr>
          <a:xfrm>
            <a:off x="676656" y="1965960"/>
            <a:ext cx="2176272" cy="2176272"/>
          </a:xfrm>
          <a:prstGeom prst="rect">
            <a:avLst/>
          </a:prstGeom>
        </p:spPr>
      </p:pic>
      <p:sp>
        <p:nvSpPr>
          <p:cNvPr id="8" name="Shape 5"/>
          <p:cNvSpPr/>
          <p:nvPr/>
        </p:nvSpPr>
        <p:spPr>
          <a:xfrm>
            <a:off x="3200400" y="1856232"/>
            <a:ext cx="2395728" cy="2395728"/>
          </a:xfrm>
          <a:prstGeom prst="roundRect">
            <a:avLst>
              <a:gd name="adj" fmla="val 3053"/>
            </a:avLst>
          </a:prstGeom>
          <a:solidFill>
            <a:srgbClr val="FFFFFF"/>
          </a:solidFill>
          <a:ln w="8890">
            <a:solidFill>
              <a:srgbClr val="FFFFFF">
                <a:alpha val="0"/>
              </a:srgbClr>
            </a:solidFill>
            <a:prstDash val="solid"/>
          </a:ln>
        </p:spPr>
      </p:sp>
      <p:pic>
        <p:nvPicPr>
          <p:cNvPr id="9" name="Image 1" descr="/Volumes/HDPH-macOS拡張/レックス筑紫/ロゴ/recfc-エンブレム2023フルカラー.png">    </p:cNvPr>
          <p:cNvPicPr>
            <a:picLocks noChangeAspect="1"/>
          </p:cNvPicPr>
          <p:nvPr/>
        </p:nvPicPr>
        <p:blipFill>
          <a:blip r:embed="rId2"/>
          <a:stretch>
            <a:fillRect/>
          </a:stretch>
        </p:blipFill>
        <p:spPr>
          <a:xfrm>
            <a:off x="3310128" y="1965960"/>
            <a:ext cx="2176272" cy="2176272"/>
          </a:xfrm>
          <a:prstGeom prst="rect">
            <a:avLst/>
          </a:prstGeom>
        </p:spPr>
      </p:pic>
      <p:sp>
        <p:nvSpPr>
          <p:cNvPr id="10" name="Shape 6"/>
          <p:cNvSpPr/>
          <p:nvPr/>
        </p:nvSpPr>
        <p:spPr>
          <a:xfrm>
            <a:off x="5833872" y="1856232"/>
            <a:ext cx="2395728" cy="2395728"/>
          </a:xfrm>
          <a:prstGeom prst="roundRect">
            <a:avLst>
              <a:gd name="adj" fmla="val 3053"/>
            </a:avLst>
          </a:prstGeom>
          <a:solidFill>
            <a:srgbClr val="202526"/>
          </a:solidFill>
          <a:ln w="8890">
            <a:solidFill>
              <a:srgbClr val="202526">
                <a:alpha val="0"/>
              </a:srgbClr>
            </a:solidFill>
            <a:prstDash val="solid"/>
          </a:ln>
        </p:spPr>
      </p:sp>
      <p:pic>
        <p:nvPicPr>
          <p:cNvPr id="11" name="Image 2" descr="/Volumes/HDPH-macOS拡張/レックス筑紫/SNS/facebook/rexfc-insta01.jpg">    </p:cNvPr>
          <p:cNvPicPr>
            <a:picLocks noChangeAspect="1"/>
          </p:cNvPicPr>
          <p:nvPr/>
        </p:nvPicPr>
        <p:blipFill>
          <a:blip r:embed="rId3"/>
          <a:stretch>
            <a:fillRect/>
          </a:stretch>
        </p:blipFill>
        <p:spPr>
          <a:xfrm>
            <a:off x="5870448" y="1892808"/>
            <a:ext cx="2322576" cy="2322576"/>
          </a:xfrm>
          <a:prstGeom prst="rect">
            <a:avLst/>
          </a:prstGeom>
        </p:spPr>
      </p:pic>
      <p:sp>
        <p:nvSpPr>
          <p:cNvPr id="12" name="Shape 7"/>
          <p:cNvSpPr/>
          <p:nvPr/>
        </p:nvSpPr>
        <p:spPr>
          <a:xfrm>
            <a:off x="8467344" y="1856232"/>
            <a:ext cx="3163824" cy="2395728"/>
          </a:xfrm>
          <a:prstGeom prst="roundRect">
            <a:avLst>
              <a:gd name="adj" fmla="val 3053"/>
            </a:avLst>
          </a:prstGeom>
          <a:solidFill>
            <a:srgbClr val="DDEDF1"/>
          </a:solidFill>
          <a:ln w="8890">
            <a:solidFill>
              <a:srgbClr val="DDEDF1">
                <a:alpha val="0"/>
              </a:srgbClr>
            </a:solidFill>
            <a:prstDash val="solid"/>
          </a:ln>
        </p:spPr>
      </p:sp>
      <p:sp>
        <p:nvSpPr>
          <p:cNvPr id="13" name="Text 8"/>
          <p:cNvSpPr txBox="1"/>
          <p:nvPr/>
        </p:nvSpPr>
        <p:spPr>
          <a:xfrm>
            <a:off x="8686800" y="2066544"/>
            <a:ext cx="1828800" cy="219456"/>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CLUBS</a:t>
            </a:r>
            <a:endParaRPr lang="en-US" sz="720" dirty="0"/>
          </a:p>
        </p:txBody>
      </p:sp>
      <p:sp>
        <p:nvSpPr>
          <p:cNvPr id="14" name="Text 9"/>
          <p:cNvSpPr txBox="1"/>
          <p:nvPr/>
        </p:nvSpPr>
        <p:spPr>
          <a:xfrm>
            <a:off x="8686800" y="2340864"/>
            <a:ext cx="2743200" cy="603504"/>
          </a:xfrm>
          <a:prstGeom prst="rect">
            <a:avLst/>
          </a:prstGeom>
          <a:noFill/>
          <a:ln/>
        </p:spPr>
        <p:txBody>
          <a:bodyPr wrap="square" lIns="0" tIns="0" rIns="0" bIns="0" rtlCol="0" anchor="t">
            <a:normAutofit/>
          </a:bodyPr>
          <a:lstStyle/>
          <a:p>
            <a:pPr algn="l" indent="0" marL="0">
              <a:buNone/>
            </a:pPr>
            <a:r>
              <a:rPr lang="en-US" sz="1250" b="1" dirty="0">
                <a:solidFill>
                  <a:srgbClr val="202526"/>
                </a:solidFill>
                <a:latin typeface="Noto Sans JP" pitchFamily="34" charset="0"/>
                <a:ea typeface="Noto Sans JP" pitchFamily="34" charset="-122"/>
                <a:cs typeface="Noto Sans JP" pitchFamily="34" charset="-120"/>
              </a:rPr>
              <a:t>フレスト筑紫</a:t>
            </a:r>
            <a:endParaRPr lang="en-US" sz="1250" dirty="0"/>
          </a:p>
          <a:p>
            <a:pPr algn="l" indent="0" marL="0">
              <a:buNone/>
            </a:pPr>
            <a:r>
              <a:rPr lang="en-US" sz="1250" b="1" dirty="0">
                <a:solidFill>
                  <a:srgbClr val="202526"/>
                </a:solidFill>
                <a:latin typeface="Noto Sans JP" pitchFamily="34" charset="0"/>
                <a:ea typeface="Noto Sans JP" pitchFamily="34" charset="-122"/>
                <a:cs typeface="Noto Sans JP" pitchFamily="34" charset="-120"/>
              </a:rPr>
              <a:t>CFC REX 筑紫</a:t>
            </a:r>
            <a:endParaRPr lang="en-US" sz="1250" dirty="0"/>
          </a:p>
        </p:txBody>
      </p:sp>
      <p:sp>
        <p:nvSpPr>
          <p:cNvPr id="15" name="Shape 10"/>
          <p:cNvSpPr/>
          <p:nvPr/>
        </p:nvSpPr>
        <p:spPr>
          <a:xfrm>
            <a:off x="8686800" y="3035808"/>
            <a:ext cx="2743200" cy="0"/>
          </a:xfrm>
          <a:prstGeom prst="line">
            <a:avLst/>
          </a:prstGeom>
          <a:noFill/>
          <a:ln w="15240">
            <a:solidFill>
              <a:srgbClr val="FFFFFF"/>
            </a:solidFill>
            <a:prstDash val="solid"/>
            <a:headEnd type="none"/>
            <a:tailEnd type="none"/>
          </a:ln>
        </p:spPr>
      </p:sp>
      <p:sp>
        <p:nvSpPr>
          <p:cNvPr id="16" name="Text 11"/>
          <p:cNvSpPr txBox="1"/>
          <p:nvPr/>
        </p:nvSpPr>
        <p:spPr>
          <a:xfrm>
            <a:off x="8686800" y="3200400"/>
            <a:ext cx="2743200" cy="914400"/>
          </a:xfrm>
          <a:prstGeom prst="rect">
            <a:avLst/>
          </a:prstGeom>
          <a:noFill/>
          <a:ln/>
        </p:spPr>
        <p:txBody>
          <a:bodyPr wrap="square" lIns="0" tIns="0" rIns="0" bIns="0" rtlCol="0" anchor="t">
            <a:normAutofit/>
          </a:bodyPr>
          <a:lstStyle/>
          <a:p>
            <a:pPr algn="l" indent="0" marL="0">
              <a:buNone/>
            </a:pPr>
            <a:r>
              <a:rPr lang="en-US" sz="920" dirty="0">
                <a:solidFill>
                  <a:srgbClr val="687174"/>
                </a:solidFill>
                <a:latin typeface="Noto Sans JP" pitchFamily="34" charset="0"/>
                <a:ea typeface="Noto Sans JP" pitchFamily="34" charset="-122"/>
                <a:cs typeface="Noto Sans JP" pitchFamily="34" charset="-120"/>
              </a:rPr>
              <a:t>エンブレムは、印刷でもSNSでもリールでも耐えるように設計します。使う人が迷わないよう、配置ルールごと渡すところまでが仕事です。</a:t>
            </a:r>
            <a:endParaRPr lang="en-US" sz="920" dirty="0"/>
          </a:p>
        </p:txBody>
      </p:sp>
      <p:sp>
        <p:nvSpPr>
          <p:cNvPr id="17" name="Text 12"/>
          <p:cNvSpPr txBox="1"/>
          <p:nvPr/>
        </p:nvSpPr>
        <p:spPr>
          <a:xfrm>
            <a:off x="603504" y="4526280"/>
            <a:ext cx="658368" cy="228600"/>
          </a:xfrm>
          <a:prstGeom prst="rect">
            <a:avLst/>
          </a:prstGeom>
          <a:noFill/>
          <a:ln/>
        </p:spPr>
        <p:txBody>
          <a:bodyPr wrap="square" lIns="0" tIns="0" rIns="0" bIns="0" rtlCol="0" anchor="ctr">
            <a:normAutofit/>
          </a:bodyPr>
          <a:lstStyle/>
          <a:p>
            <a:pPr algn="l" indent="0" marL="0">
              <a:buNone/>
            </a:pPr>
            <a:r>
              <a:rPr lang="en-US" sz="720" b="1" spc="100" kern="0" dirty="0">
                <a:solidFill>
                  <a:srgbClr val="188CA1"/>
                </a:solidFill>
                <a:latin typeface="Noto Sans JP" pitchFamily="34" charset="0"/>
                <a:ea typeface="Noto Sans JP" pitchFamily="34" charset="-122"/>
                <a:cs typeface="Noto Sans JP" pitchFamily="34" charset="-120"/>
              </a:rPr>
              <a:t>ROLE</a:t>
            </a:r>
            <a:endParaRPr lang="en-US" sz="720" dirty="0"/>
          </a:p>
        </p:txBody>
      </p:sp>
      <p:sp>
        <p:nvSpPr>
          <p:cNvPr id="18" name="Text 13"/>
          <p:cNvSpPr txBox="1"/>
          <p:nvPr/>
        </p:nvSpPr>
        <p:spPr>
          <a:xfrm>
            <a:off x="1389888" y="4489704"/>
            <a:ext cx="9921240" cy="310896"/>
          </a:xfrm>
          <a:prstGeom prst="rect">
            <a:avLst/>
          </a:prstGeom>
          <a:noFill/>
          <a:ln/>
        </p:spPr>
        <p:txBody>
          <a:bodyPr wrap="square" lIns="0" tIns="0" rIns="0" bIns="0" rtlCol="0" anchor="ctr">
            <a:normAutofit/>
          </a:bodyPr>
          <a:lstStyle/>
          <a:p>
            <a:pPr algn="l" indent="0" marL="0">
              <a:buNone/>
            </a:pPr>
            <a:r>
              <a:rPr lang="en-US" sz="1080" b="1" dirty="0">
                <a:solidFill>
                  <a:srgbClr val="202526"/>
                </a:solidFill>
                <a:latin typeface="Noto Sans JP" pitchFamily="34" charset="0"/>
                <a:ea typeface="Noto Sans JP" pitchFamily="34" charset="-122"/>
                <a:cs typeface="Noto Sans JP" pitchFamily="34" charset="-120"/>
              </a:rPr>
              <a:t>ブランド設計／VI・ロゴ／SNSビジュアル／告知・募集クリエイティブ</a:t>
            </a:r>
            <a:endParaRPr lang="en-US" sz="1080" dirty="0"/>
          </a:p>
        </p:txBody>
      </p:sp>
      <p:sp>
        <p:nvSpPr>
          <p:cNvPr id="19" name="Shape 14"/>
          <p:cNvSpPr/>
          <p:nvPr/>
        </p:nvSpPr>
        <p:spPr>
          <a:xfrm>
            <a:off x="603504" y="4956048"/>
            <a:ext cx="10927080" cy="0"/>
          </a:xfrm>
          <a:prstGeom prst="line">
            <a:avLst/>
          </a:prstGeom>
          <a:noFill/>
          <a:ln w="12700">
            <a:solidFill>
              <a:srgbClr val="DDE3E2"/>
            </a:solidFill>
            <a:prstDash val="solid"/>
            <a:headEnd type="none"/>
            <a:tailEnd type="none"/>
          </a:ln>
        </p:spPr>
      </p:sp>
      <p:sp>
        <p:nvSpPr>
          <p:cNvPr id="20" name="Text 15"/>
          <p:cNvSpPr txBox="1"/>
          <p:nvPr/>
        </p:nvSpPr>
        <p:spPr>
          <a:xfrm>
            <a:off x="603504" y="5230368"/>
            <a:ext cx="1938528" cy="310896"/>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運用への接続</a:t>
            </a:r>
            <a:endParaRPr lang="en-US" sz="1300" dirty="0"/>
          </a:p>
        </p:txBody>
      </p:sp>
      <p:sp>
        <p:nvSpPr>
          <p:cNvPr id="21" name="Text 16"/>
          <p:cNvSpPr txBox="1"/>
          <p:nvPr/>
        </p:nvSpPr>
        <p:spPr>
          <a:xfrm>
            <a:off x="2615184" y="5221224"/>
            <a:ext cx="8686800" cy="365760"/>
          </a:xfrm>
          <a:prstGeom prst="rect">
            <a:avLst/>
          </a:prstGeom>
          <a:noFill/>
          <a:ln/>
        </p:spPr>
        <p:txBody>
          <a:bodyPr wrap="square" lIns="0" tIns="0" rIns="0" bIns="0" rtlCol="0" anchor="t">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チームの理念と対象年代を整理し、投稿・募集・試合情報で表現がぶれない共通言語と見た目を整えます。</a:t>
            </a:r>
            <a:endParaRPr lang="en-US" sz="1050" dirty="0"/>
          </a:p>
        </p:txBody>
      </p:sp>
      <p:sp>
        <p:nvSpPr>
          <p:cNvPr id="22" name="Shape 17"/>
          <p:cNvSpPr/>
          <p:nvPr/>
        </p:nvSpPr>
        <p:spPr>
          <a:xfrm>
            <a:off x="603504" y="5852160"/>
            <a:ext cx="1874520" cy="329184"/>
          </a:xfrm>
          <a:prstGeom prst="roundRect">
            <a:avLst>
              <a:gd name="adj" fmla="val 50000"/>
            </a:avLst>
          </a:prstGeom>
          <a:solidFill>
            <a:srgbClr val="DDEDF1"/>
          </a:solidFill>
          <a:ln w="8890">
            <a:solidFill>
              <a:srgbClr val="DDEDF1">
                <a:alpha val="0"/>
              </a:srgbClr>
            </a:solidFill>
            <a:prstDash val="solid"/>
          </a:ln>
        </p:spPr>
      </p:sp>
      <p:sp>
        <p:nvSpPr>
          <p:cNvPr id="23" name="Text 18"/>
          <p:cNvSpPr txBox="1"/>
          <p:nvPr/>
        </p:nvSpPr>
        <p:spPr>
          <a:xfrm>
            <a:off x="676656" y="5879592"/>
            <a:ext cx="1728216"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SPORTS BRANDING</a:t>
            </a:r>
            <a:endParaRPr lang="en-US" sz="870" dirty="0"/>
          </a:p>
        </p:txBody>
      </p:sp>
      <p:sp>
        <p:nvSpPr>
          <p:cNvPr id="24" name="Shape 19"/>
          <p:cNvSpPr/>
          <p:nvPr/>
        </p:nvSpPr>
        <p:spPr>
          <a:xfrm>
            <a:off x="2688336" y="5852160"/>
            <a:ext cx="1508760" cy="329184"/>
          </a:xfrm>
          <a:prstGeom prst="roundRect">
            <a:avLst>
              <a:gd name="adj" fmla="val 50000"/>
            </a:avLst>
          </a:prstGeom>
          <a:solidFill>
            <a:srgbClr val="DDE3E2"/>
          </a:solidFill>
          <a:ln w="8890">
            <a:solidFill>
              <a:srgbClr val="DDE3E2">
                <a:alpha val="0"/>
              </a:srgbClr>
            </a:solidFill>
            <a:prstDash val="solid"/>
          </a:ln>
        </p:spPr>
      </p:sp>
      <p:sp>
        <p:nvSpPr>
          <p:cNvPr id="25" name="Text 20"/>
          <p:cNvSpPr txBox="1"/>
          <p:nvPr/>
        </p:nvSpPr>
        <p:spPr>
          <a:xfrm>
            <a:off x="2761488" y="5879592"/>
            <a:ext cx="1362456"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SNS VISUAL</a:t>
            </a:r>
            <a:endParaRPr lang="en-US" sz="870" dirty="0"/>
          </a:p>
        </p:txBody>
      </p:sp>
      <p:sp>
        <p:nvSpPr>
          <p:cNvPr id="26" name="Shape 21"/>
          <p:cNvSpPr/>
          <p:nvPr/>
        </p:nvSpPr>
        <p:spPr>
          <a:xfrm>
            <a:off x="4407408" y="5852160"/>
            <a:ext cx="1508760" cy="329184"/>
          </a:xfrm>
          <a:prstGeom prst="roundRect">
            <a:avLst>
              <a:gd name="adj" fmla="val 50000"/>
            </a:avLst>
          </a:prstGeom>
          <a:solidFill>
            <a:srgbClr val="FFFFFF"/>
          </a:solidFill>
          <a:ln w="8890">
            <a:solidFill>
              <a:srgbClr val="FFFFFF">
                <a:alpha val="0"/>
              </a:srgbClr>
            </a:solidFill>
            <a:prstDash val="solid"/>
          </a:ln>
        </p:spPr>
      </p:sp>
      <p:sp>
        <p:nvSpPr>
          <p:cNvPr id="27" name="Text 22"/>
          <p:cNvSpPr txBox="1"/>
          <p:nvPr/>
        </p:nvSpPr>
        <p:spPr>
          <a:xfrm>
            <a:off x="4480560" y="5879592"/>
            <a:ext cx="1362456"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COMMUNITY</a:t>
            </a:r>
            <a:endParaRPr lang="en-US" sz="87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18</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WORKS 06 / BEAUTY</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美容・地域店舗｜情報量を整理し、行動につなげる。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キャンペーン情報を読みやすく編集し、店舗らしい安心感をビジュアル化。</a:t>
            </a:r>
            <a:endParaRPr lang="en-US" sz="1050" dirty="0"/>
          </a:p>
        </p:txBody>
      </p:sp>
      <p:sp>
        <p:nvSpPr>
          <p:cNvPr id="6" name="Shape 4"/>
          <p:cNvSpPr/>
          <p:nvPr/>
        </p:nvSpPr>
        <p:spPr>
          <a:xfrm>
            <a:off x="603504" y="1801368"/>
            <a:ext cx="4617720" cy="4151376"/>
          </a:xfrm>
          <a:prstGeom prst="roundRect">
            <a:avLst>
              <a:gd name="adj" fmla="val 1762"/>
            </a:avLst>
          </a:prstGeom>
          <a:solidFill>
            <a:srgbClr val="FFFFFF"/>
          </a:solidFill>
          <a:ln w="8890">
            <a:solidFill>
              <a:srgbClr val="FFFFFF">
                <a:alpha val="0"/>
              </a:srgbClr>
            </a:solidFill>
            <a:prstDash val="solid"/>
          </a:ln>
        </p:spPr>
      </p:sp>
      <p:pic>
        <p:nvPicPr>
          <p:cNvPr id="7" name="Image 0" descr="/Users/imadatadahito/Desktop/ai-imadaruma/04_貿易省/文化庁/portfolio/assets/arsoa_wellness.png">    </p:cNvPr>
          <p:cNvPicPr>
            <a:picLocks noChangeAspect="1"/>
          </p:cNvPicPr>
          <p:nvPr/>
        </p:nvPicPr>
        <p:blipFill>
          <a:blip r:embed="rId1"/>
          <a:stretch>
            <a:fillRect/>
          </a:stretch>
        </p:blipFill>
        <p:spPr>
          <a:xfrm>
            <a:off x="1522189" y="1911096"/>
            <a:ext cx="2780349" cy="3931920"/>
          </a:xfrm>
          <a:prstGeom prst="rect">
            <a:avLst/>
          </a:prstGeom>
        </p:spPr>
      </p:pic>
      <p:sp>
        <p:nvSpPr>
          <p:cNvPr id="8" name="Shape 5"/>
          <p:cNvSpPr/>
          <p:nvPr/>
        </p:nvSpPr>
        <p:spPr>
          <a:xfrm>
            <a:off x="5577840" y="1856232"/>
            <a:ext cx="5623560" cy="1115568"/>
          </a:xfrm>
          <a:prstGeom prst="roundRect">
            <a:avLst>
              <a:gd name="adj" fmla="val 6557"/>
            </a:avLst>
          </a:prstGeom>
          <a:solidFill>
            <a:srgbClr val="DDEDF1"/>
          </a:solidFill>
          <a:ln w="8890">
            <a:solidFill>
              <a:srgbClr val="DDEDF1">
                <a:alpha val="0"/>
              </a:srgbClr>
            </a:solidFill>
            <a:prstDash val="solid"/>
          </a:ln>
        </p:spPr>
      </p:sp>
      <p:sp>
        <p:nvSpPr>
          <p:cNvPr id="9" name="Text 6"/>
          <p:cNvSpPr txBox="1"/>
          <p:nvPr/>
        </p:nvSpPr>
        <p:spPr>
          <a:xfrm>
            <a:off x="5833872" y="2057400"/>
            <a:ext cx="1828800" cy="292608"/>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課題の捉え方</a:t>
            </a:r>
            <a:endParaRPr lang="en-US" sz="1300" dirty="0"/>
          </a:p>
        </p:txBody>
      </p:sp>
      <p:sp>
        <p:nvSpPr>
          <p:cNvPr id="10" name="Text 7"/>
          <p:cNvSpPr txBox="1"/>
          <p:nvPr/>
        </p:nvSpPr>
        <p:spPr>
          <a:xfrm>
            <a:off x="7571232" y="2029968"/>
            <a:ext cx="3291840" cy="475488"/>
          </a:xfrm>
          <a:prstGeom prst="rect">
            <a:avLst/>
          </a:prstGeom>
          <a:noFill/>
          <a:ln/>
        </p:spPr>
        <p:txBody>
          <a:bodyPr wrap="square" lIns="0" tIns="0" rIns="0" bIns="0" rtlCol="0" anchor="t">
            <a:normAutofit/>
          </a:bodyPr>
          <a:lstStyle/>
          <a:p>
            <a:pPr algn="l" indent="0" marL="0">
              <a:buNone/>
            </a:pPr>
            <a:r>
              <a:rPr lang="en-US" sz="1000" dirty="0">
                <a:solidFill>
                  <a:srgbClr val="687174"/>
                </a:solidFill>
                <a:latin typeface="Noto Sans JP" pitchFamily="34" charset="0"/>
                <a:ea typeface="Noto Sans JP" pitchFamily="34" charset="-122"/>
                <a:cs typeface="Noto Sans JP" pitchFamily="34" charset="-120"/>
              </a:rPr>
              <a:t>伝える情報が多いほど、優先順位と導線が重要。</a:t>
            </a:r>
            <a:endParaRPr lang="en-US" sz="1000" dirty="0"/>
          </a:p>
        </p:txBody>
      </p:sp>
      <p:sp>
        <p:nvSpPr>
          <p:cNvPr id="11" name="Shape 8"/>
          <p:cNvSpPr/>
          <p:nvPr/>
        </p:nvSpPr>
        <p:spPr>
          <a:xfrm>
            <a:off x="5577840" y="3182112"/>
            <a:ext cx="5623560" cy="1115568"/>
          </a:xfrm>
          <a:prstGeom prst="roundRect">
            <a:avLst>
              <a:gd name="adj" fmla="val 6557"/>
            </a:avLst>
          </a:prstGeom>
          <a:solidFill>
            <a:srgbClr val="FFFFFF"/>
          </a:solidFill>
          <a:ln w="8890">
            <a:solidFill>
              <a:srgbClr val="FFFFFF">
                <a:alpha val="0"/>
              </a:srgbClr>
            </a:solidFill>
            <a:prstDash val="solid"/>
          </a:ln>
        </p:spPr>
      </p:sp>
      <p:sp>
        <p:nvSpPr>
          <p:cNvPr id="12" name="Text 9"/>
          <p:cNvSpPr txBox="1"/>
          <p:nvPr/>
        </p:nvSpPr>
        <p:spPr>
          <a:xfrm>
            <a:off x="5833872" y="3383280"/>
            <a:ext cx="1828800" cy="292608"/>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編集・デザイン</a:t>
            </a:r>
            <a:endParaRPr lang="en-US" sz="1300" dirty="0"/>
          </a:p>
        </p:txBody>
      </p:sp>
      <p:sp>
        <p:nvSpPr>
          <p:cNvPr id="13" name="Text 10"/>
          <p:cNvSpPr txBox="1"/>
          <p:nvPr/>
        </p:nvSpPr>
        <p:spPr>
          <a:xfrm>
            <a:off x="7571232" y="3355848"/>
            <a:ext cx="3291840" cy="475488"/>
          </a:xfrm>
          <a:prstGeom prst="rect">
            <a:avLst/>
          </a:prstGeom>
          <a:noFill/>
          <a:ln/>
        </p:spPr>
        <p:txBody>
          <a:bodyPr wrap="square" lIns="0" tIns="0" rIns="0" bIns="0" rtlCol="0" anchor="t">
            <a:normAutofit/>
          </a:bodyPr>
          <a:lstStyle/>
          <a:p>
            <a:pPr algn="l" indent="0" marL="0">
              <a:buNone/>
            </a:pPr>
            <a:r>
              <a:rPr lang="en-US" sz="1000" dirty="0">
                <a:solidFill>
                  <a:srgbClr val="687174"/>
                </a:solidFill>
                <a:latin typeface="Noto Sans JP" pitchFamily="34" charset="0"/>
                <a:ea typeface="Noto Sans JP" pitchFamily="34" charset="-122"/>
                <a:cs typeface="Noto Sans JP" pitchFamily="34" charset="-120"/>
              </a:rPr>
              <a:t>季節感、写真、見出し、申込情報を一つの流れに。</a:t>
            </a:r>
            <a:endParaRPr lang="en-US" sz="1000" dirty="0"/>
          </a:p>
        </p:txBody>
      </p:sp>
      <p:sp>
        <p:nvSpPr>
          <p:cNvPr id="14" name="Shape 11"/>
          <p:cNvSpPr/>
          <p:nvPr/>
        </p:nvSpPr>
        <p:spPr>
          <a:xfrm>
            <a:off x="5577840" y="4507992"/>
            <a:ext cx="5623560" cy="1115568"/>
          </a:xfrm>
          <a:prstGeom prst="roundRect">
            <a:avLst>
              <a:gd name="adj" fmla="val 6557"/>
            </a:avLst>
          </a:prstGeom>
          <a:solidFill>
            <a:srgbClr val="DDE3E2"/>
          </a:solidFill>
          <a:ln w="8890">
            <a:solidFill>
              <a:srgbClr val="DDE3E2">
                <a:alpha val="0"/>
              </a:srgbClr>
            </a:solidFill>
            <a:prstDash val="solid"/>
          </a:ln>
        </p:spPr>
      </p:sp>
      <p:sp>
        <p:nvSpPr>
          <p:cNvPr id="15" name="Text 12"/>
          <p:cNvSpPr txBox="1"/>
          <p:nvPr/>
        </p:nvSpPr>
        <p:spPr>
          <a:xfrm>
            <a:off x="5833872" y="4709160"/>
            <a:ext cx="1828800" cy="292608"/>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SNSへの展開</a:t>
            </a:r>
            <a:endParaRPr lang="en-US" sz="1300" dirty="0"/>
          </a:p>
        </p:txBody>
      </p:sp>
      <p:sp>
        <p:nvSpPr>
          <p:cNvPr id="16" name="Text 13"/>
          <p:cNvSpPr txBox="1"/>
          <p:nvPr/>
        </p:nvSpPr>
        <p:spPr>
          <a:xfrm>
            <a:off x="7571232" y="4681728"/>
            <a:ext cx="3291840" cy="475488"/>
          </a:xfrm>
          <a:prstGeom prst="rect">
            <a:avLst/>
          </a:prstGeom>
          <a:noFill/>
          <a:ln/>
        </p:spPr>
        <p:txBody>
          <a:bodyPr wrap="square" lIns="0" tIns="0" rIns="0" bIns="0" rtlCol="0" anchor="t">
            <a:normAutofit/>
          </a:bodyPr>
          <a:lstStyle/>
          <a:p>
            <a:pPr algn="l" indent="0" marL="0">
              <a:buNone/>
            </a:pPr>
            <a:r>
              <a:rPr lang="en-US" sz="1000" dirty="0">
                <a:solidFill>
                  <a:srgbClr val="687174"/>
                </a:solidFill>
                <a:latin typeface="Noto Sans JP" pitchFamily="34" charset="0"/>
                <a:ea typeface="Noto Sans JP" pitchFamily="34" charset="-122"/>
                <a:cs typeface="Noto Sans JP" pitchFamily="34" charset="-120"/>
              </a:rPr>
              <a:t>紙面の企画を投稿・ストーリーズへ再編集可能。</a:t>
            </a:r>
            <a:endParaRPr lang="en-US" sz="10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19</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WORKS 07 / REGIONAL</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地域商品｜物語から、選ばれるブランドをつくる。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ネーミング・ロゴ・パッケージ・販促まで、地域の背景を一つの物語に。</a:t>
            </a:r>
            <a:endParaRPr lang="en-US" sz="1050" dirty="0"/>
          </a:p>
        </p:txBody>
      </p:sp>
      <p:sp>
        <p:nvSpPr>
          <p:cNvPr id="6" name="Shape 4"/>
          <p:cNvSpPr/>
          <p:nvPr/>
        </p:nvSpPr>
        <p:spPr>
          <a:xfrm>
            <a:off x="585216" y="1810512"/>
            <a:ext cx="5486400" cy="3584448"/>
          </a:xfrm>
          <a:prstGeom prst="roundRect">
            <a:avLst>
              <a:gd name="adj" fmla="val 2041"/>
            </a:avLst>
          </a:prstGeom>
          <a:solidFill>
            <a:srgbClr val="FFFFFF"/>
          </a:solidFill>
          <a:ln w="8890">
            <a:solidFill>
              <a:srgbClr val="FFFFFF">
                <a:alpha val="0"/>
              </a:srgbClr>
            </a:solidFill>
            <a:prstDash val="solid"/>
          </a:ln>
        </p:spPr>
      </p:sp>
      <p:pic>
        <p:nvPicPr>
          <p:cNvPr id="7" name="Image 0" descr="/Volumes/HDPH-macOS拡張/結ぶレモン宮若/むすぶレモン最終.jpg">    </p:cNvPr>
          <p:cNvPicPr>
            <a:picLocks noChangeAspect="1"/>
          </p:cNvPicPr>
          <p:nvPr/>
        </p:nvPicPr>
        <p:blipFill>
          <a:blip r:embed="rId1"/>
          <a:stretch>
            <a:fillRect/>
          </a:stretch>
        </p:blipFill>
        <p:spPr>
          <a:xfrm>
            <a:off x="946964" y="1920240"/>
            <a:ext cx="4762904" cy="3364992"/>
          </a:xfrm>
          <a:prstGeom prst="rect">
            <a:avLst/>
          </a:prstGeom>
        </p:spPr>
      </p:pic>
      <p:sp>
        <p:nvSpPr>
          <p:cNvPr id="8" name="Shape 5"/>
          <p:cNvSpPr/>
          <p:nvPr/>
        </p:nvSpPr>
        <p:spPr>
          <a:xfrm>
            <a:off x="6309360" y="1810512"/>
            <a:ext cx="5303520" cy="3584448"/>
          </a:xfrm>
          <a:prstGeom prst="roundRect">
            <a:avLst>
              <a:gd name="adj" fmla="val 2041"/>
            </a:avLst>
          </a:prstGeom>
          <a:solidFill>
            <a:srgbClr val="FFFFFF"/>
          </a:solidFill>
          <a:ln w="8890">
            <a:solidFill>
              <a:srgbClr val="FFFFFF">
                <a:alpha val="0"/>
              </a:srgbClr>
            </a:solidFill>
            <a:prstDash val="solid"/>
          </a:ln>
        </p:spPr>
      </p:sp>
      <p:pic>
        <p:nvPicPr>
          <p:cNvPr id="9" name="Image 1" descr="/Volumes/HDPH-macOS拡張/里山レモンドレッシング/レモンドレ03.jpg">    </p:cNvPr>
          <p:cNvPicPr>
            <a:picLocks noChangeAspect="1"/>
          </p:cNvPicPr>
          <p:nvPr/>
        </p:nvPicPr>
        <p:blipFill>
          <a:blip r:embed="rId2"/>
          <a:stretch>
            <a:fillRect/>
          </a:stretch>
        </p:blipFill>
        <p:spPr>
          <a:xfrm>
            <a:off x="6599577" y="1920240"/>
            <a:ext cx="4723085" cy="3364992"/>
          </a:xfrm>
          <a:prstGeom prst="rect">
            <a:avLst/>
          </a:prstGeom>
        </p:spPr>
      </p:pic>
      <p:sp>
        <p:nvSpPr>
          <p:cNvPr id="10" name="Text 6"/>
          <p:cNvSpPr txBox="1"/>
          <p:nvPr/>
        </p:nvSpPr>
        <p:spPr>
          <a:xfrm>
            <a:off x="640080" y="5623560"/>
            <a:ext cx="2240280" cy="310896"/>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結ぶレモン宮若</a:t>
            </a:r>
            <a:endParaRPr lang="en-US" sz="1300" dirty="0"/>
          </a:p>
        </p:txBody>
      </p:sp>
      <p:sp>
        <p:nvSpPr>
          <p:cNvPr id="11" name="Text 7"/>
          <p:cNvSpPr txBox="1"/>
          <p:nvPr/>
        </p:nvSpPr>
        <p:spPr>
          <a:xfrm>
            <a:off x="2596896" y="5605272"/>
            <a:ext cx="3337560" cy="356616"/>
          </a:xfrm>
          <a:prstGeom prst="rect">
            <a:avLst/>
          </a:prstGeom>
          <a:noFill/>
          <a:ln/>
        </p:spPr>
        <p:txBody>
          <a:bodyPr wrap="square" lIns="0" tIns="0" rIns="0" bIns="0" rtlCol="0" anchor="ctr">
            <a:normAutofit/>
          </a:bodyPr>
          <a:lstStyle/>
          <a:p>
            <a:pPr algn="l" indent="0" marL="0">
              <a:buNone/>
            </a:pPr>
            <a:r>
              <a:rPr lang="en-US" sz="950" dirty="0">
                <a:solidFill>
                  <a:srgbClr val="687174"/>
                </a:solidFill>
                <a:latin typeface="Noto Sans JP" pitchFamily="34" charset="0"/>
                <a:ea typeface="Noto Sans JP" pitchFamily="34" charset="-122"/>
                <a:cs typeface="Noto Sans JP" pitchFamily="34" charset="-120"/>
              </a:rPr>
              <a:t>ロゴ／ステッカー／リボン／ブランドストーリー</a:t>
            </a:r>
            <a:endParaRPr lang="en-US" sz="950" dirty="0"/>
          </a:p>
        </p:txBody>
      </p:sp>
      <p:sp>
        <p:nvSpPr>
          <p:cNvPr id="12" name="Text 8"/>
          <p:cNvSpPr txBox="1"/>
          <p:nvPr/>
        </p:nvSpPr>
        <p:spPr>
          <a:xfrm>
            <a:off x="6355080" y="5623560"/>
            <a:ext cx="2468880" cy="310896"/>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里山レモンドレッシング</a:t>
            </a:r>
            <a:endParaRPr lang="en-US" sz="1300" dirty="0"/>
          </a:p>
        </p:txBody>
      </p:sp>
      <p:sp>
        <p:nvSpPr>
          <p:cNvPr id="13" name="Text 9"/>
          <p:cNvSpPr txBox="1"/>
          <p:nvPr/>
        </p:nvSpPr>
        <p:spPr>
          <a:xfrm>
            <a:off x="8732520" y="5605272"/>
            <a:ext cx="2679192" cy="356616"/>
          </a:xfrm>
          <a:prstGeom prst="rect">
            <a:avLst/>
          </a:prstGeom>
          <a:noFill/>
          <a:ln/>
        </p:spPr>
        <p:txBody>
          <a:bodyPr wrap="square" lIns="0" tIns="0" rIns="0" bIns="0" rtlCol="0" anchor="ctr">
            <a:normAutofit/>
          </a:bodyPr>
          <a:lstStyle/>
          <a:p>
            <a:pPr algn="l" indent="0" marL="0">
              <a:buNone/>
            </a:pPr>
            <a:r>
              <a:rPr lang="en-US" sz="950" dirty="0">
                <a:solidFill>
                  <a:srgbClr val="687174"/>
                </a:solidFill>
                <a:latin typeface="Noto Sans JP" pitchFamily="34" charset="0"/>
                <a:ea typeface="Noto Sans JP" pitchFamily="34" charset="-122"/>
                <a:cs typeface="Noto Sans JP" pitchFamily="34" charset="-120"/>
              </a:rPr>
              <a:t>商品設計／パッケージ／販促ビジュアル</a:t>
            </a:r>
            <a:endParaRPr lang="en-US" sz="95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20</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WORKS 08 / BRAND &amp; WEB</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ブランド・Web｜価値観を、接点ごとに翻訳する。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VI、Web、投稿。媒体が変わっても、同じブランドに感じられる設計。</a:t>
            </a:r>
            <a:endParaRPr lang="en-US" sz="1050" dirty="0"/>
          </a:p>
        </p:txBody>
      </p:sp>
      <p:sp>
        <p:nvSpPr>
          <p:cNvPr id="6" name="Shape 4"/>
          <p:cNvSpPr/>
          <p:nvPr/>
        </p:nvSpPr>
        <p:spPr>
          <a:xfrm>
            <a:off x="566928" y="1810512"/>
            <a:ext cx="11064240" cy="1691640"/>
          </a:xfrm>
          <a:prstGeom prst="roundRect">
            <a:avLst>
              <a:gd name="adj" fmla="val 4324"/>
            </a:avLst>
          </a:prstGeom>
          <a:solidFill>
            <a:srgbClr val="202526"/>
          </a:solidFill>
          <a:ln w="8890">
            <a:solidFill>
              <a:srgbClr val="202526">
                <a:alpha val="0"/>
              </a:srgbClr>
            </a:solidFill>
            <a:prstDash val="solid"/>
          </a:ln>
        </p:spPr>
      </p:sp>
      <p:pic>
        <p:nvPicPr>
          <p:cNvPr id="7" name="Image 0" descr="/Volumes/HDPH-macOS拡張/Freien/公式サイト/freien-top.png">    </p:cNvPr>
          <p:cNvPicPr>
            <a:picLocks noChangeAspect="1"/>
          </p:cNvPicPr>
          <p:nvPr/>
        </p:nvPicPr>
        <p:blipFill>
          <a:blip r:embed="rId1"/>
          <a:stretch>
            <a:fillRect/>
          </a:stretch>
        </p:blipFill>
        <p:spPr>
          <a:xfrm>
            <a:off x="3290857" y="1920240"/>
            <a:ext cx="5616382" cy="1472184"/>
          </a:xfrm>
          <a:prstGeom prst="rect">
            <a:avLst/>
          </a:prstGeom>
        </p:spPr>
      </p:pic>
      <p:sp>
        <p:nvSpPr>
          <p:cNvPr id="8" name="Shape 5"/>
          <p:cNvSpPr/>
          <p:nvPr/>
        </p:nvSpPr>
        <p:spPr>
          <a:xfrm>
            <a:off x="566928" y="3675888"/>
            <a:ext cx="5394960" cy="2121408"/>
          </a:xfrm>
          <a:prstGeom prst="roundRect">
            <a:avLst>
              <a:gd name="adj" fmla="val 3448"/>
            </a:avLst>
          </a:prstGeom>
          <a:solidFill>
            <a:srgbClr val="FFFFFF"/>
          </a:solidFill>
          <a:ln w="8890">
            <a:solidFill>
              <a:srgbClr val="FFFFFF">
                <a:alpha val="0"/>
              </a:srgbClr>
            </a:solidFill>
            <a:prstDash val="solid"/>
          </a:ln>
        </p:spPr>
      </p:sp>
      <p:pic>
        <p:nvPicPr>
          <p:cNvPr id="9" name="Image 1" descr="/Volumes/HDPH-macOS拡張/Freien/公式サイト/投稿/freien-training1-1.jpg">    </p:cNvPr>
          <p:cNvPicPr>
            <a:picLocks noChangeAspect="1"/>
          </p:cNvPicPr>
          <p:nvPr/>
        </p:nvPicPr>
        <p:blipFill>
          <a:blip r:embed="rId2"/>
          <a:stretch>
            <a:fillRect/>
          </a:stretch>
        </p:blipFill>
        <p:spPr>
          <a:xfrm>
            <a:off x="1360824" y="3712464"/>
            <a:ext cx="3807167" cy="2048256"/>
          </a:xfrm>
          <a:prstGeom prst="rect">
            <a:avLst/>
          </a:prstGeom>
        </p:spPr>
      </p:pic>
      <p:sp>
        <p:nvSpPr>
          <p:cNvPr id="10" name="Shape 6"/>
          <p:cNvSpPr/>
          <p:nvPr/>
        </p:nvSpPr>
        <p:spPr>
          <a:xfrm>
            <a:off x="6217920" y="3675888"/>
            <a:ext cx="5413248" cy="2121408"/>
          </a:xfrm>
          <a:prstGeom prst="roundRect">
            <a:avLst>
              <a:gd name="adj" fmla="val 3448"/>
            </a:avLst>
          </a:prstGeom>
          <a:solidFill>
            <a:srgbClr val="DDEDF1"/>
          </a:solidFill>
          <a:ln w="8890">
            <a:solidFill>
              <a:srgbClr val="DDEDF1">
                <a:alpha val="0"/>
              </a:srgbClr>
            </a:solidFill>
            <a:prstDash val="solid"/>
          </a:ln>
        </p:spPr>
      </p:sp>
      <p:sp>
        <p:nvSpPr>
          <p:cNvPr id="11" name="Text 7"/>
          <p:cNvSpPr txBox="1"/>
          <p:nvPr/>
        </p:nvSpPr>
        <p:spPr>
          <a:xfrm>
            <a:off x="6446520" y="3877056"/>
            <a:ext cx="1828800" cy="329184"/>
          </a:xfrm>
          <a:prstGeom prst="rect">
            <a:avLst/>
          </a:prstGeom>
          <a:noFill/>
          <a:ln/>
        </p:spPr>
        <p:txBody>
          <a:bodyPr wrap="square" lIns="0" tIns="0" rIns="0" bIns="0" rtlCol="0" anchor="ctr">
            <a:normAutofit/>
          </a:bodyPr>
          <a:lstStyle/>
          <a:p>
            <a:pPr algn="l" indent="0" marL="0">
              <a:buNone/>
            </a:pPr>
            <a:r>
              <a:rPr lang="en-US" sz="1500" b="1" dirty="0">
                <a:solidFill>
                  <a:srgbClr val="202526"/>
                </a:solidFill>
                <a:latin typeface="Noto Sans JP" pitchFamily="34" charset="0"/>
                <a:ea typeface="Noto Sans JP" pitchFamily="34" charset="-122"/>
                <a:cs typeface="Noto Sans JP" pitchFamily="34" charset="-120"/>
              </a:rPr>
              <a:t>Freien</a:t>
            </a:r>
            <a:endParaRPr lang="en-US" sz="1500" dirty="0"/>
          </a:p>
        </p:txBody>
      </p:sp>
      <p:sp>
        <p:nvSpPr>
          <p:cNvPr id="12" name="Text 8"/>
          <p:cNvSpPr txBox="1"/>
          <p:nvPr/>
        </p:nvSpPr>
        <p:spPr>
          <a:xfrm>
            <a:off x="6446520" y="4242816"/>
            <a:ext cx="4937760" cy="274320"/>
          </a:xfrm>
          <a:prstGeom prst="rect">
            <a:avLst/>
          </a:prstGeom>
          <a:noFill/>
          <a:ln/>
        </p:spPr>
        <p:txBody>
          <a:bodyPr wrap="square" lIns="0" tIns="0" rIns="0" bIns="0" rtlCol="0" anchor="ctr">
            <a:normAutofit/>
          </a:bodyPr>
          <a:lstStyle/>
          <a:p>
            <a:pPr algn="l" indent="0" marL="0">
              <a:buNone/>
            </a:pPr>
            <a:r>
              <a:rPr lang="en-US" sz="980" dirty="0">
                <a:solidFill>
                  <a:srgbClr val="687174"/>
                </a:solidFill>
                <a:latin typeface="Noto Sans JP" pitchFamily="34" charset="0"/>
                <a:ea typeface="Noto Sans JP" pitchFamily="34" charset="-122"/>
                <a:cs typeface="Noto Sans JP" pitchFamily="34" charset="-120"/>
              </a:rPr>
              <a:t>ブランドアイデンティティ／Webビジュアル／投稿コンテンツ</a:t>
            </a:r>
            <a:endParaRPr lang="en-US" sz="980" dirty="0"/>
          </a:p>
        </p:txBody>
      </p:sp>
      <p:sp>
        <p:nvSpPr>
          <p:cNvPr id="13" name="Shape 9"/>
          <p:cNvSpPr/>
          <p:nvPr/>
        </p:nvSpPr>
        <p:spPr>
          <a:xfrm>
            <a:off x="6446520" y="4590288"/>
            <a:ext cx="4974336" cy="0"/>
          </a:xfrm>
          <a:prstGeom prst="line">
            <a:avLst/>
          </a:prstGeom>
          <a:noFill/>
          <a:ln w="15240">
            <a:solidFill>
              <a:srgbClr val="FFFFFF"/>
            </a:solidFill>
            <a:prstDash val="solid"/>
            <a:headEnd type="none"/>
            <a:tailEnd type="none"/>
          </a:ln>
        </p:spPr>
      </p:sp>
      <p:sp>
        <p:nvSpPr>
          <p:cNvPr id="14" name="Text 10"/>
          <p:cNvSpPr txBox="1"/>
          <p:nvPr/>
        </p:nvSpPr>
        <p:spPr>
          <a:xfrm>
            <a:off x="6446520" y="4736592"/>
            <a:ext cx="4974336" cy="914400"/>
          </a:xfrm>
          <a:prstGeom prst="rect">
            <a:avLst/>
          </a:prstGeom>
          <a:noFill/>
          <a:ln/>
        </p:spPr>
        <p:txBody>
          <a:bodyPr wrap="square" lIns="0" tIns="0" rIns="0" bIns="0" rtlCol="0" anchor="t">
            <a:normAutofit/>
          </a:bodyPr>
          <a:lstStyle/>
          <a:p>
            <a:pPr algn="l" indent="0" marL="0">
              <a:buNone/>
            </a:pPr>
            <a:r>
              <a:rPr lang="en-US" sz="960" dirty="0">
                <a:solidFill>
                  <a:srgbClr val="202526"/>
                </a:solidFill>
                <a:latin typeface="Noto Sans JP" pitchFamily="34" charset="0"/>
                <a:ea typeface="Noto Sans JP" pitchFamily="34" charset="-122"/>
                <a:cs typeface="Noto Sans JP" pitchFamily="34" charset="-120"/>
              </a:rPr>
              <a:t>ロゴの一文字を欠けさせた形をブランドの記号として決め、Webのファーストビューから投稿画像まで同じ規則で使い回します。媒体が変わっても、同じブランドだと分かる状態を保つのが設計の目的です。</a:t>
            </a:r>
            <a:endParaRPr lang="en-US" sz="960" dirty="0"/>
          </a:p>
        </p:txBody>
      </p:sp>
      <p:sp>
        <p:nvSpPr>
          <p:cNvPr id="15" name="Shape 11"/>
          <p:cNvSpPr/>
          <p:nvPr/>
        </p:nvSpPr>
        <p:spPr>
          <a:xfrm>
            <a:off x="603504" y="5943600"/>
            <a:ext cx="1234440" cy="329184"/>
          </a:xfrm>
          <a:prstGeom prst="roundRect">
            <a:avLst>
              <a:gd name="adj" fmla="val 50000"/>
            </a:avLst>
          </a:prstGeom>
          <a:solidFill>
            <a:srgbClr val="DDEDF1"/>
          </a:solidFill>
          <a:ln w="8890">
            <a:solidFill>
              <a:srgbClr val="DDEDF1">
                <a:alpha val="0"/>
              </a:srgbClr>
            </a:solidFill>
            <a:prstDash val="solid"/>
          </a:ln>
        </p:spPr>
      </p:sp>
      <p:sp>
        <p:nvSpPr>
          <p:cNvPr id="16" name="Text 12"/>
          <p:cNvSpPr txBox="1"/>
          <p:nvPr/>
        </p:nvSpPr>
        <p:spPr>
          <a:xfrm>
            <a:off x="676656" y="5971032"/>
            <a:ext cx="1088136"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IDENTITY</a:t>
            </a:r>
            <a:endParaRPr lang="en-US" sz="870" dirty="0"/>
          </a:p>
        </p:txBody>
      </p:sp>
      <p:sp>
        <p:nvSpPr>
          <p:cNvPr id="17" name="Shape 13"/>
          <p:cNvSpPr/>
          <p:nvPr/>
        </p:nvSpPr>
        <p:spPr>
          <a:xfrm>
            <a:off x="2020824" y="5943600"/>
            <a:ext cx="859536" cy="329184"/>
          </a:xfrm>
          <a:prstGeom prst="roundRect">
            <a:avLst>
              <a:gd name="adj" fmla="val 50000"/>
            </a:avLst>
          </a:prstGeom>
          <a:solidFill>
            <a:srgbClr val="DDE3E2"/>
          </a:solidFill>
          <a:ln w="8890">
            <a:solidFill>
              <a:srgbClr val="DDE3E2">
                <a:alpha val="0"/>
              </a:srgbClr>
            </a:solidFill>
            <a:prstDash val="solid"/>
          </a:ln>
        </p:spPr>
      </p:sp>
      <p:sp>
        <p:nvSpPr>
          <p:cNvPr id="18" name="Text 14"/>
          <p:cNvSpPr txBox="1"/>
          <p:nvPr/>
        </p:nvSpPr>
        <p:spPr>
          <a:xfrm>
            <a:off x="2093976" y="5971032"/>
            <a:ext cx="713232"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WEB</a:t>
            </a:r>
            <a:endParaRPr lang="en-US" sz="870" dirty="0"/>
          </a:p>
        </p:txBody>
      </p:sp>
      <p:sp>
        <p:nvSpPr>
          <p:cNvPr id="19" name="Shape 15"/>
          <p:cNvSpPr/>
          <p:nvPr/>
        </p:nvSpPr>
        <p:spPr>
          <a:xfrm>
            <a:off x="3063240" y="5943600"/>
            <a:ext cx="1143000" cy="329184"/>
          </a:xfrm>
          <a:prstGeom prst="roundRect">
            <a:avLst>
              <a:gd name="adj" fmla="val 50000"/>
            </a:avLst>
          </a:prstGeom>
          <a:solidFill>
            <a:srgbClr val="FFFFFF"/>
          </a:solidFill>
          <a:ln w="8890">
            <a:solidFill>
              <a:srgbClr val="FFFFFF">
                <a:alpha val="0"/>
              </a:srgbClr>
            </a:solidFill>
            <a:prstDash val="solid"/>
          </a:ln>
        </p:spPr>
      </p:sp>
      <p:sp>
        <p:nvSpPr>
          <p:cNvPr id="20" name="Text 16"/>
          <p:cNvSpPr txBox="1"/>
          <p:nvPr/>
        </p:nvSpPr>
        <p:spPr>
          <a:xfrm>
            <a:off x="3136392" y="5971032"/>
            <a:ext cx="996696" cy="256032"/>
          </a:xfrm>
          <a:prstGeom prst="rect">
            <a:avLst/>
          </a:prstGeom>
          <a:noFill/>
          <a:ln/>
        </p:spPr>
        <p:txBody>
          <a:bodyPr wrap="square" lIns="0" tIns="0" rIns="0" bIns="0" rtlCol="0" anchor="ctr">
            <a:normAutofit/>
          </a:bodyPr>
          <a:lstStyle/>
          <a:p>
            <a:pPr algn="ctr" indent="0" marL="0">
              <a:buNone/>
            </a:pPr>
            <a:r>
              <a:rPr lang="en-US" sz="870" b="1" dirty="0">
                <a:solidFill>
                  <a:srgbClr val="202526"/>
                </a:solidFill>
                <a:latin typeface="Noto Sans JP" pitchFamily="34" charset="0"/>
                <a:ea typeface="Noto Sans JP" pitchFamily="34" charset="-122"/>
                <a:cs typeface="Noto Sans JP" pitchFamily="34" charset="-120"/>
              </a:rPr>
              <a:t>CONTENT</a:t>
            </a:r>
            <a:endParaRPr lang="en-US" sz="87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21</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PUBLISHING</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企画から装丁まで、一冊を一人で通す。</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Amazon Kindleで2冊を出版。長文を設計し切る力の、確認できる証拠として。</a:t>
            </a:r>
            <a:endParaRPr lang="en-US" sz="1050" dirty="0"/>
          </a:p>
        </p:txBody>
      </p:sp>
      <p:sp>
        <p:nvSpPr>
          <p:cNvPr id="6" name="Shape 4"/>
          <p:cNvSpPr/>
          <p:nvPr/>
        </p:nvSpPr>
        <p:spPr>
          <a:xfrm>
            <a:off x="566928" y="1783080"/>
            <a:ext cx="2331720" cy="3246120"/>
          </a:xfrm>
          <a:prstGeom prst="roundRect">
            <a:avLst>
              <a:gd name="adj" fmla="val 3137"/>
            </a:avLst>
          </a:prstGeom>
          <a:solidFill>
            <a:srgbClr val="FFFFFF"/>
          </a:solidFill>
          <a:ln w="8890">
            <a:solidFill>
              <a:srgbClr val="FFFFFF">
                <a:alpha val="0"/>
              </a:srgbClr>
            </a:solidFill>
            <a:prstDash val="solid"/>
          </a:ln>
        </p:spPr>
      </p:sp>
      <p:pic>
        <p:nvPicPr>
          <p:cNvPr id="7" name="Image 0" descr="/Users/imadatadahito/Desktop/ai-imadaruma/04_貿易省/文化庁/portfolio/assets/kindle/shori_sleep.jpg">    </p:cNvPr>
          <p:cNvPicPr>
            <a:picLocks noChangeAspect="1"/>
          </p:cNvPicPr>
          <p:nvPr/>
        </p:nvPicPr>
        <p:blipFill>
          <a:blip r:embed="rId1"/>
          <a:stretch>
            <a:fillRect/>
          </a:stretch>
        </p:blipFill>
        <p:spPr>
          <a:xfrm>
            <a:off x="709776" y="1892808"/>
            <a:ext cx="2046025" cy="3026664"/>
          </a:xfrm>
          <a:prstGeom prst="rect">
            <a:avLst/>
          </a:prstGeom>
        </p:spPr>
      </p:pic>
      <p:sp>
        <p:nvSpPr>
          <p:cNvPr id="8" name="Shape 5"/>
          <p:cNvSpPr/>
          <p:nvPr/>
        </p:nvSpPr>
        <p:spPr>
          <a:xfrm>
            <a:off x="3063240" y="1783080"/>
            <a:ext cx="2331720" cy="3246120"/>
          </a:xfrm>
          <a:prstGeom prst="roundRect">
            <a:avLst>
              <a:gd name="adj" fmla="val 3137"/>
            </a:avLst>
          </a:prstGeom>
          <a:solidFill>
            <a:srgbClr val="FFFFFF"/>
          </a:solidFill>
          <a:ln w="8890">
            <a:solidFill>
              <a:srgbClr val="FFFFFF">
                <a:alpha val="0"/>
              </a:srgbClr>
            </a:solidFill>
            <a:prstDash val="solid"/>
          </a:ln>
        </p:spPr>
      </p:sp>
      <p:pic>
        <p:nvPicPr>
          <p:cNvPr id="9" name="Image 1" descr="/Users/imadatadahito/Desktop/ai-imadaruma/04_貿易省/文化庁/portfolio/assets/kindle/shori_food.jpg">    </p:cNvPr>
          <p:cNvPicPr>
            <a:picLocks noChangeAspect="1"/>
          </p:cNvPicPr>
          <p:nvPr/>
        </p:nvPicPr>
        <p:blipFill>
          <a:blip r:embed="rId2"/>
          <a:stretch>
            <a:fillRect/>
          </a:stretch>
        </p:blipFill>
        <p:spPr>
          <a:xfrm>
            <a:off x="3172968" y="1909953"/>
            <a:ext cx="2112264" cy="2992374"/>
          </a:xfrm>
          <a:prstGeom prst="rect">
            <a:avLst/>
          </a:prstGeom>
        </p:spPr>
      </p:pic>
      <p:sp>
        <p:nvSpPr>
          <p:cNvPr id="10" name="Text 6"/>
          <p:cNvSpPr txBox="1"/>
          <p:nvPr/>
        </p:nvSpPr>
        <p:spPr>
          <a:xfrm>
            <a:off x="566928" y="5102352"/>
            <a:ext cx="2331720" cy="566928"/>
          </a:xfrm>
          <a:prstGeom prst="rect">
            <a:avLst/>
          </a:prstGeom>
          <a:noFill/>
          <a:ln/>
        </p:spPr>
        <p:txBody>
          <a:bodyPr wrap="square" lIns="0" tIns="0" rIns="0" bIns="0" rtlCol="0" anchor="t">
            <a:normAutofit/>
          </a:bodyPr>
          <a:lstStyle/>
          <a:p>
            <a:pPr algn="l" indent="0" marL="0">
              <a:buNone/>
            </a:pPr>
            <a:r>
              <a:rPr lang="en-US" sz="900" b="1" dirty="0">
                <a:solidFill>
                  <a:srgbClr val="202526"/>
                </a:solidFill>
                <a:latin typeface="Noto Sans JP" pitchFamily="34" charset="0"/>
                <a:ea typeface="Noto Sans JP" pitchFamily="34" charset="-122"/>
                <a:cs typeface="Noto Sans JP" pitchFamily="34" charset="-120"/>
              </a:rPr>
              <a:t>『レジリエンスを鍛える 勝利の睡眠』</a:t>
            </a:r>
            <a:endParaRPr lang="en-US" sz="900" dirty="0"/>
          </a:p>
        </p:txBody>
      </p:sp>
      <p:sp>
        <p:nvSpPr>
          <p:cNvPr id="11" name="Text 7"/>
          <p:cNvSpPr txBox="1"/>
          <p:nvPr/>
        </p:nvSpPr>
        <p:spPr>
          <a:xfrm>
            <a:off x="566928" y="5705856"/>
            <a:ext cx="2331720" cy="384048"/>
          </a:xfrm>
          <a:prstGeom prst="rect">
            <a:avLst/>
          </a:prstGeom>
          <a:noFill/>
          <a:ln/>
        </p:spPr>
        <p:txBody>
          <a:bodyPr wrap="square" lIns="0" tIns="0" rIns="0" bIns="0" rtlCol="0" anchor="t">
            <a:normAutofit/>
          </a:bodyPr>
          <a:lstStyle/>
          <a:p>
            <a:pPr algn="l" indent="0" marL="0">
              <a:buNone/>
            </a:pPr>
            <a:r>
              <a:rPr lang="en-US" sz="760" dirty="0">
                <a:solidFill>
                  <a:srgbClr val="687174"/>
                </a:solidFill>
                <a:latin typeface="Noto Sans JP" pitchFamily="34" charset="0"/>
                <a:ea typeface="Noto Sans JP" pitchFamily="34" charset="-122"/>
                <a:cs typeface="Noto Sans JP" pitchFamily="34" charset="-120"/>
              </a:rPr>
              <a:t>ホルモン×脳科学「回復力」を爆上げする戦略的メソッド</a:t>
            </a:r>
            <a:endParaRPr lang="en-US" sz="760" dirty="0"/>
          </a:p>
        </p:txBody>
      </p:sp>
      <p:sp>
        <p:nvSpPr>
          <p:cNvPr id="12" name="Text 8"/>
          <p:cNvSpPr txBox="1"/>
          <p:nvPr/>
        </p:nvSpPr>
        <p:spPr>
          <a:xfrm>
            <a:off x="566928" y="6144768"/>
            <a:ext cx="2331720" cy="219456"/>
          </a:xfrm>
          <a:prstGeom prst="rect">
            <a:avLst/>
          </a:prstGeom>
          <a:noFill/>
          <a:ln/>
        </p:spPr>
        <p:txBody>
          <a:bodyPr wrap="square" lIns="0" tIns="0" rIns="0" bIns="0" rtlCol="0" anchor="ctr">
            <a:normAutofit/>
          </a:bodyPr>
          <a:lstStyle/>
          <a:p>
            <a:pPr algn="l" indent="0" marL="0">
              <a:buNone/>
            </a:pPr>
            <a:r>
              <a:rPr lang="en-US" sz="700" dirty="0">
                <a:solidFill>
                  <a:srgbClr val="188CA1"/>
                </a:solidFill>
                <a:latin typeface="Noto Sans JP" pitchFamily="34" charset="0"/>
                <a:ea typeface="Noto Sans JP" pitchFamily="34" charset="-122"/>
                <a:cs typeface="Noto Sans JP" pitchFamily="34" charset="-120"/>
              </a:rPr>
              <a:t>amazon.co.jp/dp/B0FQMDK6S8</a:t>
            </a:r>
            <a:endParaRPr lang="en-US" sz="700" dirty="0"/>
          </a:p>
        </p:txBody>
      </p:sp>
      <p:sp>
        <p:nvSpPr>
          <p:cNvPr id="13" name="Text 9"/>
          <p:cNvSpPr txBox="1"/>
          <p:nvPr/>
        </p:nvSpPr>
        <p:spPr>
          <a:xfrm>
            <a:off x="3063240" y="5102352"/>
            <a:ext cx="2331720" cy="566928"/>
          </a:xfrm>
          <a:prstGeom prst="rect">
            <a:avLst/>
          </a:prstGeom>
          <a:noFill/>
          <a:ln/>
        </p:spPr>
        <p:txBody>
          <a:bodyPr wrap="square" lIns="0" tIns="0" rIns="0" bIns="0" rtlCol="0" anchor="t">
            <a:normAutofit/>
          </a:bodyPr>
          <a:lstStyle/>
          <a:p>
            <a:pPr algn="l" indent="0" marL="0">
              <a:buNone/>
            </a:pPr>
            <a:r>
              <a:rPr lang="en-US" sz="900" b="1" dirty="0">
                <a:solidFill>
                  <a:srgbClr val="202526"/>
                </a:solidFill>
                <a:latin typeface="Noto Sans JP" pitchFamily="34" charset="0"/>
                <a:ea typeface="Noto Sans JP" pitchFamily="34" charset="-122"/>
                <a:cs typeface="Noto Sans JP" pitchFamily="34" charset="-120"/>
              </a:rPr>
              <a:t>『自分という国家を、食卓から統治する 勝利の食事』</a:t>
            </a:r>
            <a:endParaRPr lang="en-US" sz="900" dirty="0"/>
          </a:p>
        </p:txBody>
      </p:sp>
      <p:sp>
        <p:nvSpPr>
          <p:cNvPr id="14" name="Text 10"/>
          <p:cNvSpPr txBox="1"/>
          <p:nvPr/>
        </p:nvSpPr>
        <p:spPr>
          <a:xfrm>
            <a:off x="3063240" y="5705856"/>
            <a:ext cx="2331720" cy="384048"/>
          </a:xfrm>
          <a:prstGeom prst="rect">
            <a:avLst/>
          </a:prstGeom>
          <a:noFill/>
          <a:ln/>
        </p:spPr>
        <p:txBody>
          <a:bodyPr wrap="square" lIns="0" tIns="0" rIns="0" bIns="0" rtlCol="0" anchor="t">
            <a:normAutofit/>
          </a:bodyPr>
          <a:lstStyle/>
          <a:p>
            <a:pPr algn="l" indent="0" marL="0">
              <a:buNone/>
            </a:pPr>
            <a:r>
              <a:rPr lang="en-US" sz="760" dirty="0">
                <a:solidFill>
                  <a:srgbClr val="687174"/>
                </a:solidFill>
                <a:latin typeface="Noto Sans JP" pitchFamily="34" charset="0"/>
                <a:ea typeface="Noto Sans JP" pitchFamily="34" charset="-122"/>
                <a:cs typeface="Noto Sans JP" pitchFamily="34" charset="-120"/>
              </a:rPr>
              <a:t>Daily Statecraft Series｜内政統治編①</a:t>
            </a:r>
            <a:endParaRPr lang="en-US" sz="760" dirty="0"/>
          </a:p>
        </p:txBody>
      </p:sp>
      <p:sp>
        <p:nvSpPr>
          <p:cNvPr id="15" name="Text 11"/>
          <p:cNvSpPr txBox="1"/>
          <p:nvPr/>
        </p:nvSpPr>
        <p:spPr>
          <a:xfrm>
            <a:off x="3063240" y="6144768"/>
            <a:ext cx="2331720" cy="219456"/>
          </a:xfrm>
          <a:prstGeom prst="rect">
            <a:avLst/>
          </a:prstGeom>
          <a:noFill/>
          <a:ln/>
        </p:spPr>
        <p:txBody>
          <a:bodyPr wrap="square" lIns="0" tIns="0" rIns="0" bIns="0" rtlCol="0" anchor="ctr">
            <a:normAutofit/>
          </a:bodyPr>
          <a:lstStyle/>
          <a:p>
            <a:pPr algn="l" indent="0" marL="0">
              <a:buNone/>
            </a:pPr>
            <a:r>
              <a:rPr lang="en-US" sz="700" dirty="0">
                <a:solidFill>
                  <a:srgbClr val="188CA1"/>
                </a:solidFill>
                <a:latin typeface="Noto Sans JP" pitchFamily="34" charset="0"/>
                <a:ea typeface="Noto Sans JP" pitchFamily="34" charset="-122"/>
                <a:cs typeface="Noto Sans JP" pitchFamily="34" charset="-120"/>
              </a:rPr>
              <a:t>amazon.co.jp/dp/B0H1QKRT5H</a:t>
            </a:r>
            <a:endParaRPr lang="en-US" sz="700" dirty="0"/>
          </a:p>
        </p:txBody>
      </p:sp>
      <p:sp>
        <p:nvSpPr>
          <p:cNvPr id="16" name="Text 12"/>
          <p:cNvSpPr txBox="1"/>
          <p:nvPr/>
        </p:nvSpPr>
        <p:spPr>
          <a:xfrm>
            <a:off x="5669280" y="1810512"/>
            <a:ext cx="5943600" cy="365760"/>
          </a:xfrm>
          <a:prstGeom prst="rect">
            <a:avLst/>
          </a:prstGeom>
          <a:noFill/>
          <a:ln/>
        </p:spPr>
        <p:txBody>
          <a:bodyPr wrap="square" lIns="0" tIns="0" rIns="0" bIns="0" rtlCol="0" anchor="ctr">
            <a:normAutofit/>
          </a:bodyPr>
          <a:lstStyle/>
          <a:p>
            <a:pPr algn="l" indent="0" marL="0">
              <a:buNone/>
            </a:pPr>
            <a:r>
              <a:rPr lang="en-US" sz="1500" b="1" dirty="0">
                <a:solidFill>
                  <a:srgbClr val="202526"/>
                </a:solidFill>
                <a:latin typeface="Noto Sans JP" pitchFamily="34" charset="0"/>
                <a:ea typeface="Noto Sans JP" pitchFamily="34" charset="-122"/>
                <a:cs typeface="Noto Sans JP" pitchFamily="34" charset="-120"/>
              </a:rPr>
              <a:t>出版が、SNS運用に効く理由</a:t>
            </a:r>
            <a:endParaRPr lang="en-US" sz="1500" dirty="0"/>
          </a:p>
        </p:txBody>
      </p:sp>
      <p:sp>
        <p:nvSpPr>
          <p:cNvPr id="17" name="Shape 13"/>
          <p:cNvSpPr/>
          <p:nvPr/>
        </p:nvSpPr>
        <p:spPr>
          <a:xfrm>
            <a:off x="5669280" y="2286000"/>
            <a:ext cx="5961888" cy="932688"/>
          </a:xfrm>
          <a:prstGeom prst="roundRect">
            <a:avLst>
              <a:gd name="adj" fmla="val 7843"/>
            </a:avLst>
          </a:prstGeom>
          <a:solidFill>
            <a:srgbClr val="DDEDF1"/>
          </a:solidFill>
          <a:ln w="8890">
            <a:solidFill>
              <a:srgbClr val="DDEDF1">
                <a:alpha val="0"/>
              </a:srgbClr>
            </a:solidFill>
            <a:prstDash val="solid"/>
          </a:ln>
        </p:spPr>
      </p:sp>
      <p:sp>
        <p:nvSpPr>
          <p:cNvPr id="18" name="Text 14"/>
          <p:cNvSpPr txBox="1"/>
          <p:nvPr/>
        </p:nvSpPr>
        <p:spPr>
          <a:xfrm>
            <a:off x="5833872" y="2414016"/>
            <a:ext cx="5632704"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構成力</a:t>
            </a:r>
            <a:endParaRPr lang="en-US" sz="1150" dirty="0"/>
          </a:p>
        </p:txBody>
      </p:sp>
      <p:sp>
        <p:nvSpPr>
          <p:cNvPr id="19" name="Text 15"/>
          <p:cNvSpPr txBox="1"/>
          <p:nvPr/>
        </p:nvSpPr>
        <p:spPr>
          <a:xfrm>
            <a:off x="5833872" y="2743200"/>
            <a:ext cx="5632704" cy="329184"/>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一冊分の情報を、読者が迷わない順番に並べ切る。カルーセルや連載投稿の設計は、その縮小版にすぎない。</a:t>
            </a:r>
            <a:endParaRPr lang="en-US" sz="900" dirty="0"/>
          </a:p>
        </p:txBody>
      </p:sp>
      <p:sp>
        <p:nvSpPr>
          <p:cNvPr id="20" name="Shape 16"/>
          <p:cNvSpPr/>
          <p:nvPr/>
        </p:nvSpPr>
        <p:spPr>
          <a:xfrm>
            <a:off x="5669280" y="3328416"/>
            <a:ext cx="5961888" cy="932688"/>
          </a:xfrm>
          <a:prstGeom prst="roundRect">
            <a:avLst>
              <a:gd name="adj" fmla="val 7843"/>
            </a:avLst>
          </a:prstGeom>
          <a:solidFill>
            <a:srgbClr val="FFFFFF"/>
          </a:solidFill>
          <a:ln w="8890">
            <a:solidFill>
              <a:srgbClr val="FFFFFF">
                <a:alpha val="0"/>
              </a:srgbClr>
            </a:solidFill>
            <a:prstDash val="solid"/>
          </a:ln>
        </p:spPr>
      </p:sp>
      <p:sp>
        <p:nvSpPr>
          <p:cNvPr id="21" name="Text 17"/>
          <p:cNvSpPr txBox="1"/>
          <p:nvPr/>
        </p:nvSpPr>
        <p:spPr>
          <a:xfrm>
            <a:off x="5833872" y="3456432"/>
            <a:ext cx="5632704"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調査力</a:t>
            </a:r>
            <a:endParaRPr lang="en-US" sz="1150" dirty="0"/>
          </a:p>
        </p:txBody>
      </p:sp>
      <p:sp>
        <p:nvSpPr>
          <p:cNvPr id="22" name="Text 18"/>
          <p:cNvSpPr txBox="1"/>
          <p:nvPr/>
        </p:nvSpPr>
        <p:spPr>
          <a:xfrm>
            <a:off x="5833872" y="3785616"/>
            <a:ext cx="5632704" cy="329184"/>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根拠にあたり、断定できることだけを書く。誇張しないまま読ませる文章は、そのまま運用の信頼につながる。</a:t>
            </a:r>
            <a:endParaRPr lang="en-US" sz="900" dirty="0"/>
          </a:p>
        </p:txBody>
      </p:sp>
      <p:sp>
        <p:nvSpPr>
          <p:cNvPr id="23" name="Shape 19"/>
          <p:cNvSpPr/>
          <p:nvPr/>
        </p:nvSpPr>
        <p:spPr>
          <a:xfrm>
            <a:off x="5669280" y="4370832"/>
            <a:ext cx="5961888" cy="932688"/>
          </a:xfrm>
          <a:prstGeom prst="roundRect">
            <a:avLst>
              <a:gd name="adj" fmla="val 7843"/>
            </a:avLst>
          </a:prstGeom>
          <a:solidFill>
            <a:srgbClr val="DDEDF1"/>
          </a:solidFill>
          <a:ln w="8890">
            <a:solidFill>
              <a:srgbClr val="DDEDF1">
                <a:alpha val="0"/>
              </a:srgbClr>
            </a:solidFill>
            <a:prstDash val="solid"/>
          </a:ln>
        </p:spPr>
      </p:sp>
      <p:sp>
        <p:nvSpPr>
          <p:cNvPr id="24" name="Text 20"/>
          <p:cNvSpPr txBox="1"/>
          <p:nvPr/>
        </p:nvSpPr>
        <p:spPr>
          <a:xfrm>
            <a:off x="5833872" y="4498848"/>
            <a:ext cx="5632704"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装丁の一貫性</a:t>
            </a:r>
            <a:endParaRPr lang="en-US" sz="1150" dirty="0"/>
          </a:p>
        </p:txBody>
      </p:sp>
      <p:sp>
        <p:nvSpPr>
          <p:cNvPr id="25" name="Text 21"/>
          <p:cNvSpPr txBox="1"/>
          <p:nvPr/>
        </p:nvSpPr>
        <p:spPr>
          <a:xfrm>
            <a:off x="5833872" y="4828032"/>
            <a:ext cx="5632704" cy="329184"/>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2冊とも表紙のキーカラーはターコイズ。本・SNS・Webで媒体が変わっても、同じ書き手の仕事に見える。</a:t>
            </a:r>
            <a:endParaRPr lang="en-US" sz="900" dirty="0"/>
          </a:p>
        </p:txBody>
      </p:sp>
      <p:sp>
        <p:nvSpPr>
          <p:cNvPr id="26" name="Shape 22"/>
          <p:cNvSpPr/>
          <p:nvPr/>
        </p:nvSpPr>
        <p:spPr>
          <a:xfrm>
            <a:off x="5669280" y="5413248"/>
            <a:ext cx="5961888" cy="932688"/>
          </a:xfrm>
          <a:prstGeom prst="roundRect">
            <a:avLst>
              <a:gd name="adj" fmla="val 7843"/>
            </a:avLst>
          </a:prstGeom>
          <a:solidFill>
            <a:srgbClr val="FFFFFF"/>
          </a:solidFill>
          <a:ln w="8890">
            <a:solidFill>
              <a:srgbClr val="FFFFFF">
                <a:alpha val="0"/>
              </a:srgbClr>
            </a:solidFill>
            <a:prstDash val="solid"/>
          </a:ln>
        </p:spPr>
      </p:sp>
      <p:sp>
        <p:nvSpPr>
          <p:cNvPr id="27" name="Text 23"/>
          <p:cNvSpPr txBox="1"/>
          <p:nvPr/>
        </p:nvSpPr>
        <p:spPr>
          <a:xfrm>
            <a:off x="5833872" y="5541264"/>
            <a:ext cx="5632704" cy="274320"/>
          </a:xfrm>
          <a:prstGeom prst="rect">
            <a:avLst/>
          </a:prstGeom>
          <a:noFill/>
          <a:ln/>
        </p:spPr>
        <p:txBody>
          <a:bodyPr wrap="square" lIns="0" tIns="0" rIns="0" bIns="0" rtlCol="0" anchor="ctr">
            <a:normAutofit/>
          </a:bodyPr>
          <a:lstStyle/>
          <a:p>
            <a:pPr algn="l" indent="0" marL="0">
              <a:buNone/>
            </a:pPr>
            <a:r>
              <a:rPr lang="en-US" sz="1150" b="1" dirty="0">
                <a:solidFill>
                  <a:srgbClr val="202526"/>
                </a:solidFill>
                <a:latin typeface="Noto Sans JP" pitchFamily="34" charset="0"/>
                <a:ea typeface="Noto Sans JP" pitchFamily="34" charset="-122"/>
                <a:cs typeface="Noto Sans JP" pitchFamily="34" charset="-120"/>
              </a:rPr>
              <a:t>一人称で完結</a:t>
            </a:r>
            <a:endParaRPr lang="en-US" sz="1150" dirty="0"/>
          </a:p>
        </p:txBody>
      </p:sp>
      <p:sp>
        <p:nvSpPr>
          <p:cNvPr id="28" name="Text 24"/>
          <p:cNvSpPr txBox="1"/>
          <p:nvPr/>
        </p:nvSpPr>
        <p:spPr>
          <a:xfrm>
            <a:off x="5833872" y="5870448"/>
            <a:ext cx="5632704" cy="329184"/>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企画・構成・執筆・装丁デザインを一人で通す。分業前提の座組みでなくても、成果物が出る。</a:t>
            </a:r>
            <a:endParaRPr lang="en-US" sz="9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22</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WRITING &amp; CONTENT SYSTEM</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制作を速くするだけでなく、判断を揃える。</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人の編集判断とAIの補助を組み合わせ、品質と継続性を両立します。</a:t>
            </a:r>
            <a:endParaRPr lang="en-US" sz="1050" dirty="0"/>
          </a:p>
        </p:txBody>
      </p:sp>
      <p:sp>
        <p:nvSpPr>
          <p:cNvPr id="6" name="Shape 4"/>
          <p:cNvSpPr/>
          <p:nvPr/>
        </p:nvSpPr>
        <p:spPr>
          <a:xfrm>
            <a:off x="566928" y="1993392"/>
            <a:ext cx="1993392" cy="2395728"/>
          </a:xfrm>
          <a:prstGeom prst="roundRect">
            <a:avLst>
              <a:gd name="adj" fmla="val 3670"/>
            </a:avLst>
          </a:prstGeom>
          <a:solidFill>
            <a:srgbClr val="FFFFFF"/>
          </a:solidFill>
          <a:ln w="8890">
            <a:solidFill>
              <a:srgbClr val="FFFFFF">
                <a:alpha val="0"/>
              </a:srgbClr>
            </a:solidFill>
            <a:prstDash val="solid"/>
          </a:ln>
        </p:spPr>
      </p:sp>
      <p:sp>
        <p:nvSpPr>
          <p:cNvPr id="7" name="Text 5"/>
          <p:cNvSpPr txBox="1"/>
          <p:nvPr/>
        </p:nvSpPr>
        <p:spPr>
          <a:xfrm>
            <a:off x="731520" y="2185416"/>
            <a:ext cx="411480" cy="228600"/>
          </a:xfrm>
          <a:prstGeom prst="rect">
            <a:avLst/>
          </a:prstGeom>
          <a:noFill/>
          <a:ln/>
        </p:spPr>
        <p:txBody>
          <a:bodyPr wrap="square" lIns="0" tIns="0" rIns="0" bIns="0" rtlCol="0" anchor="ctr">
            <a:normAutofit/>
          </a:bodyPr>
          <a:lstStyle/>
          <a:p>
            <a:pPr algn="l" indent="0" marL="0">
              <a:buNone/>
            </a:pPr>
            <a:r>
              <a:rPr lang="en-US" sz="750" b="1" dirty="0">
                <a:solidFill>
                  <a:srgbClr val="188CA1"/>
                </a:solidFill>
                <a:latin typeface="Noto Sans JP" pitchFamily="34" charset="0"/>
                <a:ea typeface="Noto Sans JP" pitchFamily="34" charset="-122"/>
                <a:cs typeface="Noto Sans JP" pitchFamily="34" charset="-120"/>
              </a:rPr>
              <a:t>01</a:t>
            </a:r>
            <a:endParaRPr lang="en-US" sz="750" dirty="0"/>
          </a:p>
        </p:txBody>
      </p:sp>
      <p:sp>
        <p:nvSpPr>
          <p:cNvPr id="8" name="Text 6"/>
          <p:cNvSpPr txBox="1"/>
          <p:nvPr/>
        </p:nvSpPr>
        <p:spPr>
          <a:xfrm>
            <a:off x="731520" y="2642616"/>
            <a:ext cx="1645920" cy="347472"/>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企画の種</a:t>
            </a:r>
            <a:endParaRPr lang="en-US" sz="1300" dirty="0"/>
          </a:p>
        </p:txBody>
      </p:sp>
      <p:sp>
        <p:nvSpPr>
          <p:cNvPr id="9" name="Text 7"/>
          <p:cNvSpPr txBox="1"/>
          <p:nvPr/>
        </p:nvSpPr>
        <p:spPr>
          <a:xfrm>
            <a:off x="731520" y="3182112"/>
            <a:ext cx="1609344" cy="658368"/>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顧客の悩み／季節／現場の声</a:t>
            </a:r>
            <a:endParaRPr lang="en-US" sz="900" dirty="0"/>
          </a:p>
        </p:txBody>
      </p:sp>
      <p:sp>
        <p:nvSpPr>
          <p:cNvPr id="10" name="Shape 8"/>
          <p:cNvSpPr/>
          <p:nvPr/>
        </p:nvSpPr>
        <p:spPr>
          <a:xfrm>
            <a:off x="2852928" y="1993392"/>
            <a:ext cx="1993392" cy="2395728"/>
          </a:xfrm>
          <a:prstGeom prst="roundRect">
            <a:avLst>
              <a:gd name="adj" fmla="val 3670"/>
            </a:avLst>
          </a:prstGeom>
          <a:solidFill>
            <a:srgbClr val="DDE3E2"/>
          </a:solidFill>
          <a:ln w="8890">
            <a:solidFill>
              <a:srgbClr val="DDE3E2">
                <a:alpha val="0"/>
              </a:srgbClr>
            </a:solidFill>
            <a:prstDash val="solid"/>
          </a:ln>
        </p:spPr>
      </p:sp>
      <p:sp>
        <p:nvSpPr>
          <p:cNvPr id="11" name="Text 9"/>
          <p:cNvSpPr txBox="1"/>
          <p:nvPr/>
        </p:nvSpPr>
        <p:spPr>
          <a:xfrm>
            <a:off x="3017520" y="2185416"/>
            <a:ext cx="411480" cy="228600"/>
          </a:xfrm>
          <a:prstGeom prst="rect">
            <a:avLst/>
          </a:prstGeom>
          <a:noFill/>
          <a:ln/>
        </p:spPr>
        <p:txBody>
          <a:bodyPr wrap="square" lIns="0" tIns="0" rIns="0" bIns="0" rtlCol="0" anchor="ctr">
            <a:normAutofit/>
          </a:bodyPr>
          <a:lstStyle/>
          <a:p>
            <a:pPr algn="l" indent="0" marL="0">
              <a:buNone/>
            </a:pPr>
            <a:r>
              <a:rPr lang="en-US" sz="750" b="1" dirty="0">
                <a:solidFill>
                  <a:srgbClr val="188CA1"/>
                </a:solidFill>
                <a:latin typeface="Noto Sans JP" pitchFamily="34" charset="0"/>
                <a:ea typeface="Noto Sans JP" pitchFamily="34" charset="-122"/>
                <a:cs typeface="Noto Sans JP" pitchFamily="34" charset="-120"/>
              </a:rPr>
              <a:t>02</a:t>
            </a:r>
            <a:endParaRPr lang="en-US" sz="750" dirty="0"/>
          </a:p>
        </p:txBody>
      </p:sp>
      <p:sp>
        <p:nvSpPr>
          <p:cNvPr id="12" name="Text 10"/>
          <p:cNvSpPr txBox="1"/>
          <p:nvPr/>
        </p:nvSpPr>
        <p:spPr>
          <a:xfrm>
            <a:off x="3017520" y="2642616"/>
            <a:ext cx="1645920" cy="347472"/>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構成・コピー</a:t>
            </a:r>
            <a:endParaRPr lang="en-US" sz="1300" dirty="0"/>
          </a:p>
        </p:txBody>
      </p:sp>
      <p:sp>
        <p:nvSpPr>
          <p:cNvPr id="13" name="Text 11"/>
          <p:cNvSpPr txBox="1"/>
          <p:nvPr/>
        </p:nvSpPr>
        <p:spPr>
          <a:xfrm>
            <a:off x="3017520" y="3182112"/>
            <a:ext cx="1609344" cy="658368"/>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フック／本文／CTA／ハッシュタグ</a:t>
            </a:r>
            <a:endParaRPr lang="en-US" sz="900" dirty="0"/>
          </a:p>
        </p:txBody>
      </p:sp>
      <p:sp>
        <p:nvSpPr>
          <p:cNvPr id="14" name="Shape 12"/>
          <p:cNvSpPr/>
          <p:nvPr/>
        </p:nvSpPr>
        <p:spPr>
          <a:xfrm>
            <a:off x="5138928" y="1993392"/>
            <a:ext cx="1993392" cy="2395728"/>
          </a:xfrm>
          <a:prstGeom prst="roundRect">
            <a:avLst>
              <a:gd name="adj" fmla="val 3670"/>
            </a:avLst>
          </a:prstGeom>
          <a:solidFill>
            <a:srgbClr val="FFFFFF"/>
          </a:solidFill>
          <a:ln w="8890">
            <a:solidFill>
              <a:srgbClr val="FFFFFF">
                <a:alpha val="0"/>
              </a:srgbClr>
            </a:solidFill>
            <a:prstDash val="solid"/>
          </a:ln>
        </p:spPr>
      </p:sp>
      <p:sp>
        <p:nvSpPr>
          <p:cNvPr id="15" name="Text 13"/>
          <p:cNvSpPr txBox="1"/>
          <p:nvPr/>
        </p:nvSpPr>
        <p:spPr>
          <a:xfrm>
            <a:off x="5303520" y="2185416"/>
            <a:ext cx="411480" cy="228600"/>
          </a:xfrm>
          <a:prstGeom prst="rect">
            <a:avLst/>
          </a:prstGeom>
          <a:noFill/>
          <a:ln/>
        </p:spPr>
        <p:txBody>
          <a:bodyPr wrap="square" lIns="0" tIns="0" rIns="0" bIns="0" rtlCol="0" anchor="ctr">
            <a:normAutofit/>
          </a:bodyPr>
          <a:lstStyle/>
          <a:p>
            <a:pPr algn="l" indent="0" marL="0">
              <a:buNone/>
            </a:pPr>
            <a:r>
              <a:rPr lang="en-US" sz="750" b="1" dirty="0">
                <a:solidFill>
                  <a:srgbClr val="188CA1"/>
                </a:solidFill>
                <a:latin typeface="Noto Sans JP" pitchFamily="34" charset="0"/>
                <a:ea typeface="Noto Sans JP" pitchFamily="34" charset="-122"/>
                <a:cs typeface="Noto Sans JP" pitchFamily="34" charset="-120"/>
              </a:rPr>
              <a:t>03</a:t>
            </a:r>
            <a:endParaRPr lang="en-US" sz="750" dirty="0"/>
          </a:p>
        </p:txBody>
      </p:sp>
      <p:sp>
        <p:nvSpPr>
          <p:cNvPr id="16" name="Text 14"/>
          <p:cNvSpPr txBox="1"/>
          <p:nvPr/>
        </p:nvSpPr>
        <p:spPr>
          <a:xfrm>
            <a:off x="5303520" y="2642616"/>
            <a:ext cx="1645920" cy="347472"/>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デザイン</a:t>
            </a:r>
            <a:endParaRPr lang="en-US" sz="1300" dirty="0"/>
          </a:p>
        </p:txBody>
      </p:sp>
      <p:sp>
        <p:nvSpPr>
          <p:cNvPr id="17" name="Text 15"/>
          <p:cNvSpPr txBox="1"/>
          <p:nvPr/>
        </p:nvSpPr>
        <p:spPr>
          <a:xfrm>
            <a:off x="5303520" y="3182112"/>
            <a:ext cx="1609344" cy="658368"/>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ブランドテンプレート／写真／図解</a:t>
            </a:r>
            <a:endParaRPr lang="en-US" sz="900" dirty="0"/>
          </a:p>
        </p:txBody>
      </p:sp>
      <p:sp>
        <p:nvSpPr>
          <p:cNvPr id="18" name="Shape 16"/>
          <p:cNvSpPr/>
          <p:nvPr/>
        </p:nvSpPr>
        <p:spPr>
          <a:xfrm>
            <a:off x="7424928" y="1993392"/>
            <a:ext cx="1993392" cy="2395728"/>
          </a:xfrm>
          <a:prstGeom prst="roundRect">
            <a:avLst>
              <a:gd name="adj" fmla="val 3670"/>
            </a:avLst>
          </a:prstGeom>
          <a:solidFill>
            <a:srgbClr val="42AFC0"/>
          </a:solidFill>
          <a:ln w="8890">
            <a:solidFill>
              <a:srgbClr val="42AFC0">
                <a:alpha val="0"/>
              </a:srgbClr>
            </a:solidFill>
            <a:prstDash val="solid"/>
          </a:ln>
        </p:spPr>
      </p:sp>
      <p:sp>
        <p:nvSpPr>
          <p:cNvPr id="19" name="Text 17"/>
          <p:cNvSpPr txBox="1"/>
          <p:nvPr/>
        </p:nvSpPr>
        <p:spPr>
          <a:xfrm>
            <a:off x="7589520" y="2185416"/>
            <a:ext cx="411480" cy="228600"/>
          </a:xfrm>
          <a:prstGeom prst="rect">
            <a:avLst/>
          </a:prstGeom>
          <a:noFill/>
          <a:ln/>
        </p:spPr>
        <p:txBody>
          <a:bodyPr wrap="square" lIns="0" tIns="0" rIns="0" bIns="0" rtlCol="0" anchor="ctr">
            <a:normAutofit/>
          </a:bodyPr>
          <a:lstStyle/>
          <a:p>
            <a:pPr algn="l" indent="0" marL="0">
              <a:buNone/>
            </a:pPr>
            <a:r>
              <a:rPr lang="en-US" sz="750" b="1" dirty="0">
                <a:solidFill>
                  <a:srgbClr val="202526"/>
                </a:solidFill>
                <a:latin typeface="Noto Sans JP" pitchFamily="34" charset="0"/>
                <a:ea typeface="Noto Sans JP" pitchFamily="34" charset="-122"/>
                <a:cs typeface="Noto Sans JP" pitchFamily="34" charset="-120"/>
              </a:rPr>
              <a:t>04</a:t>
            </a:r>
            <a:endParaRPr lang="en-US" sz="750" dirty="0"/>
          </a:p>
        </p:txBody>
      </p:sp>
      <p:sp>
        <p:nvSpPr>
          <p:cNvPr id="20" name="Text 18"/>
          <p:cNvSpPr txBox="1"/>
          <p:nvPr/>
        </p:nvSpPr>
        <p:spPr>
          <a:xfrm>
            <a:off x="7589520" y="2642616"/>
            <a:ext cx="1645920" cy="34747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展開</a:t>
            </a:r>
            <a:endParaRPr lang="en-US" sz="1300" dirty="0"/>
          </a:p>
        </p:txBody>
      </p:sp>
      <p:sp>
        <p:nvSpPr>
          <p:cNvPr id="21" name="Text 19"/>
          <p:cNvSpPr txBox="1"/>
          <p:nvPr/>
        </p:nvSpPr>
        <p:spPr>
          <a:xfrm>
            <a:off x="7589520" y="3182112"/>
            <a:ext cx="1609344" cy="658368"/>
          </a:xfrm>
          <a:prstGeom prst="rect">
            <a:avLst/>
          </a:prstGeom>
          <a:noFill/>
          <a:ln/>
        </p:spPr>
        <p:txBody>
          <a:bodyPr wrap="square" lIns="0" tIns="0" rIns="0" bIns="0" rtlCol="0" anchor="t">
            <a:normAutofit/>
          </a:bodyPr>
          <a:lstStyle/>
          <a:p>
            <a:pPr algn="l" indent="0" marL="0">
              <a:buNone/>
            </a:pPr>
            <a:r>
              <a:rPr lang="en-US" sz="900" dirty="0">
                <a:solidFill>
                  <a:srgbClr val="FFFFFF"/>
                </a:solidFill>
                <a:latin typeface="Noto Sans JP" pitchFamily="34" charset="0"/>
                <a:ea typeface="Noto Sans JP" pitchFamily="34" charset="-122"/>
                <a:cs typeface="Noto Sans JP" pitchFamily="34" charset="-120"/>
              </a:rPr>
              <a:t>投稿／カルーセル／リール／Web</a:t>
            </a:r>
            <a:endParaRPr lang="en-US" sz="900" dirty="0"/>
          </a:p>
        </p:txBody>
      </p:sp>
      <p:sp>
        <p:nvSpPr>
          <p:cNvPr id="22" name="Shape 20"/>
          <p:cNvSpPr/>
          <p:nvPr/>
        </p:nvSpPr>
        <p:spPr>
          <a:xfrm>
            <a:off x="9710928" y="1993392"/>
            <a:ext cx="1993392" cy="2395728"/>
          </a:xfrm>
          <a:prstGeom prst="roundRect">
            <a:avLst>
              <a:gd name="adj" fmla="val 3670"/>
            </a:avLst>
          </a:prstGeom>
          <a:solidFill>
            <a:srgbClr val="FFFFFF"/>
          </a:solidFill>
          <a:ln w="8890">
            <a:solidFill>
              <a:srgbClr val="FFFFFF">
                <a:alpha val="0"/>
              </a:srgbClr>
            </a:solidFill>
            <a:prstDash val="solid"/>
          </a:ln>
        </p:spPr>
      </p:sp>
      <p:sp>
        <p:nvSpPr>
          <p:cNvPr id="23" name="Text 21"/>
          <p:cNvSpPr txBox="1"/>
          <p:nvPr/>
        </p:nvSpPr>
        <p:spPr>
          <a:xfrm>
            <a:off x="9875520" y="2185416"/>
            <a:ext cx="411480" cy="228600"/>
          </a:xfrm>
          <a:prstGeom prst="rect">
            <a:avLst/>
          </a:prstGeom>
          <a:noFill/>
          <a:ln/>
        </p:spPr>
        <p:txBody>
          <a:bodyPr wrap="square" lIns="0" tIns="0" rIns="0" bIns="0" rtlCol="0" anchor="ctr">
            <a:normAutofit/>
          </a:bodyPr>
          <a:lstStyle/>
          <a:p>
            <a:pPr algn="l" indent="0" marL="0">
              <a:buNone/>
            </a:pPr>
            <a:r>
              <a:rPr lang="en-US" sz="750" b="1" dirty="0">
                <a:solidFill>
                  <a:srgbClr val="188CA1"/>
                </a:solidFill>
                <a:latin typeface="Noto Sans JP" pitchFamily="34" charset="0"/>
                <a:ea typeface="Noto Sans JP" pitchFamily="34" charset="-122"/>
                <a:cs typeface="Noto Sans JP" pitchFamily="34" charset="-120"/>
              </a:rPr>
              <a:t>05</a:t>
            </a:r>
            <a:endParaRPr lang="en-US" sz="750" dirty="0"/>
          </a:p>
        </p:txBody>
      </p:sp>
      <p:sp>
        <p:nvSpPr>
          <p:cNvPr id="24" name="Text 22"/>
          <p:cNvSpPr txBox="1"/>
          <p:nvPr/>
        </p:nvSpPr>
        <p:spPr>
          <a:xfrm>
            <a:off x="9875520" y="2642616"/>
            <a:ext cx="1645920" cy="347472"/>
          </a:xfrm>
          <a:prstGeom prst="rect">
            <a:avLst/>
          </a:prstGeom>
          <a:noFill/>
          <a:ln/>
        </p:spPr>
        <p:txBody>
          <a:bodyPr wrap="square" lIns="0" tIns="0" rIns="0" bIns="0" rtlCol="0" anchor="ctr">
            <a:normAutofit/>
          </a:bodyPr>
          <a:lstStyle/>
          <a:p>
            <a:pPr algn="l" indent="0" marL="0">
              <a:buNone/>
            </a:pPr>
            <a:r>
              <a:rPr lang="en-US" sz="1300" b="1" dirty="0">
                <a:solidFill>
                  <a:srgbClr val="202526"/>
                </a:solidFill>
                <a:latin typeface="Noto Sans JP" pitchFamily="34" charset="0"/>
                <a:ea typeface="Noto Sans JP" pitchFamily="34" charset="-122"/>
                <a:cs typeface="Noto Sans JP" pitchFamily="34" charset="-120"/>
              </a:rPr>
              <a:t>学習</a:t>
            </a:r>
            <a:endParaRPr lang="en-US" sz="1300" dirty="0"/>
          </a:p>
        </p:txBody>
      </p:sp>
      <p:sp>
        <p:nvSpPr>
          <p:cNvPr id="25" name="Text 23"/>
          <p:cNvSpPr txBox="1"/>
          <p:nvPr/>
        </p:nvSpPr>
        <p:spPr>
          <a:xfrm>
            <a:off x="9875520" y="3182112"/>
            <a:ext cx="1609344" cy="658368"/>
          </a:xfrm>
          <a:prstGeom prst="rect">
            <a:avLst/>
          </a:prstGeom>
          <a:noFill/>
          <a:ln/>
        </p:spPr>
        <p:txBody>
          <a:bodyPr wrap="square" lIns="0" tIns="0" rIns="0" bIns="0" rtlCol="0" anchor="t">
            <a:normAutofit/>
          </a:bodyPr>
          <a:lstStyle/>
          <a:p>
            <a:pPr algn="l" indent="0" marL="0">
              <a:buNone/>
            </a:pPr>
            <a:r>
              <a:rPr lang="en-US" sz="900" dirty="0">
                <a:solidFill>
                  <a:srgbClr val="687174"/>
                </a:solidFill>
                <a:latin typeface="Noto Sans JP" pitchFamily="34" charset="0"/>
                <a:ea typeface="Noto Sans JP" pitchFamily="34" charset="-122"/>
                <a:cs typeface="Noto Sans JP" pitchFamily="34" charset="-120"/>
              </a:rPr>
              <a:t>反応の記録／仮説更新／次月改善</a:t>
            </a:r>
            <a:endParaRPr lang="en-US" sz="900" dirty="0"/>
          </a:p>
        </p:txBody>
      </p:sp>
      <p:sp>
        <p:nvSpPr>
          <p:cNvPr id="26" name="Shape 24"/>
          <p:cNvSpPr/>
          <p:nvPr/>
        </p:nvSpPr>
        <p:spPr>
          <a:xfrm>
            <a:off x="1005840" y="4892040"/>
            <a:ext cx="10186416" cy="822960"/>
          </a:xfrm>
          <a:prstGeom prst="roundRect">
            <a:avLst>
              <a:gd name="adj" fmla="val 8889"/>
            </a:avLst>
          </a:prstGeom>
          <a:solidFill>
            <a:srgbClr val="202526"/>
          </a:solidFill>
          <a:ln w="8890">
            <a:solidFill>
              <a:srgbClr val="202526">
                <a:alpha val="0"/>
              </a:srgbClr>
            </a:solidFill>
            <a:prstDash val="solid"/>
          </a:ln>
        </p:spPr>
      </p:sp>
      <p:sp>
        <p:nvSpPr>
          <p:cNvPr id="27" name="Text 25"/>
          <p:cNvSpPr txBox="1"/>
          <p:nvPr/>
        </p:nvSpPr>
        <p:spPr>
          <a:xfrm>
            <a:off x="1325880" y="5129784"/>
            <a:ext cx="9546336" cy="29260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Adobe Creative Cloud  ＋  ChatGPT  /  Claude  /  Gemini  /  Cursor</a:t>
            </a:r>
            <a:endParaRPr lang="en-US" sz="1200" dirty="0"/>
          </a:p>
        </p:txBody>
      </p:sp>
      <p:sp>
        <p:nvSpPr>
          <p:cNvPr id="28" name="Text 26"/>
          <p:cNvSpPr txBox="1"/>
          <p:nvPr/>
        </p:nvSpPr>
        <p:spPr>
          <a:xfrm>
            <a:off x="2057400" y="5916168"/>
            <a:ext cx="8092440" cy="256032"/>
          </a:xfrm>
          <a:prstGeom prst="rect">
            <a:avLst/>
          </a:prstGeom>
          <a:noFill/>
          <a:ln/>
        </p:spPr>
        <p:txBody>
          <a:bodyPr wrap="square" lIns="0" tIns="0" rIns="0" bIns="0" rtlCol="0" anchor="ctr">
            <a:normAutofit/>
          </a:bodyPr>
          <a:lstStyle/>
          <a:p>
            <a:pPr algn="ctr" indent="0" marL="0">
              <a:buNone/>
            </a:pPr>
            <a:r>
              <a:rPr lang="en-US" sz="850" dirty="0">
                <a:solidFill>
                  <a:srgbClr val="687174"/>
                </a:solidFill>
                <a:latin typeface="Noto Sans JP" pitchFamily="34" charset="0"/>
                <a:ea typeface="Noto Sans JP" pitchFamily="34" charset="-122"/>
                <a:cs typeface="Noto Sans JP" pitchFamily="34" charset="-120"/>
              </a:rPr>
              <a:t>※ AIは調査・草案・整理を補助。最終判断と表現設計は人が行います。</a:t>
            </a:r>
            <a:endParaRPr lang="en-US" sz="85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23</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COLLABORATION</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「任せる」と「一緒につくる」の間を、柔軟に。</a:t>
            </a:r>
            <a:endParaRPr lang="en-US" sz="2400" dirty="0"/>
          </a:p>
        </p:txBody>
      </p:sp>
      <p:sp>
        <p:nvSpPr>
          <p:cNvPr id="5" name="Shape 3"/>
          <p:cNvSpPr/>
          <p:nvPr/>
        </p:nvSpPr>
        <p:spPr>
          <a:xfrm>
            <a:off x="603504" y="1920240"/>
            <a:ext cx="3465576" cy="3246120"/>
          </a:xfrm>
          <a:prstGeom prst="roundRect">
            <a:avLst>
              <a:gd name="adj" fmla="val 2254"/>
            </a:avLst>
          </a:prstGeom>
          <a:solidFill>
            <a:srgbClr val="FFFFFF"/>
          </a:solidFill>
          <a:ln w="8890">
            <a:solidFill>
              <a:srgbClr val="FFFFFF">
                <a:alpha val="0"/>
              </a:srgbClr>
            </a:solidFill>
            <a:prstDash val="solid"/>
          </a:ln>
        </p:spPr>
      </p:sp>
      <p:sp>
        <p:nvSpPr>
          <p:cNvPr id="6" name="Text 4"/>
          <p:cNvSpPr txBox="1"/>
          <p:nvPr/>
        </p:nvSpPr>
        <p:spPr>
          <a:xfrm>
            <a:off x="804672" y="2139696"/>
            <a:ext cx="1097280" cy="219456"/>
          </a:xfrm>
          <a:prstGeom prst="rect">
            <a:avLst/>
          </a:prstGeom>
          <a:noFill/>
          <a:ln/>
        </p:spPr>
        <p:txBody>
          <a:bodyPr wrap="square" lIns="0" tIns="0" rIns="0" bIns="0" rtlCol="0" anchor="ctr">
            <a:normAutofit/>
          </a:bodyPr>
          <a:lstStyle/>
          <a:p>
            <a:pPr algn="l" indent="0" marL="0">
              <a:buNone/>
            </a:pPr>
            <a:r>
              <a:rPr lang="en-US" sz="750" b="1" spc="120" kern="0" dirty="0">
                <a:solidFill>
                  <a:srgbClr val="188CA1"/>
                </a:solidFill>
                <a:latin typeface="Noto Sans JP" pitchFamily="34" charset="0"/>
                <a:ea typeface="Noto Sans JP" pitchFamily="34" charset="-122"/>
                <a:cs typeface="Noto Sans JP" pitchFamily="34" charset="-120"/>
              </a:rPr>
              <a:t>SPOT</a:t>
            </a:r>
            <a:endParaRPr lang="en-US" sz="750" dirty="0"/>
          </a:p>
        </p:txBody>
      </p:sp>
      <p:sp>
        <p:nvSpPr>
          <p:cNvPr id="7" name="Text 5"/>
          <p:cNvSpPr txBox="1"/>
          <p:nvPr/>
        </p:nvSpPr>
        <p:spPr>
          <a:xfrm>
            <a:off x="804672" y="2761488"/>
            <a:ext cx="3017520" cy="365760"/>
          </a:xfrm>
          <a:prstGeom prst="rect">
            <a:avLst/>
          </a:prstGeom>
          <a:noFill/>
          <a:ln/>
        </p:spPr>
        <p:txBody>
          <a:bodyPr wrap="square" lIns="0" tIns="0" rIns="0" bIns="0" rtlCol="0" anchor="ctr">
            <a:normAutofit/>
          </a:bodyPr>
          <a:lstStyle/>
          <a:p>
            <a:pPr algn="l" indent="0" marL="0">
              <a:buNone/>
            </a:pPr>
            <a:r>
              <a:rPr lang="en-US" sz="1600" b="1" dirty="0">
                <a:solidFill>
                  <a:srgbClr val="202526"/>
                </a:solidFill>
                <a:latin typeface="Noto Sans JP" pitchFamily="34" charset="0"/>
                <a:ea typeface="Noto Sans JP" pitchFamily="34" charset="-122"/>
                <a:cs typeface="Noto Sans JP" pitchFamily="34" charset="-120"/>
              </a:rPr>
              <a:t>単発制作</a:t>
            </a:r>
            <a:endParaRPr lang="en-US" sz="1600" dirty="0"/>
          </a:p>
        </p:txBody>
      </p:sp>
      <p:sp>
        <p:nvSpPr>
          <p:cNvPr id="8" name="Shape 6"/>
          <p:cNvSpPr/>
          <p:nvPr/>
        </p:nvSpPr>
        <p:spPr>
          <a:xfrm>
            <a:off x="804672" y="3310128"/>
            <a:ext cx="530352" cy="0"/>
          </a:xfrm>
          <a:prstGeom prst="line">
            <a:avLst/>
          </a:prstGeom>
          <a:noFill/>
          <a:ln w="25400">
            <a:solidFill>
              <a:srgbClr val="42AFC0"/>
            </a:solidFill>
            <a:prstDash val="solid"/>
            <a:headEnd type="none"/>
            <a:tailEnd type="none"/>
          </a:ln>
        </p:spPr>
      </p:sp>
      <p:sp>
        <p:nvSpPr>
          <p:cNvPr id="9" name="Text 7"/>
          <p:cNvSpPr txBox="1"/>
          <p:nvPr/>
        </p:nvSpPr>
        <p:spPr>
          <a:xfrm>
            <a:off x="804672" y="3639312"/>
            <a:ext cx="2990088" cy="749808"/>
          </a:xfrm>
          <a:prstGeom prst="rect">
            <a:avLst/>
          </a:prstGeom>
          <a:noFill/>
          <a:ln/>
        </p:spPr>
        <p:txBody>
          <a:bodyPr wrap="square" lIns="0" tIns="0" rIns="0" bIns="0" rtlCol="0" anchor="t">
            <a:normAutofit/>
          </a:bodyPr>
          <a:lstStyle/>
          <a:p>
            <a:pPr algn="l" indent="0" marL="0">
              <a:buNone/>
            </a:pPr>
            <a:r>
              <a:rPr lang="en-US" sz="1000" dirty="0">
                <a:solidFill>
                  <a:srgbClr val="687174"/>
                </a:solidFill>
                <a:latin typeface="Noto Sans JP" pitchFamily="34" charset="0"/>
                <a:ea typeface="Noto Sans JP" pitchFamily="34" charset="-122"/>
                <a:cs typeface="Noto Sans JP" pitchFamily="34" charset="-120"/>
              </a:rPr>
              <a:t>投稿テンプレート、キャンペーン、プロフィール改善など</a:t>
            </a:r>
            <a:endParaRPr lang="en-US" sz="1000" dirty="0"/>
          </a:p>
        </p:txBody>
      </p:sp>
      <p:sp>
        <p:nvSpPr>
          <p:cNvPr id="10" name="Shape 8"/>
          <p:cNvSpPr/>
          <p:nvPr/>
        </p:nvSpPr>
        <p:spPr>
          <a:xfrm>
            <a:off x="4398264" y="1920240"/>
            <a:ext cx="3465576" cy="3246120"/>
          </a:xfrm>
          <a:prstGeom prst="roundRect">
            <a:avLst>
              <a:gd name="adj" fmla="val 2254"/>
            </a:avLst>
          </a:prstGeom>
          <a:solidFill>
            <a:srgbClr val="DDEDF1"/>
          </a:solidFill>
          <a:ln w="8890">
            <a:solidFill>
              <a:srgbClr val="DDEDF1">
                <a:alpha val="0"/>
              </a:srgbClr>
            </a:solidFill>
            <a:prstDash val="solid"/>
          </a:ln>
        </p:spPr>
      </p:sp>
      <p:sp>
        <p:nvSpPr>
          <p:cNvPr id="11" name="Text 9"/>
          <p:cNvSpPr txBox="1"/>
          <p:nvPr/>
        </p:nvSpPr>
        <p:spPr>
          <a:xfrm>
            <a:off x="4599432" y="2139696"/>
            <a:ext cx="1097280" cy="219456"/>
          </a:xfrm>
          <a:prstGeom prst="rect">
            <a:avLst/>
          </a:prstGeom>
          <a:noFill/>
          <a:ln/>
        </p:spPr>
        <p:txBody>
          <a:bodyPr wrap="square" lIns="0" tIns="0" rIns="0" bIns="0" rtlCol="0" anchor="ctr">
            <a:normAutofit/>
          </a:bodyPr>
          <a:lstStyle/>
          <a:p>
            <a:pPr algn="l" indent="0" marL="0">
              <a:buNone/>
            </a:pPr>
            <a:r>
              <a:rPr lang="en-US" sz="750" b="1" spc="120" kern="0" dirty="0">
                <a:solidFill>
                  <a:srgbClr val="188CA1"/>
                </a:solidFill>
                <a:latin typeface="Noto Sans JP" pitchFamily="34" charset="0"/>
                <a:ea typeface="Noto Sans JP" pitchFamily="34" charset="-122"/>
                <a:cs typeface="Noto Sans JP" pitchFamily="34" charset="-120"/>
              </a:rPr>
              <a:t>PARTIAL</a:t>
            </a:r>
            <a:endParaRPr lang="en-US" sz="750" dirty="0"/>
          </a:p>
        </p:txBody>
      </p:sp>
      <p:sp>
        <p:nvSpPr>
          <p:cNvPr id="12" name="Text 10"/>
          <p:cNvSpPr txBox="1"/>
          <p:nvPr/>
        </p:nvSpPr>
        <p:spPr>
          <a:xfrm>
            <a:off x="4599432" y="2761488"/>
            <a:ext cx="3017520" cy="365760"/>
          </a:xfrm>
          <a:prstGeom prst="rect">
            <a:avLst/>
          </a:prstGeom>
          <a:noFill/>
          <a:ln/>
        </p:spPr>
        <p:txBody>
          <a:bodyPr wrap="square" lIns="0" tIns="0" rIns="0" bIns="0" rtlCol="0" anchor="ctr">
            <a:normAutofit/>
          </a:bodyPr>
          <a:lstStyle/>
          <a:p>
            <a:pPr algn="l" indent="0" marL="0">
              <a:buNone/>
            </a:pPr>
            <a:r>
              <a:rPr lang="en-US" sz="1600" b="1" dirty="0">
                <a:solidFill>
                  <a:srgbClr val="202526"/>
                </a:solidFill>
                <a:latin typeface="Noto Sans JP" pitchFamily="34" charset="0"/>
                <a:ea typeface="Noto Sans JP" pitchFamily="34" charset="-122"/>
                <a:cs typeface="Noto Sans JP" pitchFamily="34" charset="-120"/>
              </a:rPr>
              <a:t>部分代行</a:t>
            </a:r>
            <a:endParaRPr lang="en-US" sz="1600" dirty="0"/>
          </a:p>
        </p:txBody>
      </p:sp>
      <p:sp>
        <p:nvSpPr>
          <p:cNvPr id="13" name="Shape 11"/>
          <p:cNvSpPr/>
          <p:nvPr/>
        </p:nvSpPr>
        <p:spPr>
          <a:xfrm>
            <a:off x="4599432" y="3310128"/>
            <a:ext cx="530352" cy="0"/>
          </a:xfrm>
          <a:prstGeom prst="line">
            <a:avLst/>
          </a:prstGeom>
          <a:noFill/>
          <a:ln w="25400">
            <a:solidFill>
              <a:srgbClr val="42AFC0"/>
            </a:solidFill>
            <a:prstDash val="solid"/>
            <a:headEnd type="none"/>
            <a:tailEnd type="none"/>
          </a:ln>
        </p:spPr>
      </p:sp>
      <p:sp>
        <p:nvSpPr>
          <p:cNvPr id="14" name="Text 12"/>
          <p:cNvSpPr txBox="1"/>
          <p:nvPr/>
        </p:nvSpPr>
        <p:spPr>
          <a:xfrm>
            <a:off x="4599432" y="3639312"/>
            <a:ext cx="2990088" cy="749808"/>
          </a:xfrm>
          <a:prstGeom prst="rect">
            <a:avLst/>
          </a:prstGeom>
          <a:noFill/>
          <a:ln/>
        </p:spPr>
        <p:txBody>
          <a:bodyPr wrap="square" lIns="0" tIns="0" rIns="0" bIns="0" rtlCol="0" anchor="t">
            <a:normAutofit/>
          </a:bodyPr>
          <a:lstStyle/>
          <a:p>
            <a:pPr algn="l" indent="0" marL="0">
              <a:buNone/>
            </a:pPr>
            <a:r>
              <a:rPr lang="en-US" sz="1000" dirty="0">
                <a:solidFill>
                  <a:srgbClr val="687174"/>
                </a:solidFill>
                <a:latin typeface="Noto Sans JP" pitchFamily="34" charset="0"/>
                <a:ea typeface="Noto Sans JP" pitchFamily="34" charset="-122"/>
                <a:cs typeface="Noto Sans JP" pitchFamily="34" charset="-120"/>
              </a:rPr>
              <a:t>企画のみ／制作のみ／投稿管理など、必要な工程を担当</a:t>
            </a:r>
            <a:endParaRPr lang="en-US" sz="1000" dirty="0"/>
          </a:p>
        </p:txBody>
      </p:sp>
      <p:sp>
        <p:nvSpPr>
          <p:cNvPr id="15" name="Shape 13"/>
          <p:cNvSpPr/>
          <p:nvPr/>
        </p:nvSpPr>
        <p:spPr>
          <a:xfrm>
            <a:off x="8193024" y="1920240"/>
            <a:ext cx="3465576" cy="3246120"/>
          </a:xfrm>
          <a:prstGeom prst="roundRect">
            <a:avLst>
              <a:gd name="adj" fmla="val 2254"/>
            </a:avLst>
          </a:prstGeom>
          <a:solidFill>
            <a:srgbClr val="42AFC0"/>
          </a:solidFill>
          <a:ln w="8890">
            <a:solidFill>
              <a:srgbClr val="42AFC0">
                <a:alpha val="0"/>
              </a:srgbClr>
            </a:solidFill>
            <a:prstDash val="solid"/>
          </a:ln>
        </p:spPr>
      </p:sp>
      <p:sp>
        <p:nvSpPr>
          <p:cNvPr id="16" name="Text 14"/>
          <p:cNvSpPr txBox="1"/>
          <p:nvPr/>
        </p:nvSpPr>
        <p:spPr>
          <a:xfrm>
            <a:off x="8394192" y="2139696"/>
            <a:ext cx="1097280" cy="219456"/>
          </a:xfrm>
          <a:prstGeom prst="rect">
            <a:avLst/>
          </a:prstGeom>
          <a:noFill/>
          <a:ln/>
        </p:spPr>
        <p:txBody>
          <a:bodyPr wrap="square" lIns="0" tIns="0" rIns="0" bIns="0" rtlCol="0" anchor="ctr">
            <a:normAutofit/>
          </a:bodyPr>
          <a:lstStyle/>
          <a:p>
            <a:pPr algn="l" indent="0" marL="0">
              <a:buNone/>
            </a:pPr>
            <a:r>
              <a:rPr lang="en-US" sz="750" b="1" spc="120" kern="0" dirty="0">
                <a:solidFill>
                  <a:srgbClr val="202526"/>
                </a:solidFill>
                <a:latin typeface="Noto Sans JP" pitchFamily="34" charset="0"/>
                <a:ea typeface="Noto Sans JP" pitchFamily="34" charset="-122"/>
                <a:cs typeface="Noto Sans JP" pitchFamily="34" charset="-120"/>
              </a:rPr>
              <a:t>FULL</a:t>
            </a:r>
            <a:endParaRPr lang="en-US" sz="750" dirty="0"/>
          </a:p>
        </p:txBody>
      </p:sp>
      <p:sp>
        <p:nvSpPr>
          <p:cNvPr id="17" name="Text 15"/>
          <p:cNvSpPr txBox="1"/>
          <p:nvPr/>
        </p:nvSpPr>
        <p:spPr>
          <a:xfrm>
            <a:off x="8394192" y="2761488"/>
            <a:ext cx="3017520" cy="365760"/>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Noto Sans JP" pitchFamily="34" charset="0"/>
                <a:ea typeface="Noto Sans JP" pitchFamily="34" charset="-122"/>
                <a:cs typeface="Noto Sans JP" pitchFamily="34" charset="-120"/>
              </a:rPr>
              <a:t>一貫支援</a:t>
            </a:r>
            <a:endParaRPr lang="en-US" sz="1600" dirty="0"/>
          </a:p>
        </p:txBody>
      </p:sp>
      <p:sp>
        <p:nvSpPr>
          <p:cNvPr id="18" name="Shape 16"/>
          <p:cNvSpPr/>
          <p:nvPr/>
        </p:nvSpPr>
        <p:spPr>
          <a:xfrm>
            <a:off x="8394192" y="3310128"/>
            <a:ext cx="530352" cy="0"/>
          </a:xfrm>
          <a:prstGeom prst="line">
            <a:avLst/>
          </a:prstGeom>
          <a:noFill/>
          <a:ln w="25400">
            <a:solidFill>
              <a:srgbClr val="FFFFFF"/>
            </a:solidFill>
            <a:prstDash val="solid"/>
            <a:headEnd type="none"/>
            <a:tailEnd type="none"/>
          </a:ln>
        </p:spPr>
      </p:sp>
      <p:sp>
        <p:nvSpPr>
          <p:cNvPr id="19" name="Text 17"/>
          <p:cNvSpPr txBox="1"/>
          <p:nvPr/>
        </p:nvSpPr>
        <p:spPr>
          <a:xfrm>
            <a:off x="8394192" y="3639312"/>
            <a:ext cx="2990088" cy="749808"/>
          </a:xfrm>
          <a:prstGeom prst="rect">
            <a:avLst/>
          </a:prstGeom>
          <a:noFill/>
          <a:ln/>
        </p:spPr>
        <p:txBody>
          <a:bodyPr wrap="square" lIns="0" tIns="0" rIns="0" bIns="0" rtlCol="0" anchor="t">
            <a:normAutofit/>
          </a:bodyPr>
          <a:lstStyle/>
          <a:p>
            <a:pPr algn="l" indent="0" marL="0">
              <a:buNone/>
            </a:pPr>
            <a:r>
              <a:rPr lang="en-US" sz="1000" dirty="0">
                <a:solidFill>
                  <a:srgbClr val="FFFFFF"/>
                </a:solidFill>
                <a:latin typeface="Noto Sans JP" pitchFamily="34" charset="0"/>
                <a:ea typeface="Noto Sans JP" pitchFamily="34" charset="-122"/>
                <a:cs typeface="Noto Sans JP" pitchFamily="34" charset="-120"/>
              </a:rPr>
              <a:t>設計・企画・制作・運用・改善まで、窓口を一本化</a:t>
            </a:r>
            <a:endParaRPr lang="en-US" sz="1000" dirty="0"/>
          </a:p>
        </p:txBody>
      </p:sp>
      <p:sp>
        <p:nvSpPr>
          <p:cNvPr id="20" name="Text 18"/>
          <p:cNvSpPr txBox="1"/>
          <p:nvPr/>
        </p:nvSpPr>
        <p:spPr>
          <a:xfrm>
            <a:off x="1133856" y="5605272"/>
            <a:ext cx="9966960" cy="365760"/>
          </a:xfrm>
          <a:prstGeom prst="rect">
            <a:avLst/>
          </a:prstGeom>
          <a:noFill/>
          <a:ln/>
        </p:spPr>
        <p:txBody>
          <a:bodyPr wrap="square" lIns="0" tIns="0" rIns="0" bIns="0" rtlCol="0" anchor="ctr">
            <a:normAutofit/>
          </a:bodyPr>
          <a:lstStyle/>
          <a:p>
            <a:pPr algn="ctr" indent="0" marL="0">
              <a:buNone/>
            </a:pPr>
            <a:r>
              <a:rPr lang="en-US" sz="1300" b="1" dirty="0">
                <a:solidFill>
                  <a:srgbClr val="202526"/>
                </a:solidFill>
                <a:latin typeface="Noto Sans JP" pitchFamily="34" charset="0"/>
                <a:ea typeface="Noto Sans JP" pitchFamily="34" charset="-122"/>
                <a:cs typeface="Noto Sans JP" pitchFamily="34" charset="-120"/>
              </a:rPr>
              <a:t>ヒアリング後、目的・期間・社内体制に合わせて支援範囲をご提案します。</a:t>
            </a:r>
            <a:endParaRPr lang="en-US" sz="130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93776" y="347472"/>
            <a:ext cx="384048" cy="310896"/>
          </a:xfrm>
          <a:prstGeom prst="rect">
            <a:avLst/>
          </a:prstGeom>
          <a:noFill/>
          <a:ln/>
        </p:spPr>
        <p:txBody>
          <a:bodyPr wrap="square" lIns="0" tIns="0" rIns="0" bIns="0" rtlCol="0" anchor="ctr">
            <a:normAutofit/>
          </a:bodyPr>
          <a:lstStyle/>
          <a:p>
            <a:pPr algn="l" indent="0" marL="0">
              <a:buNone/>
            </a:pPr>
            <a:r>
              <a:rPr lang="en-US" sz="1100" b="1" dirty="0">
                <a:solidFill>
                  <a:srgbClr val="188CA1"/>
                </a:solidFill>
                <a:latin typeface="Noto Sans JP" pitchFamily="34" charset="0"/>
                <a:ea typeface="Noto Sans JP" pitchFamily="34" charset="-122"/>
                <a:cs typeface="Noto Sans JP" pitchFamily="34" charset="-120"/>
              </a:rPr>
              <a:t>24</a:t>
            </a:r>
            <a:endParaRPr lang="en-US" sz="1100" dirty="0"/>
          </a:p>
        </p:txBody>
      </p:sp>
      <p:sp>
        <p:nvSpPr>
          <p:cNvPr id="3" name="Text 1"/>
          <p:cNvSpPr txBox="1"/>
          <p:nvPr/>
        </p:nvSpPr>
        <p:spPr>
          <a:xfrm>
            <a:off x="960120" y="356616"/>
            <a:ext cx="5943600" cy="256032"/>
          </a:xfrm>
          <a:prstGeom prst="rect">
            <a:avLst/>
          </a:prstGeom>
          <a:noFill/>
          <a:ln/>
        </p:spPr>
        <p:txBody>
          <a:bodyPr wrap="square" lIns="0" tIns="0" rIns="0" bIns="0" rtlCol="0" anchor="ctr">
            <a:normAutofit/>
          </a:bodyPr>
          <a:lstStyle/>
          <a:p>
            <a:pPr algn="l" indent="0" marL="0">
              <a:buNone/>
            </a:pPr>
            <a:r>
              <a:rPr lang="en-US" sz="800" spc="130" kern="0" dirty="0">
                <a:solidFill>
                  <a:srgbClr val="687174"/>
                </a:solidFill>
                <a:latin typeface="Noto Sans JP" pitchFamily="34" charset="0"/>
                <a:ea typeface="Noto Sans JP" pitchFamily="34" charset="-122"/>
                <a:cs typeface="Noto Sans JP" pitchFamily="34" charset="-120"/>
              </a:rPr>
              <a:t>REQUEST FLOW</a:t>
            </a:r>
            <a:endParaRPr lang="en-US" sz="800" dirty="0"/>
          </a:p>
        </p:txBody>
      </p:sp>
      <p:sp>
        <p:nvSpPr>
          <p:cNvPr id="4" name="Text 2"/>
          <p:cNvSpPr txBox="1"/>
          <p:nvPr/>
        </p:nvSpPr>
        <p:spPr>
          <a:xfrm>
            <a:off x="493776" y="749808"/>
            <a:ext cx="10881360" cy="502920"/>
          </a:xfrm>
          <a:prstGeom prst="rect">
            <a:avLst/>
          </a:prstGeom>
          <a:noFill/>
          <a:ln/>
        </p:spPr>
        <p:txBody>
          <a:bodyPr wrap="square" lIns="0" tIns="0" rIns="0" bIns="0" rtlCol="0" anchor="ctr">
            <a:normAutofit/>
          </a:bodyPr>
          <a:lstStyle/>
          <a:p>
            <a:pPr algn="l" indent="0" marL="0">
              <a:buNone/>
            </a:pPr>
            <a:r>
              <a:rPr lang="en-US" sz="2400" b="1" dirty="0">
                <a:solidFill>
                  <a:srgbClr val="202526"/>
                </a:solidFill>
                <a:latin typeface="Noto Sans JP" pitchFamily="34" charset="0"/>
                <a:ea typeface="Noto Sans JP" pitchFamily="34" charset="-122"/>
                <a:cs typeface="Noto Sans JP" pitchFamily="34" charset="-120"/>
              </a:rPr>
              <a:t>ご相談から開始まで。</a:t>
            </a:r>
            <a:endParaRPr lang="en-US" sz="2400" dirty="0"/>
          </a:p>
        </p:txBody>
      </p:sp>
      <p:sp>
        <p:nvSpPr>
          <p:cNvPr id="5" name="Text 3"/>
          <p:cNvSpPr txBox="1"/>
          <p:nvPr/>
        </p:nvSpPr>
        <p:spPr>
          <a:xfrm>
            <a:off x="521208" y="1298448"/>
            <a:ext cx="10424160" cy="329184"/>
          </a:xfrm>
          <a:prstGeom prst="rect">
            <a:avLst/>
          </a:prstGeom>
          <a:noFill/>
          <a:ln/>
        </p:spPr>
        <p:txBody>
          <a:bodyPr wrap="square" lIns="0" tIns="0" rIns="0" bIns="0" rtlCol="0" anchor="ctr">
            <a:normAutofit/>
          </a:bodyPr>
          <a:lstStyle/>
          <a:p>
            <a:pPr algn="l" indent="0" marL="0">
              <a:buNone/>
            </a:pPr>
            <a:r>
              <a:rPr lang="en-US" sz="1050" dirty="0">
                <a:solidFill>
                  <a:srgbClr val="687174"/>
                </a:solidFill>
                <a:latin typeface="Noto Sans JP" pitchFamily="34" charset="0"/>
                <a:ea typeface="Noto Sans JP" pitchFamily="34" charset="-122"/>
                <a:cs typeface="Noto Sans JP" pitchFamily="34" charset="-120"/>
              </a:rPr>
              <a:t>まずは現状と「こうなりたい」をお聞かせください。</a:t>
            </a:r>
            <a:endParaRPr lang="en-US" sz="1050" dirty="0"/>
          </a:p>
        </p:txBody>
      </p:sp>
      <p:sp>
        <p:nvSpPr>
          <p:cNvPr id="6" name="Shape 4"/>
          <p:cNvSpPr/>
          <p:nvPr/>
        </p:nvSpPr>
        <p:spPr>
          <a:xfrm>
            <a:off x="1143000" y="2048256"/>
            <a:ext cx="841248" cy="841248"/>
          </a:xfrm>
          <a:prstGeom prst="ellipse">
            <a:avLst/>
          </a:prstGeom>
          <a:solidFill>
            <a:srgbClr val="FFFFFF"/>
          </a:solidFill>
          <a:ln w="17780">
            <a:solidFill>
              <a:srgbClr val="42AFC0"/>
            </a:solidFill>
            <a:prstDash val="solid"/>
          </a:ln>
        </p:spPr>
      </p:sp>
      <p:sp>
        <p:nvSpPr>
          <p:cNvPr id="7" name="Text 5"/>
          <p:cNvSpPr txBox="1"/>
          <p:nvPr/>
        </p:nvSpPr>
        <p:spPr>
          <a:xfrm>
            <a:off x="1252728" y="2267712"/>
            <a:ext cx="621792" cy="256032"/>
          </a:xfrm>
          <a:prstGeom prst="rect">
            <a:avLst/>
          </a:prstGeom>
          <a:noFill/>
          <a:ln/>
        </p:spPr>
        <p:txBody>
          <a:bodyPr wrap="square" lIns="0" tIns="0" rIns="0" bIns="0" rtlCol="0" anchor="ctr">
            <a:normAutofit/>
          </a:bodyPr>
          <a:lstStyle/>
          <a:p>
            <a:pPr algn="ctr" indent="0" marL="0">
              <a:buNone/>
            </a:pPr>
            <a:r>
              <a:rPr lang="en-US" sz="900" b="1" dirty="0">
                <a:solidFill>
                  <a:srgbClr val="188CA1"/>
                </a:solidFill>
                <a:latin typeface="Noto Sans JP" pitchFamily="34" charset="0"/>
                <a:ea typeface="Noto Sans JP" pitchFamily="34" charset="-122"/>
                <a:cs typeface="Noto Sans JP" pitchFamily="34" charset="-120"/>
              </a:rPr>
              <a:t>01</a:t>
            </a:r>
            <a:endParaRPr lang="en-US" sz="900" dirty="0"/>
          </a:p>
        </p:txBody>
      </p:sp>
      <p:sp>
        <p:nvSpPr>
          <p:cNvPr id="8" name="Text 6"/>
          <p:cNvSpPr txBox="1"/>
          <p:nvPr/>
        </p:nvSpPr>
        <p:spPr>
          <a:xfrm>
            <a:off x="576072" y="3172968"/>
            <a:ext cx="1993392" cy="475488"/>
          </a:xfrm>
          <a:prstGeom prst="rect">
            <a:avLst/>
          </a:prstGeom>
          <a:noFill/>
          <a:ln/>
        </p:spPr>
        <p:txBody>
          <a:bodyPr wrap="square" lIns="0" tIns="0" rIns="0" bIns="0" rtlCol="0" anchor="ctr">
            <a:normAutofit/>
          </a:bodyPr>
          <a:lstStyle/>
          <a:p>
            <a:pPr algn="ctr" indent="0" marL="0">
              <a:buNone/>
            </a:pPr>
            <a:r>
              <a:rPr lang="en-US" sz="1150" b="1" dirty="0">
                <a:solidFill>
                  <a:srgbClr val="202526"/>
                </a:solidFill>
                <a:latin typeface="Noto Sans JP" pitchFamily="34" charset="0"/>
                <a:ea typeface="Noto Sans JP" pitchFamily="34" charset="-122"/>
                <a:cs typeface="Noto Sans JP" pitchFamily="34" charset="-120"/>
              </a:rPr>
              <a:t>お問い合わせ</a:t>
            </a:r>
            <a:endParaRPr lang="en-US" sz="1150" dirty="0"/>
          </a:p>
        </p:txBody>
      </p:sp>
      <p:sp>
        <p:nvSpPr>
          <p:cNvPr id="9" name="Shape 7"/>
          <p:cNvSpPr/>
          <p:nvPr/>
        </p:nvSpPr>
        <p:spPr>
          <a:xfrm>
            <a:off x="2002536" y="2468880"/>
            <a:ext cx="822960" cy="0"/>
          </a:xfrm>
          <a:prstGeom prst="line">
            <a:avLst/>
          </a:prstGeom>
          <a:noFill/>
          <a:ln w="25400">
            <a:solidFill>
              <a:srgbClr val="DDE3E2"/>
            </a:solidFill>
            <a:prstDash val="solid"/>
            <a:headEnd type="none"/>
            <a:tailEnd type="none"/>
          </a:ln>
        </p:spPr>
      </p:sp>
      <p:sp>
        <p:nvSpPr>
          <p:cNvPr id="10" name="Shape 8"/>
          <p:cNvSpPr/>
          <p:nvPr/>
        </p:nvSpPr>
        <p:spPr>
          <a:xfrm>
            <a:off x="3429000" y="2048256"/>
            <a:ext cx="841248" cy="841248"/>
          </a:xfrm>
          <a:prstGeom prst="ellipse">
            <a:avLst/>
          </a:prstGeom>
          <a:solidFill>
            <a:srgbClr val="FFFFFF"/>
          </a:solidFill>
          <a:ln w="17780">
            <a:solidFill>
              <a:srgbClr val="42AFC0"/>
            </a:solidFill>
            <a:prstDash val="solid"/>
          </a:ln>
        </p:spPr>
      </p:sp>
      <p:sp>
        <p:nvSpPr>
          <p:cNvPr id="11" name="Text 9"/>
          <p:cNvSpPr txBox="1"/>
          <p:nvPr/>
        </p:nvSpPr>
        <p:spPr>
          <a:xfrm>
            <a:off x="3538728" y="2267712"/>
            <a:ext cx="621792" cy="256032"/>
          </a:xfrm>
          <a:prstGeom prst="rect">
            <a:avLst/>
          </a:prstGeom>
          <a:noFill/>
          <a:ln/>
        </p:spPr>
        <p:txBody>
          <a:bodyPr wrap="square" lIns="0" tIns="0" rIns="0" bIns="0" rtlCol="0" anchor="ctr">
            <a:normAutofit/>
          </a:bodyPr>
          <a:lstStyle/>
          <a:p>
            <a:pPr algn="ctr" indent="0" marL="0">
              <a:buNone/>
            </a:pPr>
            <a:r>
              <a:rPr lang="en-US" sz="900" b="1" dirty="0">
                <a:solidFill>
                  <a:srgbClr val="188CA1"/>
                </a:solidFill>
                <a:latin typeface="Noto Sans JP" pitchFamily="34" charset="0"/>
                <a:ea typeface="Noto Sans JP" pitchFamily="34" charset="-122"/>
                <a:cs typeface="Noto Sans JP" pitchFamily="34" charset="-120"/>
              </a:rPr>
              <a:t>02</a:t>
            </a:r>
            <a:endParaRPr lang="en-US" sz="900" dirty="0"/>
          </a:p>
        </p:txBody>
      </p:sp>
      <p:sp>
        <p:nvSpPr>
          <p:cNvPr id="12" name="Text 10"/>
          <p:cNvSpPr txBox="1"/>
          <p:nvPr/>
        </p:nvSpPr>
        <p:spPr>
          <a:xfrm>
            <a:off x="2862072" y="3172968"/>
            <a:ext cx="1993392" cy="475488"/>
          </a:xfrm>
          <a:prstGeom prst="rect">
            <a:avLst/>
          </a:prstGeom>
          <a:noFill/>
          <a:ln/>
        </p:spPr>
        <p:txBody>
          <a:bodyPr wrap="square" lIns="0" tIns="0" rIns="0" bIns="0" rtlCol="0" anchor="ctr">
            <a:normAutofit/>
          </a:bodyPr>
          <a:lstStyle/>
          <a:p>
            <a:pPr algn="ctr" indent="0" marL="0">
              <a:buNone/>
            </a:pPr>
            <a:r>
              <a:rPr lang="en-US" sz="1150" b="1" dirty="0">
                <a:solidFill>
                  <a:srgbClr val="202526"/>
                </a:solidFill>
                <a:latin typeface="Noto Sans JP" pitchFamily="34" charset="0"/>
                <a:ea typeface="Noto Sans JP" pitchFamily="34" charset="-122"/>
                <a:cs typeface="Noto Sans JP" pitchFamily="34" charset="-120"/>
              </a:rPr>
              <a:t>ヒアリング</a:t>
            </a:r>
            <a:endParaRPr lang="en-US" sz="1150" dirty="0"/>
          </a:p>
        </p:txBody>
      </p:sp>
      <p:sp>
        <p:nvSpPr>
          <p:cNvPr id="13" name="Shape 11"/>
          <p:cNvSpPr/>
          <p:nvPr/>
        </p:nvSpPr>
        <p:spPr>
          <a:xfrm>
            <a:off x="4288536" y="2468880"/>
            <a:ext cx="822960" cy="0"/>
          </a:xfrm>
          <a:prstGeom prst="line">
            <a:avLst/>
          </a:prstGeom>
          <a:noFill/>
          <a:ln w="25400">
            <a:solidFill>
              <a:srgbClr val="DDE3E2"/>
            </a:solidFill>
            <a:prstDash val="solid"/>
            <a:headEnd type="none"/>
            <a:tailEnd type="none"/>
          </a:ln>
        </p:spPr>
      </p:sp>
      <p:sp>
        <p:nvSpPr>
          <p:cNvPr id="14" name="Shape 12"/>
          <p:cNvSpPr/>
          <p:nvPr/>
        </p:nvSpPr>
        <p:spPr>
          <a:xfrm>
            <a:off x="5715000" y="2048256"/>
            <a:ext cx="841248" cy="841248"/>
          </a:xfrm>
          <a:prstGeom prst="ellipse">
            <a:avLst/>
          </a:prstGeom>
          <a:solidFill>
            <a:srgbClr val="FFFFFF"/>
          </a:solidFill>
          <a:ln w="17780">
            <a:solidFill>
              <a:srgbClr val="42AFC0"/>
            </a:solidFill>
            <a:prstDash val="solid"/>
          </a:ln>
        </p:spPr>
      </p:sp>
      <p:sp>
        <p:nvSpPr>
          <p:cNvPr id="15" name="Text 13"/>
          <p:cNvSpPr txBox="1"/>
          <p:nvPr/>
        </p:nvSpPr>
        <p:spPr>
          <a:xfrm>
            <a:off x="5824728" y="2267712"/>
            <a:ext cx="621792" cy="256032"/>
          </a:xfrm>
          <a:prstGeom prst="rect">
            <a:avLst/>
          </a:prstGeom>
          <a:noFill/>
          <a:ln/>
        </p:spPr>
        <p:txBody>
          <a:bodyPr wrap="square" lIns="0" tIns="0" rIns="0" bIns="0" rtlCol="0" anchor="ctr">
            <a:normAutofit/>
          </a:bodyPr>
          <a:lstStyle/>
          <a:p>
            <a:pPr algn="ctr" indent="0" marL="0">
              <a:buNone/>
            </a:pPr>
            <a:r>
              <a:rPr lang="en-US" sz="900" b="1" dirty="0">
                <a:solidFill>
                  <a:srgbClr val="188CA1"/>
                </a:solidFill>
                <a:latin typeface="Noto Sans JP" pitchFamily="34" charset="0"/>
                <a:ea typeface="Noto Sans JP" pitchFamily="34" charset="-122"/>
                <a:cs typeface="Noto Sans JP" pitchFamily="34" charset="-120"/>
              </a:rPr>
              <a:t>03</a:t>
            </a:r>
            <a:endParaRPr lang="en-US" sz="900" dirty="0"/>
          </a:p>
        </p:txBody>
      </p:sp>
      <p:sp>
        <p:nvSpPr>
          <p:cNvPr id="16" name="Text 14"/>
          <p:cNvSpPr txBox="1"/>
          <p:nvPr/>
        </p:nvSpPr>
        <p:spPr>
          <a:xfrm>
            <a:off x="5148072" y="3172968"/>
            <a:ext cx="1993392" cy="475488"/>
          </a:xfrm>
          <a:prstGeom prst="rect">
            <a:avLst/>
          </a:prstGeom>
          <a:noFill/>
          <a:ln/>
        </p:spPr>
        <p:txBody>
          <a:bodyPr wrap="square" lIns="0" tIns="0" rIns="0" bIns="0" rtlCol="0" anchor="ctr">
            <a:normAutofit/>
          </a:bodyPr>
          <a:lstStyle/>
          <a:p>
            <a:pPr algn="ctr" indent="0" marL="0">
              <a:buNone/>
            </a:pPr>
            <a:r>
              <a:rPr lang="en-US" sz="1150" b="1" dirty="0">
                <a:solidFill>
                  <a:srgbClr val="202526"/>
                </a:solidFill>
                <a:latin typeface="Noto Sans JP" pitchFamily="34" charset="0"/>
                <a:ea typeface="Noto Sans JP" pitchFamily="34" charset="-122"/>
                <a:cs typeface="Noto Sans JP" pitchFamily="34" charset="-120"/>
              </a:rPr>
              <a:t>ご提案・お見積り</a:t>
            </a:r>
            <a:endParaRPr lang="en-US" sz="1150" dirty="0"/>
          </a:p>
        </p:txBody>
      </p:sp>
      <p:sp>
        <p:nvSpPr>
          <p:cNvPr id="17" name="Shape 15"/>
          <p:cNvSpPr/>
          <p:nvPr/>
        </p:nvSpPr>
        <p:spPr>
          <a:xfrm>
            <a:off x="6574536" y="2468880"/>
            <a:ext cx="822960" cy="0"/>
          </a:xfrm>
          <a:prstGeom prst="line">
            <a:avLst/>
          </a:prstGeom>
          <a:noFill/>
          <a:ln w="25400">
            <a:solidFill>
              <a:srgbClr val="DDE3E2"/>
            </a:solidFill>
            <a:prstDash val="solid"/>
            <a:headEnd type="none"/>
            <a:tailEnd type="none"/>
          </a:ln>
        </p:spPr>
      </p:sp>
      <p:sp>
        <p:nvSpPr>
          <p:cNvPr id="18" name="Shape 16"/>
          <p:cNvSpPr/>
          <p:nvPr/>
        </p:nvSpPr>
        <p:spPr>
          <a:xfrm>
            <a:off x="8001000" y="2048256"/>
            <a:ext cx="841248" cy="841248"/>
          </a:xfrm>
          <a:prstGeom prst="ellipse">
            <a:avLst/>
          </a:prstGeom>
          <a:solidFill>
            <a:srgbClr val="FFFFFF"/>
          </a:solidFill>
          <a:ln w="17780">
            <a:solidFill>
              <a:srgbClr val="42AFC0"/>
            </a:solidFill>
            <a:prstDash val="solid"/>
          </a:ln>
        </p:spPr>
      </p:sp>
      <p:sp>
        <p:nvSpPr>
          <p:cNvPr id="19" name="Text 17"/>
          <p:cNvSpPr txBox="1"/>
          <p:nvPr/>
        </p:nvSpPr>
        <p:spPr>
          <a:xfrm>
            <a:off x="8110728" y="2267712"/>
            <a:ext cx="621792" cy="256032"/>
          </a:xfrm>
          <a:prstGeom prst="rect">
            <a:avLst/>
          </a:prstGeom>
          <a:noFill/>
          <a:ln/>
        </p:spPr>
        <p:txBody>
          <a:bodyPr wrap="square" lIns="0" tIns="0" rIns="0" bIns="0" rtlCol="0" anchor="ctr">
            <a:normAutofit/>
          </a:bodyPr>
          <a:lstStyle/>
          <a:p>
            <a:pPr algn="ctr" indent="0" marL="0">
              <a:buNone/>
            </a:pPr>
            <a:r>
              <a:rPr lang="en-US" sz="900" b="1" dirty="0">
                <a:solidFill>
                  <a:srgbClr val="188CA1"/>
                </a:solidFill>
                <a:latin typeface="Noto Sans JP" pitchFamily="34" charset="0"/>
                <a:ea typeface="Noto Sans JP" pitchFamily="34" charset="-122"/>
                <a:cs typeface="Noto Sans JP" pitchFamily="34" charset="-120"/>
              </a:rPr>
              <a:t>04</a:t>
            </a:r>
            <a:endParaRPr lang="en-US" sz="900" dirty="0"/>
          </a:p>
        </p:txBody>
      </p:sp>
      <p:sp>
        <p:nvSpPr>
          <p:cNvPr id="20" name="Text 18"/>
          <p:cNvSpPr txBox="1"/>
          <p:nvPr/>
        </p:nvSpPr>
        <p:spPr>
          <a:xfrm>
            <a:off x="7434072" y="3172968"/>
            <a:ext cx="1993392" cy="475488"/>
          </a:xfrm>
          <a:prstGeom prst="rect">
            <a:avLst/>
          </a:prstGeom>
          <a:noFill/>
          <a:ln/>
        </p:spPr>
        <p:txBody>
          <a:bodyPr wrap="square" lIns="0" tIns="0" rIns="0" bIns="0" rtlCol="0" anchor="ctr">
            <a:normAutofit/>
          </a:bodyPr>
          <a:lstStyle/>
          <a:p>
            <a:pPr algn="ctr" indent="0" marL="0">
              <a:buNone/>
            </a:pPr>
            <a:r>
              <a:rPr lang="en-US" sz="1150" b="1" dirty="0">
                <a:solidFill>
                  <a:srgbClr val="202526"/>
                </a:solidFill>
                <a:latin typeface="Noto Sans JP" pitchFamily="34" charset="0"/>
                <a:ea typeface="Noto Sans JP" pitchFamily="34" charset="-122"/>
                <a:cs typeface="Noto Sans JP" pitchFamily="34" charset="-120"/>
              </a:rPr>
              <a:t>ご契約・準備</a:t>
            </a:r>
            <a:endParaRPr lang="en-US" sz="1150" dirty="0"/>
          </a:p>
        </p:txBody>
      </p:sp>
      <p:sp>
        <p:nvSpPr>
          <p:cNvPr id="21" name="Shape 19"/>
          <p:cNvSpPr/>
          <p:nvPr/>
        </p:nvSpPr>
        <p:spPr>
          <a:xfrm>
            <a:off x="8860536" y="2468880"/>
            <a:ext cx="822960" cy="0"/>
          </a:xfrm>
          <a:prstGeom prst="line">
            <a:avLst/>
          </a:prstGeom>
          <a:noFill/>
          <a:ln w="25400">
            <a:solidFill>
              <a:srgbClr val="DDE3E2"/>
            </a:solidFill>
            <a:prstDash val="solid"/>
            <a:headEnd type="none"/>
            <a:tailEnd type="none"/>
          </a:ln>
        </p:spPr>
      </p:sp>
      <p:sp>
        <p:nvSpPr>
          <p:cNvPr id="22" name="Shape 20"/>
          <p:cNvSpPr/>
          <p:nvPr/>
        </p:nvSpPr>
        <p:spPr>
          <a:xfrm>
            <a:off x="10287000" y="2048256"/>
            <a:ext cx="841248" cy="841248"/>
          </a:xfrm>
          <a:prstGeom prst="ellipse">
            <a:avLst/>
          </a:prstGeom>
          <a:solidFill>
            <a:srgbClr val="42AFC0"/>
          </a:solidFill>
          <a:ln w="17780">
            <a:solidFill>
              <a:srgbClr val="42AFC0"/>
            </a:solidFill>
            <a:prstDash val="solid"/>
          </a:ln>
        </p:spPr>
      </p:sp>
      <p:sp>
        <p:nvSpPr>
          <p:cNvPr id="23" name="Text 21"/>
          <p:cNvSpPr txBox="1"/>
          <p:nvPr/>
        </p:nvSpPr>
        <p:spPr>
          <a:xfrm>
            <a:off x="10396728" y="2267712"/>
            <a:ext cx="621792"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Noto Sans JP" pitchFamily="34" charset="0"/>
                <a:ea typeface="Noto Sans JP" pitchFamily="34" charset="-122"/>
                <a:cs typeface="Noto Sans JP" pitchFamily="34" charset="-120"/>
              </a:rPr>
              <a:t>05</a:t>
            </a:r>
            <a:endParaRPr lang="en-US" sz="900" dirty="0"/>
          </a:p>
        </p:txBody>
      </p:sp>
      <p:sp>
        <p:nvSpPr>
          <p:cNvPr id="24" name="Text 22"/>
          <p:cNvSpPr txBox="1"/>
          <p:nvPr/>
        </p:nvSpPr>
        <p:spPr>
          <a:xfrm>
            <a:off x="9720072" y="3172968"/>
            <a:ext cx="1993392" cy="475488"/>
          </a:xfrm>
          <a:prstGeom prst="rect">
            <a:avLst/>
          </a:prstGeom>
          <a:noFill/>
          <a:ln/>
        </p:spPr>
        <p:txBody>
          <a:bodyPr wrap="square" lIns="0" tIns="0" rIns="0" bIns="0" rtlCol="0" anchor="ctr">
            <a:normAutofit/>
          </a:bodyPr>
          <a:lstStyle/>
          <a:p>
            <a:pPr algn="ctr" indent="0" marL="0">
              <a:buNone/>
            </a:pPr>
            <a:r>
              <a:rPr lang="en-US" sz="1150" b="1" dirty="0">
                <a:solidFill>
                  <a:srgbClr val="202526"/>
                </a:solidFill>
                <a:latin typeface="Noto Sans JP" pitchFamily="34" charset="0"/>
                <a:ea typeface="Noto Sans JP" pitchFamily="34" charset="-122"/>
                <a:cs typeface="Noto Sans JP" pitchFamily="34" charset="-120"/>
              </a:rPr>
              <a:t>運用開始</a:t>
            </a:r>
            <a:endParaRPr lang="en-US" sz="1150" dirty="0"/>
          </a:p>
        </p:txBody>
      </p:sp>
      <p:sp>
        <p:nvSpPr>
          <p:cNvPr id="25" name="Shape 23"/>
          <p:cNvSpPr/>
          <p:nvPr/>
        </p:nvSpPr>
        <p:spPr>
          <a:xfrm>
            <a:off x="1060704" y="4279392"/>
            <a:ext cx="10058400" cy="1060704"/>
          </a:xfrm>
          <a:prstGeom prst="roundRect">
            <a:avLst>
              <a:gd name="adj" fmla="val 6897"/>
            </a:avLst>
          </a:prstGeom>
          <a:solidFill>
            <a:srgbClr val="DDEDF1"/>
          </a:solidFill>
          <a:ln w="8890">
            <a:solidFill>
              <a:srgbClr val="DDEDF1">
                <a:alpha val="0"/>
              </a:srgbClr>
            </a:solidFill>
            <a:prstDash val="solid"/>
          </a:ln>
        </p:spPr>
      </p:sp>
      <p:sp>
        <p:nvSpPr>
          <p:cNvPr id="26" name="Text 24"/>
          <p:cNvSpPr txBox="1"/>
          <p:nvPr/>
        </p:nvSpPr>
        <p:spPr>
          <a:xfrm>
            <a:off x="1389888" y="4489704"/>
            <a:ext cx="9400032" cy="320040"/>
          </a:xfrm>
          <a:prstGeom prst="rect">
            <a:avLst/>
          </a:prstGeom>
          <a:noFill/>
          <a:ln/>
        </p:spPr>
        <p:txBody>
          <a:bodyPr wrap="square" lIns="0" tIns="0" rIns="0" bIns="0" rtlCol="0" anchor="ctr">
            <a:normAutofit/>
          </a:bodyPr>
          <a:lstStyle/>
          <a:p>
            <a:pPr algn="ctr" indent="0" marL="0">
              <a:buNone/>
            </a:pPr>
            <a:r>
              <a:rPr lang="en-US" sz="1400" b="1" dirty="0">
                <a:solidFill>
                  <a:srgbClr val="202526"/>
                </a:solidFill>
                <a:latin typeface="Noto Sans JP" pitchFamily="34" charset="0"/>
                <a:ea typeface="Noto Sans JP" pitchFamily="34" charset="-122"/>
                <a:cs typeface="Noto Sans JP" pitchFamily="34" charset="-120"/>
              </a:rPr>
              <a:t>料金：ご支援範囲・投稿本数・制作内容に応じてお見積り</a:t>
            </a:r>
            <a:endParaRPr lang="en-US" sz="1400" dirty="0"/>
          </a:p>
        </p:txBody>
      </p:sp>
      <p:sp>
        <p:nvSpPr>
          <p:cNvPr id="27" name="Text 25"/>
          <p:cNvSpPr txBox="1"/>
          <p:nvPr/>
        </p:nvSpPr>
        <p:spPr>
          <a:xfrm>
            <a:off x="2011680" y="4937760"/>
            <a:ext cx="8138160" cy="256032"/>
          </a:xfrm>
          <a:prstGeom prst="rect">
            <a:avLst/>
          </a:prstGeom>
          <a:noFill/>
          <a:ln/>
        </p:spPr>
        <p:txBody>
          <a:bodyPr wrap="square" lIns="0" tIns="0" rIns="0" bIns="0" rtlCol="0" anchor="ctr">
            <a:normAutofit/>
          </a:bodyPr>
          <a:lstStyle/>
          <a:p>
            <a:pPr algn="ctr" indent="0" marL="0">
              <a:buNone/>
            </a:pPr>
            <a:r>
              <a:rPr lang="en-US" sz="950" dirty="0">
                <a:solidFill>
                  <a:srgbClr val="687174"/>
                </a:solidFill>
                <a:latin typeface="Noto Sans JP" pitchFamily="34" charset="0"/>
                <a:ea typeface="Noto Sans JP" pitchFamily="34" charset="-122"/>
                <a:cs typeface="Noto Sans JP" pitchFamily="34" charset="-120"/>
              </a:rPr>
              <a:t>副業サイト上のメッセージからでも、お気軽にご相談ください。</a:t>
            </a:r>
            <a:endParaRPr lang="en-US" sz="950" dirty="0"/>
          </a:p>
        </p:txBody>
      </p:sp>
      <p:sp>
        <p:nvSpPr>
          <p:cNvPr id="25" name="Slide Number Placeholder 0"/>
          <p:cNvSpPr>
            <a:spLocks noGrp="1"/>
          </p:cNvSpPr>
          <p:nvPr>
            <p:ph type="sldNum" sz="quarter" idx="4294967295"/>
          </p:nvPr>
        </p:nvSpPr>
        <p:spPr>
          <a:xfrm>
            <a:off x="11676888" y="6437376"/>
            <a:ext cx="228600" cy="182880"/>
          </a:xfrm>
          <a:prstGeom prst="rect">
            <a:avLst/>
          </a:prstGeom>
          <a:extLst>
            <a:ext uri="{C572A759-6A51-4108-AA02-DFA0A04FC94B}">
              <ma14:wrappingTextBoxFlag xmlns:ma14="http://schemas.microsoft.com/office/mac/drawingml/2011/main" val="0"/>
            </a:ext>
          </a:extLst>
        </p:spPr>
        <p:txBody>
          <a:bodyPr lIns="0" tIns="0" rIns="0" bIns="0"/>
          <a:lstStyle>
            <a:lvl1pPr>
              <a:defRPr sz="700">
                <a:solidFill>
                  <a:srgbClr val="7C8588"/>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0252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2AFC0"/>
          </a:solidFill>
          <a:ln w="12700">
            <a:solidFill>
              <a:srgbClr val="42AFC0"/>
            </a:solidFill>
            <a:prstDash val="solid"/>
          </a:ln>
        </p:spPr>
      </p:sp>
      <p:sp>
        <p:nvSpPr>
          <p:cNvPr id="3" name="Text 1"/>
          <p:cNvSpPr txBox="1"/>
          <p:nvPr/>
        </p:nvSpPr>
        <p:spPr>
          <a:xfrm>
            <a:off x="758952" y="676656"/>
            <a:ext cx="2286000" cy="274320"/>
          </a:xfrm>
          <a:prstGeom prst="rect">
            <a:avLst/>
          </a:prstGeom>
          <a:noFill/>
          <a:ln/>
        </p:spPr>
        <p:txBody>
          <a:bodyPr wrap="square" lIns="0" tIns="0" rIns="0" bIns="0" rtlCol="0" anchor="ctr">
            <a:normAutofit/>
          </a:bodyPr>
          <a:lstStyle/>
          <a:p>
            <a:pPr algn="l" indent="0" marL="0">
              <a:buNone/>
            </a:pPr>
            <a:r>
              <a:rPr lang="en-US" sz="900" spc="200" kern="0" dirty="0">
                <a:solidFill>
                  <a:srgbClr val="42AFC0"/>
                </a:solidFill>
                <a:latin typeface="Noto Sans JP" pitchFamily="34" charset="0"/>
                <a:ea typeface="Noto Sans JP" pitchFamily="34" charset="-122"/>
                <a:cs typeface="Noto Sans JP" pitchFamily="34" charset="-120"/>
              </a:rPr>
              <a:t>CONTACT</a:t>
            </a:r>
            <a:endParaRPr lang="en-US" sz="900" dirty="0"/>
          </a:p>
        </p:txBody>
      </p:sp>
      <p:sp>
        <p:nvSpPr>
          <p:cNvPr id="4" name="Text 2"/>
          <p:cNvSpPr txBox="1"/>
          <p:nvPr/>
        </p:nvSpPr>
        <p:spPr>
          <a:xfrm>
            <a:off x="731520" y="1298448"/>
            <a:ext cx="6217920" cy="1280160"/>
          </a:xfrm>
          <a:prstGeom prst="rect">
            <a:avLst/>
          </a:prstGeom>
          <a:noFill/>
          <a:ln/>
        </p:spPr>
        <p:txBody>
          <a:bodyPr wrap="square" lIns="0" tIns="0" rIns="0" bIns="0" rtlCol="0" anchor="t">
            <a:normAutofit/>
          </a:bodyPr>
          <a:lstStyle/>
          <a:p>
            <a:pPr algn="l" indent="0" marL="0">
              <a:buNone/>
            </a:pPr>
            <a:r>
              <a:rPr lang="en-US" sz="2900" b="1" dirty="0">
                <a:solidFill>
                  <a:srgbClr val="FFFFFF"/>
                </a:solidFill>
                <a:latin typeface="Noto Sans JP" pitchFamily="34" charset="0"/>
                <a:ea typeface="Noto Sans JP" pitchFamily="34" charset="-122"/>
                <a:cs typeface="Noto Sans JP" pitchFamily="34" charset="-120"/>
              </a:rPr>
              <a:t>ブランドの魅力が、</a:t>
            </a:r>
            <a:endParaRPr lang="en-US" sz="2900" dirty="0"/>
          </a:p>
          <a:p>
            <a:pPr algn="l" indent="0" marL="0">
              <a:buNone/>
            </a:pPr>
            <a:r>
              <a:rPr lang="en-US" sz="2900" b="1" dirty="0">
                <a:solidFill>
                  <a:srgbClr val="FFFFFF"/>
                </a:solidFill>
                <a:latin typeface="Noto Sans JP" pitchFamily="34" charset="0"/>
                <a:ea typeface="Noto Sans JP" pitchFamily="34" charset="-122"/>
                <a:cs typeface="Noto Sans JP" pitchFamily="34" charset="-120"/>
              </a:rPr>
              <a:t>きちんと届くSNSへ。</a:t>
            </a:r>
            <a:endParaRPr lang="en-US" sz="2900" dirty="0"/>
          </a:p>
        </p:txBody>
      </p:sp>
      <p:sp>
        <p:nvSpPr>
          <p:cNvPr id="5" name="Text 3"/>
          <p:cNvSpPr txBox="1"/>
          <p:nvPr/>
        </p:nvSpPr>
        <p:spPr>
          <a:xfrm>
            <a:off x="768096" y="2953512"/>
            <a:ext cx="5303520" cy="347472"/>
          </a:xfrm>
          <a:prstGeom prst="rect">
            <a:avLst/>
          </a:prstGeom>
          <a:noFill/>
          <a:ln/>
        </p:spPr>
        <p:txBody>
          <a:bodyPr wrap="square" lIns="0" tIns="0" rIns="0" bIns="0" rtlCol="0" anchor="ctr">
            <a:normAutofit/>
          </a:bodyPr>
          <a:lstStyle/>
          <a:p>
            <a:pPr algn="l" indent="0" marL="0">
              <a:buNone/>
            </a:pPr>
            <a:r>
              <a:rPr lang="en-US" sz="1300" dirty="0">
                <a:solidFill>
                  <a:srgbClr val="DDE3E2"/>
                </a:solidFill>
                <a:latin typeface="Noto Sans JP" pitchFamily="34" charset="0"/>
                <a:ea typeface="Noto Sans JP" pitchFamily="34" charset="-122"/>
                <a:cs typeface="Noto Sans JP" pitchFamily="34" charset="-120"/>
              </a:rPr>
              <a:t>まずは、現在のお悩みをお聞かせください。</a:t>
            </a:r>
            <a:endParaRPr lang="en-US" sz="1300" dirty="0"/>
          </a:p>
        </p:txBody>
      </p:sp>
      <p:sp>
        <p:nvSpPr>
          <p:cNvPr id="6" name="Shape 4"/>
          <p:cNvSpPr/>
          <p:nvPr/>
        </p:nvSpPr>
        <p:spPr>
          <a:xfrm>
            <a:off x="749808" y="3822192"/>
            <a:ext cx="6510528" cy="1490472"/>
          </a:xfrm>
          <a:prstGeom prst="roundRect">
            <a:avLst>
              <a:gd name="adj" fmla="val 4908"/>
            </a:avLst>
          </a:prstGeom>
          <a:solidFill>
            <a:srgbClr val="2A3031"/>
          </a:solidFill>
          <a:ln w="8890">
            <a:solidFill>
              <a:srgbClr val="2A3031">
                <a:alpha val="0"/>
              </a:srgbClr>
            </a:solidFill>
            <a:prstDash val="solid"/>
          </a:ln>
        </p:spPr>
      </p:sp>
      <p:sp>
        <p:nvSpPr>
          <p:cNvPr id="7" name="Text 5"/>
          <p:cNvSpPr txBox="1"/>
          <p:nvPr/>
        </p:nvSpPr>
        <p:spPr>
          <a:xfrm>
            <a:off x="1024128" y="4041648"/>
            <a:ext cx="3977640" cy="347472"/>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Noto Sans JP" pitchFamily="34" charset="0"/>
                <a:ea typeface="Noto Sans JP" pitchFamily="34" charset="-122"/>
                <a:cs typeface="Noto Sans JP" pitchFamily="34" charset="-120"/>
              </a:rPr>
              <a:t>今田 唯仁  /  Imada Tadahito</a:t>
            </a:r>
            <a:endParaRPr lang="en-US" sz="1600" dirty="0"/>
          </a:p>
        </p:txBody>
      </p:sp>
      <p:sp>
        <p:nvSpPr>
          <p:cNvPr id="8" name="Text 6"/>
          <p:cNvSpPr txBox="1"/>
          <p:nvPr/>
        </p:nvSpPr>
        <p:spPr>
          <a:xfrm>
            <a:off x="1024128" y="4453128"/>
            <a:ext cx="3291840" cy="256032"/>
          </a:xfrm>
          <a:prstGeom prst="rect">
            <a:avLst/>
          </a:prstGeom>
          <a:noFill/>
          <a:ln/>
        </p:spPr>
        <p:txBody>
          <a:bodyPr wrap="square" lIns="0" tIns="0" rIns="0" bIns="0" rtlCol="0" anchor="ctr">
            <a:normAutofit/>
          </a:bodyPr>
          <a:lstStyle/>
          <a:p>
            <a:pPr algn="l" indent="0" marL="0">
              <a:buNone/>
            </a:pPr>
            <a:r>
              <a:rPr lang="en-US" sz="1000" b="1" dirty="0">
                <a:solidFill>
                  <a:srgbClr val="42AFC0"/>
                </a:solidFill>
                <a:latin typeface="Noto Sans JP" pitchFamily="34" charset="0"/>
                <a:ea typeface="Noto Sans JP" pitchFamily="34" charset="-122"/>
                <a:cs typeface="Noto Sans JP" pitchFamily="34" charset="-120"/>
              </a:rPr>
              <a:t>Brand Architect</a:t>
            </a:r>
            <a:endParaRPr lang="en-US" sz="1000" dirty="0"/>
          </a:p>
        </p:txBody>
      </p:sp>
      <p:sp>
        <p:nvSpPr>
          <p:cNvPr id="9" name="Text 7"/>
          <p:cNvSpPr txBox="1"/>
          <p:nvPr/>
        </p:nvSpPr>
        <p:spPr>
          <a:xfrm>
            <a:off x="1024128" y="4773168"/>
            <a:ext cx="4114800" cy="256032"/>
          </a:xfrm>
          <a:prstGeom prst="rect">
            <a:avLst/>
          </a:prstGeom>
          <a:noFill/>
          <a:ln/>
        </p:spPr>
        <p:txBody>
          <a:bodyPr wrap="square" lIns="0" tIns="0" rIns="0" bIns="0" rtlCol="0" anchor="ctr">
            <a:normAutofit/>
          </a:bodyPr>
          <a:lstStyle/>
          <a:p>
            <a:pPr algn="l" indent="0" marL="0">
              <a:buNone/>
            </a:pPr>
            <a:r>
              <a:rPr lang="en-US" sz="950" dirty="0">
                <a:solidFill>
                  <a:srgbClr val="DDE3E2"/>
                </a:solidFill>
                <a:latin typeface="Noto Sans JP" pitchFamily="34" charset="0"/>
                <a:ea typeface="Noto Sans JP" pitchFamily="34" charset="-122"/>
                <a:cs typeface="Noto Sans JP" pitchFamily="34" charset="-120"/>
              </a:rPr>
              <a:t>SNSブランド設計・運用ディレクション</a:t>
            </a:r>
            <a:endParaRPr lang="en-US" sz="950" dirty="0"/>
          </a:p>
        </p:txBody>
      </p:sp>
      <p:sp>
        <p:nvSpPr>
          <p:cNvPr id="10" name="Text 8"/>
          <p:cNvSpPr txBox="1"/>
          <p:nvPr/>
        </p:nvSpPr>
        <p:spPr>
          <a:xfrm>
            <a:off x="7918704" y="1298448"/>
            <a:ext cx="731520" cy="219456"/>
          </a:xfrm>
          <a:prstGeom prst="rect">
            <a:avLst/>
          </a:prstGeom>
          <a:noFill/>
          <a:ln/>
        </p:spPr>
        <p:txBody>
          <a:bodyPr wrap="square" lIns="0" tIns="0" rIns="0" bIns="0" rtlCol="0" anchor="ctr">
            <a:normAutofit/>
          </a:bodyPr>
          <a:lstStyle/>
          <a:p>
            <a:pPr algn="l" indent="0" marL="0">
              <a:buNone/>
            </a:pPr>
            <a:r>
              <a:rPr lang="en-US" sz="720" b="1" spc="100" kern="0" dirty="0">
                <a:solidFill>
                  <a:srgbClr val="42AFC0"/>
                </a:solidFill>
                <a:latin typeface="Noto Sans JP" pitchFamily="34" charset="0"/>
                <a:ea typeface="Noto Sans JP" pitchFamily="34" charset="-122"/>
                <a:cs typeface="Noto Sans JP" pitchFamily="34" charset="-120"/>
              </a:rPr>
              <a:t>MAIL</a:t>
            </a:r>
            <a:endParaRPr lang="en-US" sz="720" dirty="0"/>
          </a:p>
        </p:txBody>
      </p:sp>
      <p:sp>
        <p:nvSpPr>
          <p:cNvPr id="11" name="Text 9"/>
          <p:cNvSpPr txBox="1"/>
          <p:nvPr/>
        </p:nvSpPr>
        <p:spPr>
          <a:xfrm>
            <a:off x="7918704" y="1618488"/>
            <a:ext cx="3566160" cy="32918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imadaruma965@gmail.com</a:t>
            </a:r>
            <a:endParaRPr lang="en-US" sz="1300" dirty="0"/>
          </a:p>
        </p:txBody>
      </p:sp>
      <p:sp>
        <p:nvSpPr>
          <p:cNvPr id="12" name="Text 10"/>
          <p:cNvSpPr txBox="1"/>
          <p:nvPr/>
        </p:nvSpPr>
        <p:spPr>
          <a:xfrm>
            <a:off x="7918704" y="2331720"/>
            <a:ext cx="731520" cy="219456"/>
          </a:xfrm>
          <a:prstGeom prst="rect">
            <a:avLst/>
          </a:prstGeom>
          <a:noFill/>
          <a:ln/>
        </p:spPr>
        <p:txBody>
          <a:bodyPr wrap="square" lIns="0" tIns="0" rIns="0" bIns="0" rtlCol="0" anchor="ctr">
            <a:normAutofit/>
          </a:bodyPr>
          <a:lstStyle/>
          <a:p>
            <a:pPr algn="l" indent="0" marL="0">
              <a:buNone/>
            </a:pPr>
            <a:r>
              <a:rPr lang="en-US" sz="720" b="1" spc="100" kern="0" dirty="0">
                <a:solidFill>
                  <a:srgbClr val="42AFC0"/>
                </a:solidFill>
                <a:latin typeface="Noto Sans JP" pitchFamily="34" charset="0"/>
                <a:ea typeface="Noto Sans JP" pitchFamily="34" charset="-122"/>
                <a:cs typeface="Noto Sans JP" pitchFamily="34" charset="-120"/>
              </a:rPr>
              <a:t>WEB</a:t>
            </a:r>
            <a:endParaRPr lang="en-US" sz="720" dirty="0"/>
          </a:p>
        </p:txBody>
      </p:sp>
      <p:sp>
        <p:nvSpPr>
          <p:cNvPr id="13" name="Text 11"/>
          <p:cNvSpPr txBox="1"/>
          <p:nvPr/>
        </p:nvSpPr>
        <p:spPr>
          <a:xfrm>
            <a:off x="7918704" y="2651760"/>
            <a:ext cx="3566160" cy="32918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https://imadaruma.jp</a:t>
            </a:r>
            <a:endParaRPr lang="en-US" sz="1300" dirty="0"/>
          </a:p>
        </p:txBody>
      </p:sp>
      <p:sp>
        <p:nvSpPr>
          <p:cNvPr id="14" name="Text 12"/>
          <p:cNvSpPr txBox="1"/>
          <p:nvPr/>
        </p:nvSpPr>
        <p:spPr>
          <a:xfrm>
            <a:off x="7918704" y="3364992"/>
            <a:ext cx="1097280" cy="219456"/>
          </a:xfrm>
          <a:prstGeom prst="rect">
            <a:avLst/>
          </a:prstGeom>
          <a:noFill/>
          <a:ln/>
        </p:spPr>
        <p:txBody>
          <a:bodyPr wrap="square" lIns="0" tIns="0" rIns="0" bIns="0" rtlCol="0" anchor="ctr">
            <a:normAutofit/>
          </a:bodyPr>
          <a:lstStyle/>
          <a:p>
            <a:pPr algn="l" indent="0" marL="0">
              <a:buNone/>
            </a:pPr>
            <a:r>
              <a:rPr lang="en-US" sz="720" b="1" spc="100" kern="0" dirty="0">
                <a:solidFill>
                  <a:srgbClr val="42AFC0"/>
                </a:solidFill>
                <a:latin typeface="Noto Sans JP" pitchFamily="34" charset="0"/>
                <a:ea typeface="Noto Sans JP" pitchFamily="34" charset="-122"/>
                <a:cs typeface="Noto Sans JP" pitchFamily="34" charset="-120"/>
              </a:rPr>
              <a:t>INSTAGRAM</a:t>
            </a:r>
            <a:endParaRPr lang="en-US" sz="720" dirty="0"/>
          </a:p>
        </p:txBody>
      </p:sp>
      <p:sp>
        <p:nvSpPr>
          <p:cNvPr id="15" name="Text 13"/>
          <p:cNvSpPr txBox="1"/>
          <p:nvPr/>
        </p:nvSpPr>
        <p:spPr>
          <a:xfrm>
            <a:off x="7918704" y="3685032"/>
            <a:ext cx="3566160" cy="32918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Noto Sans JP" pitchFamily="34" charset="0"/>
                <a:ea typeface="Noto Sans JP" pitchFamily="34" charset="-122"/>
                <a:cs typeface="Noto Sans JP" pitchFamily="34" charset="-120"/>
              </a:rPr>
              <a:t>@imada_tadahito</a:t>
            </a:r>
            <a:endParaRPr lang="en-US" sz="1300" dirty="0"/>
          </a:p>
        </p:txBody>
      </p:sp>
      <p:sp>
        <p:nvSpPr>
          <p:cNvPr id="16" name="Text 14"/>
          <p:cNvSpPr txBox="1"/>
          <p:nvPr/>
        </p:nvSpPr>
        <p:spPr>
          <a:xfrm>
            <a:off x="7918704" y="4645152"/>
            <a:ext cx="3456432" cy="640080"/>
          </a:xfrm>
          <a:prstGeom prst="rect">
            <a:avLst/>
          </a:prstGeom>
          <a:noFill/>
          <a:ln/>
        </p:spPr>
        <p:txBody>
          <a:bodyPr wrap="square" lIns="0" tIns="0" rIns="0" bIns="0" rtlCol="0" anchor="t">
            <a:normAutofit/>
          </a:bodyPr>
          <a:lstStyle/>
          <a:p>
            <a:pPr algn="l" indent="0" marL="0">
              <a:buNone/>
            </a:pPr>
            <a:r>
              <a:rPr lang="en-US" sz="850" dirty="0">
                <a:solidFill>
                  <a:srgbClr val="DDE3E2"/>
                </a:solidFill>
                <a:latin typeface="Noto Sans JP" pitchFamily="34" charset="0"/>
                <a:ea typeface="Noto Sans JP" pitchFamily="34" charset="-122"/>
                <a:cs typeface="Noto Sans JP" pitchFamily="34" charset="-120"/>
              </a:rPr>
              <a:t>※掲載する連絡先・SNSは、Canva上で用途に合わせて削除・差し替えできます。</a:t>
            </a:r>
            <a:endParaRPr lang="en-US" sz="850" dirty="0"/>
          </a:p>
        </p:txBody>
      </p:sp>
      <p:sp>
        <p:nvSpPr>
          <p:cNvPr id="17" name="Text 15"/>
          <p:cNvSpPr txBox="1"/>
          <p:nvPr/>
        </p:nvSpPr>
        <p:spPr>
          <a:xfrm>
            <a:off x="768096" y="6108192"/>
            <a:ext cx="2560320" cy="274320"/>
          </a:xfrm>
          <a:prstGeom prst="rect">
            <a:avLst/>
          </a:prstGeom>
          <a:noFill/>
          <a:ln/>
        </p:spPr>
        <p:txBody>
          <a:bodyPr wrap="square" lIns="0" tIns="0" rIns="0" bIns="0" rtlCol="0" anchor="ctr">
            <a:normAutofit/>
          </a:bodyPr>
          <a:lstStyle/>
          <a:p>
            <a:pPr algn="l" indent="0" marL="0">
              <a:buNone/>
            </a:pPr>
            <a:r>
              <a:rPr lang="en-US" sz="900" b="1" spc="200" kern="0" dirty="0">
                <a:solidFill>
                  <a:srgbClr val="42AFC0"/>
                </a:solidFill>
                <a:latin typeface="Noto Sans JP" pitchFamily="34" charset="0"/>
                <a:ea typeface="Noto Sans JP" pitchFamily="34" charset="-122"/>
                <a:cs typeface="Noto Sans JP" pitchFamily="34" charset="-120"/>
              </a:rPr>
              <a:t>THANK YOU</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Pound the Rock Design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今田唯仁｜Brand Architect</dc:title>
  <dc:subject>SNS運用代行ポートフォリオ</dc:subject>
  <dc:creator>今田唯仁</dc:creator>
  <cp:lastModifiedBy>今田唯仁</cp:lastModifiedBy>
  <cp:revision>1</cp:revision>
  <dcterms:created xsi:type="dcterms:W3CDTF">2026-08-17T09:00:17Z</dcterms:created>
  <dcterms:modified xsi:type="dcterms:W3CDTF">2026-08-17T09:00:17Z</dcterms:modified>
</cp:coreProperties>
</file>