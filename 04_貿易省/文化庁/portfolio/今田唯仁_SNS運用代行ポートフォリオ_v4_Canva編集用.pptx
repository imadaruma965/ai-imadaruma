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FC0"/>
          </a:solidFill>
          <a:ln w="12700">
            <a:solidFill>
              <a:srgbClr val="42A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6483096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40" kern="0" dirty="0">
                <a:solidFill>
                  <a:srgbClr val="7C8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IMADA TADAHITO  |  BRAND ARCHITECT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921240" y="645566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C8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Pound the Rock Design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0"/>
            <a:ext cx="3822192" cy="6858000"/>
          </a:xfrm>
          <a:prstGeom prst="rect">
            <a:avLst/>
          </a:prstGeom>
          <a:solidFill>
            <a:srgbClr val="42AFC0"/>
          </a:solidFill>
          <a:ln w="12700">
            <a:solidFill>
              <a:srgbClr val="42AF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7790688" y="731520"/>
            <a:ext cx="3840480" cy="3840480"/>
          </a:xfrm>
          <a:prstGeom prst="arc">
            <a:avLst/>
          </a:prstGeom>
          <a:solidFill>
            <a:srgbClr val="42AFC0">
              <a:alpha val="0"/>
            </a:srgbClr>
          </a:solidFill>
          <a:ln w="25400">
            <a:solidFill>
              <a:srgbClr val="DDE3E2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658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 MANAGEMENT PORTFOLIO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508760"/>
            <a:ext cx="7178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想いを、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届き続けるブランドへ。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8587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6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Brand Architect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3159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今田 唯仁  /  Imada Tadahito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49011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spc="80" kern="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SNSブランド設計・運用ディレクション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53035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11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設計力 × 編集力 × 伴走力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643616" y="62453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ブランドの「伝わる仕組み」を、SNSに。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見た目だけで終わらせず、目的・対象・言葉・運用まで一貫して設計します。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202996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494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WHO I 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3255264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713232" y="351129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経歴・強み・25年の実務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956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p.3–6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64992" y="202996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7872" y="22494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HOW I THINK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47872" y="3255264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3547872" y="351129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市場・リサーチ・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アルゴリズム・設計方針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4956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p.7–15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99632" y="202996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22494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82512" y="3255264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6382512" y="351129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実績・企画提案・出版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4956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p.16–27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34272" y="2029968"/>
            <a:ext cx="2542032" cy="340156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7152" y="22494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7614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217152" y="3255264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9217152" y="351129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料金・稼働体制・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ご依頼方法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17152" y="4956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p.28–31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064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25年以上のデザイン・編集経験を、SNSの継続運用へ。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PROFILE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今田 唯仁  |  Brand Architect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SNSブランド設計・運用ディレクション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907792" cy="2907792"/>
          </a:xfrm>
          <a:prstGeom prst="roundRect">
            <a:avLst>
              <a:gd name="adj" fmla="val 2516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pic>
        <p:nvPicPr>
          <p:cNvPr id="7" name="Image 0" descr="/Users/imadatadahito/Desktop/ai-imadaruma/04_貿易省/文化庁/portfolio/assets/profile/f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865376"/>
            <a:ext cx="283464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" y="5047488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5074920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Pound the Rock Design</a:t>
            </a:r>
            <a:endParaRPr lang="en-US" sz="87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1856232"/>
            <a:ext cx="72603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グラフィックデザイン・編集・ブランド設計に25年以上携わってきました。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企業や地域、スポーツクラブが持つ「らしさ」を言葉とビジュアルに整理し、SNSで継続的に伝わる形へ落とし込みます。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005072" y="34015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5358384" y="33832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元地域情報誌 編集長／プロスポーツクラブのVI・SNS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005072" y="3758184"/>
            <a:ext cx="7205472" cy="0"/>
          </a:xfrm>
          <a:prstGeom prst="line">
            <a:avLst/>
          </a:prstGeom>
          <a:noFill/>
          <a:ln w="1016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 txBox="1"/>
          <p:nvPr/>
        </p:nvSpPr>
        <p:spPr>
          <a:xfrm>
            <a:off x="4005072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SPECIALTY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5358384" y="39136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ブランド設計・編集・SNSコンテンツ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005072" y="4288536"/>
            <a:ext cx="7205472" cy="0"/>
          </a:xfrm>
          <a:prstGeom prst="line">
            <a:avLst/>
          </a:prstGeom>
          <a:noFill/>
          <a:ln w="1016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4005072" y="4462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COACHING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5358384" y="44439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JFA B級／メンタルコーチ資格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005072" y="4818888"/>
            <a:ext cx="7205472" cy="0"/>
          </a:xfrm>
          <a:prstGeom prst="line">
            <a:avLst/>
          </a:prstGeom>
          <a:noFill/>
          <a:ln w="1016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4005072" y="49926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TOOLS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5358384" y="49743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Adobe CC / Premiere Pro / ChatGPT / Claude / Gemini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4005072" y="5349240"/>
            <a:ext cx="7205472" cy="0"/>
          </a:xfrm>
          <a:prstGeom prst="line">
            <a:avLst/>
          </a:prstGeom>
          <a:noFill/>
          <a:ln w="1016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4023360" y="56967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「葦なる刃は、静かに尖れる。」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CAREER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25年、「伝わる形」をつくり続けてきた。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出典：職歴正本。数値はいずれも実績として確認できるもののみを記載しています。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792224"/>
            <a:ext cx="11082528" cy="758952"/>
          </a:xfrm>
          <a:prstGeom prst="roundRect">
            <a:avLst>
              <a:gd name="adj" fmla="val 7229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901952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2001.10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2002.12</a:t>
            </a:r>
            <a:endParaRPr lang="en-US" sz="860" dirty="0"/>
          </a:p>
        </p:txBody>
      </p:sp>
      <p:sp>
        <p:nvSpPr>
          <p:cNvPr id="8" name="Text 6"/>
          <p:cNvSpPr txBox="1"/>
          <p:nvPr/>
        </p:nvSpPr>
        <p:spPr>
          <a:xfrm>
            <a:off x="1847088" y="1892808"/>
            <a:ext cx="2487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TOPPAN 株式会社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220370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大判印刷デザイナー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26280" y="1920240"/>
            <a:ext cx="0" cy="484632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 txBox="1"/>
          <p:nvPr/>
        </p:nvSpPr>
        <p:spPr>
          <a:xfrm>
            <a:off x="4718304" y="1883664"/>
            <a:ext cx="6711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大判印刷事業の立ち上げスタッフとして、企画から制作までを一任される。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48640" y="2642616"/>
            <a:ext cx="11082528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75234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2004.01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2005.10</a:t>
            </a:r>
            <a:endParaRPr lang="en-US" sz="860" dirty="0"/>
          </a:p>
        </p:txBody>
      </p:sp>
      <p:sp>
        <p:nvSpPr>
          <p:cNvPr id="14" name="Text 12"/>
          <p:cNvSpPr txBox="1"/>
          <p:nvPr/>
        </p:nvSpPr>
        <p:spPr>
          <a:xfrm>
            <a:off x="1847088" y="2743200"/>
            <a:ext cx="2487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有限会社ボウオフィス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847088" y="305409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デザイナー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526280" y="2770632"/>
            <a:ext cx="0" cy="484632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 txBox="1"/>
          <p:nvPr/>
        </p:nvSpPr>
        <p:spPr>
          <a:xfrm>
            <a:off x="4718304" y="2734056"/>
            <a:ext cx="6711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不動産会社のロゴから名刺・封筒・看板までVI一式を担当。ごみ減少をテーマにしたポスターでは、掲示のみでごみの減少を実現。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48640" y="3493008"/>
            <a:ext cx="11082528" cy="758952"/>
          </a:xfrm>
          <a:prstGeom prst="roundRect">
            <a:avLst>
              <a:gd name="adj" fmla="val 7229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60273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2008.04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2013.12</a:t>
            </a:r>
            <a:endParaRPr lang="en-US" sz="860" dirty="0"/>
          </a:p>
        </p:txBody>
      </p:sp>
      <p:sp>
        <p:nvSpPr>
          <p:cNvPr id="20" name="Text 18"/>
          <p:cNvSpPr txBox="1"/>
          <p:nvPr/>
        </p:nvSpPr>
        <p:spPr>
          <a:xfrm>
            <a:off x="1847088" y="3593592"/>
            <a:ext cx="2487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株式会社NOTE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847088" y="390448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編集長／クリエイティブディレクター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526280" y="3621024"/>
            <a:ext cx="0" cy="484632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4718304" y="3584448"/>
            <a:ext cx="6711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地域情報誌を全面リニューアルし、1年で昨対比・年商10倍。町勢要覧コンペでは、従来の行政発行物ではないフリーペーパー仕様で提案し受託。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1082528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445312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2008.10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2010.10</a:t>
            </a:r>
            <a:endParaRPr lang="en-US" sz="860" dirty="0"/>
          </a:p>
        </p:txBody>
      </p:sp>
      <p:sp>
        <p:nvSpPr>
          <p:cNvPr id="26" name="Text 24"/>
          <p:cNvSpPr txBox="1"/>
          <p:nvPr/>
        </p:nvSpPr>
        <p:spPr>
          <a:xfrm>
            <a:off x="1847088" y="4443984"/>
            <a:ext cx="2487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フットサルラボ（兼業）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847088" y="47548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個人事業主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526280" y="4471416"/>
            <a:ext cx="0" cy="484632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4718304" y="4434840"/>
            <a:ext cx="6711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施設運営・スクール指導・イベント企画を担当。並行してアパレルブランドを立ち上げ、制作から販売・営業まで担う。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48640" y="5193792"/>
            <a:ext cx="11082528" cy="758952"/>
          </a:xfrm>
          <a:prstGeom prst="roundRect">
            <a:avLst>
              <a:gd name="adj" fmla="val 7229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5303520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2015.04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現在</a:t>
            </a:r>
            <a:endParaRPr lang="en-US" sz="860" dirty="0"/>
          </a:p>
        </p:txBody>
      </p:sp>
      <p:sp>
        <p:nvSpPr>
          <p:cNvPr id="32" name="Text 30"/>
          <p:cNvSpPr txBox="1"/>
          <p:nvPr/>
        </p:nvSpPr>
        <p:spPr>
          <a:xfrm>
            <a:off x="1847088" y="5294376"/>
            <a:ext cx="2487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Pound the Rock Design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847088" y="560527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代表／クリエイティブディレクター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526280" y="5321808"/>
            <a:ext cx="0" cy="484632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4718304" y="5285232"/>
            <a:ext cx="6711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ボルクバレット北九州、カノアラウレアーズ福岡のエンブレム・SNS戦略・VIデザインを担当。雑誌の誌面・広告に加え、SNSフィード投稿デザインも手がける。</a:t>
            </a:r>
            <a:endParaRPr lang="en-US" sz="93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089904"/>
            <a:ext cx="1108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各社での担当領域は、企画・取材・ライティング・デザイン・提案まで一貫しています。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STRENGTHS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3つの力で、運用が続く土台をつくる。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47872" cy="3520440"/>
          </a:xfrm>
          <a:prstGeom prst="roundRect">
            <a:avLst>
              <a:gd name="adj" fmla="val 2597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41448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設計力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98648"/>
            <a:ext cx="3182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目的・顧客・競合・導線を整理し、発信の軸と優先順位を明確にします。</a:t>
            </a:r>
            <a:endParaRPr lang="en-US" sz="940" dirty="0"/>
          </a:p>
          <a:p>
            <a:pPr algn="l" indent="0" marL="0">
              <a:buNone/>
            </a:pP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誰に、何を、どの順で伝えるか。ここが決まらないまま投稿を重ねても、本数が増えるだけで何も積み上がりません。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315968" y="1874520"/>
            <a:ext cx="3547872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441448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編集力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898648"/>
            <a:ext cx="3182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伝えたい情報を、相手が読みたくなる言葉・順序・ビジュアルに再構成します。</a:t>
            </a:r>
            <a:endParaRPr lang="en-US" sz="940" dirty="0"/>
          </a:p>
          <a:p>
            <a:pPr algn="l" indent="0" marL="0">
              <a:buNone/>
            </a:pP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25年の編集経験は、足す技術より削る判断の蓄積です。何を書かないかを決められることが、読ませる条件だと考えています。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083296" y="1874520"/>
            <a:ext cx="3547872" cy="3520440"/>
          </a:xfrm>
          <a:prstGeom prst="roundRect">
            <a:avLst>
              <a:gd name="adj" fmla="val 2597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6176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441448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伴走力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2898648"/>
            <a:ext cx="31821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制作して終わりではなく、反応を見ながら改善します。</a:t>
            </a:r>
            <a:endParaRPr lang="en-US" sz="940" dirty="0"/>
          </a:p>
          <a:p>
            <a:pPr algn="l" indent="0" marL="0">
              <a:buNone/>
            </a:pP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担当者が代わっても回るよう、判断基準とテンプレートを残す。属人化させないことが、続く運用の条件です。</a:t>
            </a:r>
            <a:endParaRPr lang="en-US" sz="94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815584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DESIGN  ×  EDITORIAL  ×  COACHING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経験を、SNS運用の判断力に変える。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90195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11226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25+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770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YEARS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27248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デザイン・編集・ブランド支援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90195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0288" y="211226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10×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770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SALES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127248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編集長として刷新後、年間売上が前年比約10倍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83880" y="190195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85048" y="211226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2770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FIELDS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3127248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スポーツ・地域・美容・ブランド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3251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媒体をつくる視点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7731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企画・取材・編集・デザインを横断し、情報を一つの体験にまとめる。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43251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ブランドを育てる視点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62272" y="47731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単発の投稿ではなく、積み重ねで信頼が育つ世界観と運用ルールをつくる。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3251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人を動かす視点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コーチ経験を活かし、依頼者・チーム・顧客の目線をつなぎながら前進させる。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MARKET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いま伸びているのは、10代ではなく40代・60代。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出典：総務省情報通信政策研究所「令和6年度 情報通信メディアの利用時間と情報行動に関する調査」（令和7年6月公表・N=1,800）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68580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年代別 Instagram 利用率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31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全年代 52.6％（前年度 48.4％）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791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10代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35608" y="2715768"/>
            <a:ext cx="4937760" cy="173736"/>
          </a:xfrm>
          <a:prstGeom prst="roundRect">
            <a:avLst>
              <a:gd name="adj" fmla="val 47368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35608" y="2715768"/>
            <a:ext cx="4629150" cy="173736"/>
          </a:xfrm>
          <a:prstGeom prst="roundRect">
            <a:avLst>
              <a:gd name="adj" fmla="val 47368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4808" y="26791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75.0％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9992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20代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35608" y="3035808"/>
            <a:ext cx="4937760" cy="173736"/>
          </a:xfrm>
          <a:prstGeom prst="roundRect">
            <a:avLst>
              <a:gd name="adj" fmla="val 47368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35608" y="3035808"/>
            <a:ext cx="4814316" cy="173736"/>
          </a:xfrm>
          <a:prstGeom prst="roundRect">
            <a:avLst>
              <a:gd name="adj" fmla="val 47368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4808" y="299923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78.0％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33192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30代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35608" y="3355848"/>
            <a:ext cx="4937760" cy="173736"/>
          </a:xfrm>
          <a:prstGeom prst="roundRect">
            <a:avLst>
              <a:gd name="adj" fmla="val 47368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35608" y="3355848"/>
            <a:ext cx="4351401" cy="173736"/>
          </a:xfrm>
          <a:prstGeom prst="roundRect">
            <a:avLst>
              <a:gd name="adj" fmla="val 47368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33192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70.5％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6393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40代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35608" y="3675888"/>
            <a:ext cx="4937760" cy="173736"/>
          </a:xfrm>
          <a:prstGeom prst="roundRect">
            <a:avLst>
              <a:gd name="adj" fmla="val 47368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35608" y="3675888"/>
            <a:ext cx="4135374" cy="173736"/>
          </a:xfrm>
          <a:prstGeom prst="roundRect">
            <a:avLst>
              <a:gd name="adj" fmla="val 47368"/>
            </a:avLst>
          </a:prstGeom>
          <a:solidFill>
            <a:srgbClr val="188CA1"/>
          </a:solidFill>
          <a:ln w="8890">
            <a:solidFill>
              <a:srgbClr val="188CA1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4808" y="36393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67.0％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39593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435608" y="3995928"/>
            <a:ext cx="4937760" cy="173736"/>
          </a:xfrm>
          <a:prstGeom prst="roundRect">
            <a:avLst>
              <a:gd name="adj" fmla="val 47368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5608" y="3995928"/>
            <a:ext cx="3252749" cy="173736"/>
          </a:xfrm>
          <a:prstGeom prst="roundRect">
            <a:avLst>
              <a:gd name="adj" fmla="val 47368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64808" y="39593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52.7％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" y="4279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60代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435608" y="4315968"/>
            <a:ext cx="4937760" cy="173736"/>
          </a:xfrm>
          <a:prstGeom prst="roundRect">
            <a:avLst>
              <a:gd name="adj" fmla="val 47368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35608" y="4315968"/>
            <a:ext cx="2141753" cy="173736"/>
          </a:xfrm>
          <a:prstGeom prst="roundRect">
            <a:avLst>
              <a:gd name="adj" fmla="val 47368"/>
            </a:avLst>
          </a:prstGeom>
          <a:solidFill>
            <a:srgbClr val="188CA1"/>
          </a:solidFill>
          <a:ln w="8890">
            <a:solidFill>
              <a:srgbClr val="188CA1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64808" y="42793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34.7％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35240" y="1874520"/>
            <a:ext cx="3995928" cy="2788920"/>
          </a:xfrm>
          <a:prstGeom prst="roundRect">
            <a:avLst>
              <a:gd name="adj" fmla="val 2623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63840" y="2039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前年度からの伸び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24505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40代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692640" y="24323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＋9.8pt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2816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57.2％ → 67.0％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863840" y="3163824"/>
            <a:ext cx="3538728" cy="0"/>
          </a:xfrm>
          <a:prstGeom prst="line">
            <a:avLst/>
          </a:prstGeom>
          <a:noFill/>
          <a:ln w="10160">
            <a:solidFill>
              <a:srgbClr val="687174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 txBox="1"/>
          <p:nvPr/>
        </p:nvSpPr>
        <p:spPr>
          <a:xfrm>
            <a:off x="7863840" y="34107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60代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692640" y="3392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＋12.1pt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7863840" y="37764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22.6％ → 34.7％</a:t>
            </a:r>
            <a:endParaRPr lang="en-US" sz="920" dirty="0"/>
          </a:p>
        </p:txBody>
      </p:sp>
      <p:sp>
        <p:nvSpPr>
          <p:cNvPr id="42" name="Text 40"/>
          <p:cNvSpPr txBox="1"/>
          <p:nvPr/>
        </p:nvSpPr>
        <p:spPr>
          <a:xfrm>
            <a:off x="7863840" y="42611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報告書本文にも「特に60代で大幅に増加」と明記されています。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6928" y="486460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2960" y="502920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「若者向けの媒体」という前提は、すでに古い。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822960" y="54315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購買力のある40代・シニア層が新たに流入しています。地域事業者・スポーツクラブ・店舗にとって、いま始める理由がここにあります。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60533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数値は上記の政府統計のみを使用しています。出典を確認できない民間調査の数値は掲載していません。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SERVICES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SNS運用を、戦略から制作・改善まで。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必要な範囲だけの部分支援にも対応します。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901952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0848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057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戦略設計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58775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目的設定／競合・顧客整理／媒体選定／KPI設計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1901952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08483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922008" y="2057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企画・編集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22008" y="258775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投稿テーマ／企画カレンダー／コピー・構成／導線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803904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9867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9593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クリエイティブ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448970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投稿画像／カルーセル／ショート動画／テンプレート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3803904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39867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922008" y="39593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運用・改善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22008" y="448970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投稿管理／数値確認／月次レポート／改善提案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16736" y="58795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89888" y="590702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Instagram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2953512" y="5879592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26664" y="590702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 / LP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4471416" y="587959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44568" y="590702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Brand / VI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108192" y="5879592"/>
            <a:ext cx="1024128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81344" y="590702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Print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7351776" y="5879592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24928" y="59070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workflow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9052560" y="5879592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25712" y="59070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Short video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PROCESS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感覚に頼らず、5段階で運用する。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85216" y="1993392"/>
            <a:ext cx="1975104" cy="3072384"/>
          </a:xfrm>
          <a:prstGeom prst="roundRect">
            <a:avLst>
              <a:gd name="adj" fmla="val 3704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614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3236976"/>
            <a:ext cx="457200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749808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現状・競合・顧客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596896" y="318211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2928" y="1993392"/>
            <a:ext cx="1975104" cy="30723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7614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3236976"/>
            <a:ext cx="457200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3017520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ペルソナ・課題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318211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20640" y="1993392"/>
            <a:ext cx="1975104" cy="3072384"/>
          </a:xfrm>
          <a:prstGeom prst="roundRect">
            <a:avLst>
              <a:gd name="adj" fmla="val 3704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85232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27614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CONCEPT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85232" y="3236976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5285232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言葉・世界観・導線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18211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88352" y="1993392"/>
            <a:ext cx="1975104" cy="30723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2944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552944" y="27614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CREATE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52944" y="3236976"/>
            <a:ext cx="457200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7552944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企画・制作・投稿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400032" y="3182112"/>
            <a:ext cx="24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656064" y="1993392"/>
            <a:ext cx="1975104" cy="3072384"/>
          </a:xfrm>
          <a:prstGeom prst="roundRect">
            <a:avLst>
              <a:gd name="adj" fmla="val 3704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20656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820656" y="276148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IMPROVE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20656" y="3236976"/>
            <a:ext cx="457200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9820656" y="3566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計測・振り返り・改善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160520" y="561441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毎月の改善サイクルへ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RESEARCH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「なんとなく」を捨て、数で当たりをつける。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案件に入る前から、市場・競合・勝ち筋を自分の手で調べ切ります。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47872" cy="2697480"/>
          </a:xfrm>
          <a:prstGeom prst="roundRect">
            <a:avLst>
              <a:gd name="adj" fmla="val 339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41448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アカウント調査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98648"/>
            <a:ext cx="31821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53アカウント／15ジャンルを収集し、プロフィール文・フォロワー数・投稿数・投稿形式・開始時期まで台帳化。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315968" y="1874520"/>
            <a:ext cx="3547872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441448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リール分解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898648"/>
            <a:ext cx="31821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伸びた動画のフック文・構成・尺を分類し、「当たりワード」として蓄積。感覚ではなく型で企画する。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83296" y="1874520"/>
            <a:ext cx="3547872" cy="2697480"/>
          </a:xfrm>
          <a:prstGeom prst="roundRect">
            <a:avLst>
              <a:gd name="adj" fmla="val 3390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6176" y="20391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2441448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市場マップ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898648"/>
            <a:ext cx="31821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ジャンル別に需要と競合密度を並べ、まだ埋まっていない切り口を特定してから発信を設計する。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82528" cy="914400"/>
          </a:xfrm>
          <a:prstGeom prst="roundRect">
            <a:avLst>
              <a:gd name="adj" fmla="val 8000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992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保有するリサーチ台帳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3035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アカウントリサーチ台帳（53件）　／　バズリールリサーチシート（フック当たりワード・高品質リール・0→1企画）　／　Instagram Market Research Master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8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台帳はいずれも当方が独自に作成・運用しているものです。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ORIGINAL METRIC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フォロワー数ではなく、「1投稿あたりの効率」で見る。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他社と同じ数字を見ていては、他社と同じ結論しか出ません。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11082528" cy="1371600"/>
          </a:xfrm>
          <a:prstGeom prst="roundRect">
            <a:avLst>
              <a:gd name="adj" fmla="val 5333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フォロワー数  ÷  投稿数  ×  100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投稿1本が、どれだけフォロワーを連れてきたか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35478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575304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なぜ必要か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858768"/>
            <a:ext cx="32186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フォロワー数だけでは、投稿を大量に重ねて積み上げたアカウントと、少ない本数で深く刺さったアカウントを区別できない。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79392" y="3474720"/>
            <a:ext cx="3547872" cy="1783080"/>
          </a:xfrm>
          <a:prstGeom prst="roundRect">
            <a:avLst>
              <a:gd name="adj" fmla="val 4103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3575304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何が分かるか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3858768"/>
            <a:ext cx="32186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企画の再現性。効率が高いアカウントほど、1本あたりの設計が強く、真似すべき「型」を持っている。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10144" y="3474720"/>
            <a:ext cx="35478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74736" y="3575304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どう使うか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174736" y="3858768"/>
            <a:ext cx="32186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効率上位のアカウントだけを抽出し、その型をクライアントのジャンル・語り口へ翻訳して投稿計画に落とす。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5504688"/>
            <a:ext cx="11082528" cy="548640"/>
          </a:xfrm>
          <a:prstGeom prst="roundRect">
            <a:avLst>
              <a:gd name="adj" fmla="val 13333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63270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台帳は案件ごとに作り直します。ジャンルが違えば、勝ち筋も変わるからです。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99632"/>
            <a:ext cx="1108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この指標は当方が独自に設計したものです。Instagram公式の指標ではありません。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TRENDS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公式発表を、運用の判断材料にする。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出典はすべて Meta / Instagram 公式発表。参照日：2026年8月17日。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29968"/>
            <a:ext cx="786384" cy="274320"/>
          </a:xfrm>
          <a:prstGeom prst="roundRect">
            <a:avLst>
              <a:gd name="adj" fmla="val 46667"/>
            </a:avLst>
          </a:prstGeom>
          <a:solidFill>
            <a:srgbClr val="188CA1"/>
          </a:solidFill>
          <a:ln w="8890">
            <a:solidFill>
              <a:srgbClr val="188CA1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574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2024.12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011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Trial Reels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50592"/>
            <a:ext cx="4956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非フォロワーへ先行配信し、約24時間で表示数・いいね・コメント・シェアを確認できる。72時間以内の成績で自動的に全体公開する設定も選べる。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153912" y="1847088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36792" y="2029968"/>
            <a:ext cx="786384" cy="274320"/>
          </a:xfrm>
          <a:prstGeom prst="roundRect">
            <a:avLst>
              <a:gd name="adj" fmla="val 46667"/>
            </a:avLst>
          </a:prstGeom>
          <a:solidFill>
            <a:srgbClr val="188CA1"/>
          </a:solidFill>
          <a:ln w="8890">
            <a:solidFill>
              <a:srgbClr val="188CA1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0574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2025.01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7251192" y="2011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リールの推奨条件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36792" y="2450592"/>
            <a:ext cx="4956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最長3分の動画が推奨対象に。写真・カルーセルも音源を付けるとリールタブの対象になる、と公式が案内している。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48640" y="3721608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904488"/>
            <a:ext cx="786384" cy="274320"/>
          </a:xfrm>
          <a:prstGeom prst="roundRect">
            <a:avLst>
              <a:gd name="adj" fmla="val 46667"/>
            </a:avLst>
          </a:prstGeom>
          <a:solidFill>
            <a:srgbClr val="188CA1"/>
          </a:solidFill>
          <a:ln w="8890">
            <a:solidFill>
              <a:srgbClr val="188CA1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9319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2025.08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8862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リポスト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325112"/>
            <a:ext cx="4956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公開中のリール・フィード投稿を他のユーザーが再共有でき、元の投稿者がクレジットされる。第三者経由の露出が増える。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153912" y="3721608"/>
            <a:ext cx="5321808" cy="1572768"/>
          </a:xfrm>
          <a:prstGeom prst="roundRect">
            <a:avLst>
              <a:gd name="adj" fmla="val 4651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6792" y="3904488"/>
            <a:ext cx="786384" cy="274320"/>
          </a:xfrm>
          <a:prstGeom prst="roundRect">
            <a:avLst>
              <a:gd name="adj" fmla="val 46667"/>
            </a:avLst>
          </a:prstGeom>
          <a:solidFill>
            <a:srgbClr val="188CA1"/>
          </a:solidFill>
          <a:ln w="8890">
            <a:solidFill>
              <a:srgbClr val="188CA1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36792" y="39319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2025.08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251192" y="38862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Friends タブ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36792" y="4325112"/>
            <a:ext cx="4956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友人が「いいね・作成・リポスト・コメント」したリールが並ぶ面が追加。知人の反応が到達の経路になる。</a:t>
            </a:r>
            <a:endParaRPr lang="en-US" sz="92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42432"/>
            <a:ext cx="1108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出典：about.fb.com/news/2024/12/trial-reels-try-content-non-followers-first-see-what-perfoms-best/　／　creators.instagram.com/blog/the-latest-with-instagram（2025年1月21日）　／　about.fb.com/news/2025/08/new-instagram-features-help-you-connect/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ALGORITHM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公式のランキング指標に、運用を合わせる。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Instagram公式「Instagram Ranking Explained」（2023年5月31日公開）が示す面ごとのシグナルに基づく。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105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2212848" y="18105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公式が挙げるシグナル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810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運用でやること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48640" y="2139696"/>
            <a:ext cx="11082528" cy="859536"/>
          </a:xfrm>
          <a:prstGeom prst="roundRect">
            <a:avLst>
              <a:gd name="adj" fmla="val 6383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2395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フィード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212848" y="226771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自分の活動／投稿の情報／投稿者の情報／過去の交流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56832" y="2286000"/>
            <a:ext cx="0" cy="566928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6858000" y="226771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保存とシェアが起きる情報設計に寄せる。単発ではなく、同じ相手に届き続ける連載型で組む。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48640" y="3099816"/>
            <a:ext cx="110825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355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ストーリーズ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212848" y="322783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視聴履歴／エンゲージ履歴／親密度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56832" y="3246120"/>
            <a:ext cx="0" cy="566928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6858000" y="322783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質問・アンケートなど反応装置を置き、双方向の履歴そのものを資産としてつくる。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548640" y="4059936"/>
            <a:ext cx="11082528" cy="859536"/>
          </a:xfrm>
          <a:prstGeom prst="roundRect">
            <a:avLst>
              <a:gd name="adj" fmla="val 6383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43159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発見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212848" y="418795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投稿の人気度／発見での行動／投稿者の情報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56832" y="4206240"/>
            <a:ext cx="0" cy="566928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6858000" y="41879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初見の相手に届く前提で、1枚目とフックを設計する。文脈が要る言い回しを避ける。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548640" y="5020056"/>
            <a:ext cx="1108252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5276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リール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212848" y="514807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自分の活動／過去の交流／リールの情報（音源・映像）／投稿者の情報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56832" y="5166360"/>
            <a:ext cx="0" cy="566928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6858000" y="514807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音源と冒頭2秒を検証対象に固定し、Trial Reelsで非フォロワーに先に当てて判断する。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08192"/>
            <a:ext cx="1108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アルゴリズムは変化します。公式発表を継続的に確認し、運用ルールを更新したうえでご報告します。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FRAMEWORK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「投稿」ではなく、「伝わり続ける流れ」を設計。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" y="2057400"/>
            <a:ext cx="1572768" cy="1572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077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WHY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2322576" y="2834640"/>
            <a:ext cx="640080" cy="0"/>
          </a:xfrm>
          <a:prstGeom prst="line">
            <a:avLst/>
          </a:prstGeom>
          <a:noFill/>
          <a:ln w="2032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962656" y="2057400"/>
            <a:ext cx="1572768" cy="1572768"/>
          </a:xfrm>
          <a:prstGeom prst="ellipse">
            <a:avLst/>
          </a:prstGeom>
          <a:solidFill>
            <a:srgbClr val="DDE3E2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4096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言語化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54096" y="29077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MESSAGE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4535424" y="2834640"/>
            <a:ext cx="640080" cy="0"/>
          </a:xfrm>
          <a:prstGeom prst="line">
            <a:avLst/>
          </a:prstGeom>
          <a:noFill/>
          <a:ln w="2032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175504" y="2057400"/>
            <a:ext cx="1572768" cy="15727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6944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世界観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66944" y="29077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IDENTITY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748272" y="2834640"/>
            <a:ext cx="640080" cy="0"/>
          </a:xfrm>
          <a:prstGeom prst="line">
            <a:avLst/>
          </a:prstGeom>
          <a:noFill/>
          <a:ln w="2032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388352" y="2057400"/>
            <a:ext cx="1572768" cy="1572768"/>
          </a:xfrm>
          <a:prstGeom prst="ellipse">
            <a:avLst/>
          </a:prstGeom>
          <a:solidFill>
            <a:srgbClr val="DDE3E2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79792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コンテンツ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79792" y="29077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961120" y="2834640"/>
            <a:ext cx="640080" cy="0"/>
          </a:xfrm>
          <a:prstGeom prst="line">
            <a:avLst/>
          </a:prstGeom>
          <a:noFill/>
          <a:ln w="2032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601200" y="2057400"/>
            <a:ext cx="1572768" cy="1572768"/>
          </a:xfrm>
          <a:prstGeom prst="ellipse">
            <a:avLst/>
          </a:prstGeom>
          <a:solidFill>
            <a:srgbClr val="42AFC0"/>
          </a:solidFill>
          <a:ln w="12700">
            <a:solidFill>
              <a:srgbClr val="42AF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0" y="24871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継続運用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9077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spc="8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OPERATION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143000" y="4251960"/>
            <a:ext cx="9902952" cy="1143000"/>
          </a:xfrm>
          <a:prstGeom prst="roundRect">
            <a:avLst>
              <a:gd name="adj" fmla="val 6400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63040" y="4526280"/>
            <a:ext cx="9281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ブランドの核を守りながら、媒体と顧客に合わせて表現を変える。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566928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一貫性と変化の両方が、長く選ばれるSNSをつくります。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DESIGN POLICY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色も書体も、感覚ではなく理由で選ぶ。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この資料自体を、私の判断基準のサンプルとしてご覧ください。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TYPEFACE</a:t>
            </a:r>
            <a:endParaRPr lang="en-US" sz="74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86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Noto Sans JP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798064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・和文と欧文で字面が揃い、混植しても行が乱れない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・9ウェイトあるため、強弱を「色」ではなく「太さ」でつくれる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・Canvaに標準搭載。納品後にクライアント側で編集しても崩れない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217920" y="1847088"/>
            <a:ext cx="541324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COLOR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6455664" y="2340864"/>
            <a:ext cx="1133856" cy="786384"/>
          </a:xfrm>
          <a:prstGeom prst="roundRect">
            <a:avLst>
              <a:gd name="adj" fmla="val 9302"/>
            </a:avLst>
          </a:prstGeom>
          <a:solidFill>
            <a:srgbClr val="42AFC0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55664" y="320040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#42AFC0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43814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主役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754112" y="2340864"/>
            <a:ext cx="1133856" cy="786384"/>
          </a:xfrm>
          <a:prstGeom prst="roundRect">
            <a:avLst>
              <a:gd name="adj" fmla="val 9302"/>
            </a:avLst>
          </a:prstGeom>
          <a:solidFill>
            <a:srgbClr val="202526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54112" y="320040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#202526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54112" y="343814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9052560" y="2340864"/>
            <a:ext cx="1133856" cy="786384"/>
          </a:xfrm>
          <a:prstGeom prst="roundRect">
            <a:avLst>
              <a:gd name="adj" fmla="val 9302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0" y="320040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#DDE3E2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343814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余白の段差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0351008" y="2340864"/>
            <a:ext cx="1133856" cy="786384"/>
          </a:xfrm>
          <a:prstGeom prst="roundRect">
            <a:avLst>
              <a:gd name="adj" fmla="val 9302"/>
            </a:avLst>
          </a:prstGeom>
          <a:solidFill>
            <a:srgbClr val="DDEDF1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51008" y="320040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#DDEDF1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351008" y="343814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強調の背景</a:t>
            </a:r>
            <a:endParaRPr lang="en-US" sz="82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37307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色数は4色に固定。増やすほど「どこを見ればいいか」が消えるためです。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66928" y="4352544"/>
            <a:ext cx="35478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453128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ターコイズを主役に置く理由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736592"/>
            <a:ext cx="3218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スポーツ・教育・地域など「信頼が要る領域」を扱うため、彩度を落として浮つかせない。同時に、青より前向きで、緑より軽い。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97680" y="4352544"/>
            <a:ext cx="3547872" cy="1481328"/>
          </a:xfrm>
          <a:prstGeom prst="roundRect">
            <a:avLst>
              <a:gd name="adj" fmla="val 4938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62272" y="4453128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黒を使わない理由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462272" y="4736592"/>
            <a:ext cx="3218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純黒は写真の黒と競合し、文字が沈む。チャコールに寄せることで、写真の上でも文字が独立して読める。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28432" y="4352544"/>
            <a:ext cx="35478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93024" y="4453128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余白に色を持たせる理由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193024" y="4736592"/>
            <a:ext cx="32186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白の上に白を置くと段差が消える。ライトグレーを挟むことで、情報の階層が「線を引かなくても」伝わる。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0533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この判断基準は、クライアントのブランドに合わせて毎回組み直します。上記は本資料のためのものです。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01 / INSTAGRAM FEED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少年サッカー情報舎 VAMOS｜告知を、参加動機に変える。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第3回 VAMOSまつり（2026年6月28日／ルイガンズ福岡）の告知クリエイティブ。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157984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Users/imadatadahito/Desktop/ai-imadaruma/04_貿易省/文化庁/portfolio/assets/instagram/vamos_festival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920240"/>
            <a:ext cx="1938528" cy="2423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16352" y="1783080"/>
            <a:ext cx="2157984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/Users/imadatadahito/Desktop/ai-imadaruma/04_貿易省/文化庁/portfolio/assets/instagram/vamos_festival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920240"/>
            <a:ext cx="1938528" cy="2423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230368" y="1783080"/>
            <a:ext cx="3136392" cy="1284732"/>
          </a:xfrm>
          <a:prstGeom prst="roundRect">
            <a:avLst>
              <a:gd name="adj" fmla="val 5694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394960" y="1901952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2167128"/>
            <a:ext cx="2807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福岡近郊の小学生年代の子をもつ保護者。休日に家族で行ける場所を探している層。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8494776" y="1783080"/>
            <a:ext cx="3136392" cy="1284732"/>
          </a:xfrm>
          <a:prstGeom prst="roundRect">
            <a:avLst>
              <a:gd name="adj" fmla="val 569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59368" y="1901952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ISSUE</a:t>
            </a:r>
            <a:endParaRPr lang="en-US" sz="740" dirty="0"/>
          </a:p>
        </p:txBody>
      </p:sp>
      <p:sp>
        <p:nvSpPr>
          <p:cNvPr id="15" name="Text 11"/>
          <p:cNvSpPr txBox="1"/>
          <p:nvPr/>
        </p:nvSpPr>
        <p:spPr>
          <a:xfrm>
            <a:off x="8659368" y="2167128"/>
            <a:ext cx="2807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サッカーイベントの告知は多いが、どれが自分の子に合うのかが分からない。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5230368" y="3195828"/>
            <a:ext cx="3136392" cy="1284732"/>
          </a:xfrm>
          <a:prstGeom prst="roundRect">
            <a:avLst>
              <a:gd name="adj" fmla="val 569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394960" y="3314700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PURPOSE</a:t>
            </a:r>
            <a:endParaRPr lang="en-US" sz="740" dirty="0"/>
          </a:p>
        </p:txBody>
      </p:sp>
      <p:sp>
        <p:nvSpPr>
          <p:cNvPr id="18" name="Text 14"/>
          <p:cNvSpPr txBox="1"/>
          <p:nvPr/>
        </p:nvSpPr>
        <p:spPr>
          <a:xfrm>
            <a:off x="5394960" y="3579876"/>
            <a:ext cx="2807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第3回VAMOSまつりへの参加を増やしつつ、冠協賛の露出価値を毎回同じ強さで担保する。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8494776" y="3195828"/>
            <a:ext cx="3136392" cy="1284732"/>
          </a:xfrm>
          <a:prstGeom prst="roundRect">
            <a:avLst>
              <a:gd name="adj" fmla="val 5694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59368" y="3314700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</a:t>
            </a:r>
            <a:endParaRPr lang="en-US" sz="740" dirty="0"/>
          </a:p>
        </p:txBody>
      </p:sp>
      <p:sp>
        <p:nvSpPr>
          <p:cNvPr id="21" name="Text 17"/>
          <p:cNvSpPr txBox="1"/>
          <p:nvPr/>
        </p:nvSpPr>
        <p:spPr>
          <a:xfrm>
            <a:off x="8659368" y="3579876"/>
            <a:ext cx="2807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「うちの子もあの輪に入れる」と親が想像でき、申し込みの心理的ハードルが下がる。</a:t>
            </a:r>
            <a:endParaRPr lang="en-US" sz="930" dirty="0"/>
          </a:p>
        </p:txBody>
      </p:sp>
      <p:sp>
        <p:nvSpPr>
          <p:cNvPr id="22" name="Text 18"/>
          <p:cNvSpPr txBox="1"/>
          <p:nvPr/>
        </p:nvSpPr>
        <p:spPr>
          <a:xfrm>
            <a:off x="603504" y="470001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ROLE</a:t>
            </a:r>
            <a:endParaRPr lang="en-US" sz="720" dirty="0"/>
          </a:p>
        </p:txBody>
      </p:sp>
      <p:sp>
        <p:nvSpPr>
          <p:cNvPr id="23" name="Text 19"/>
          <p:cNvSpPr txBox="1"/>
          <p:nvPr/>
        </p:nvSpPr>
        <p:spPr>
          <a:xfrm>
            <a:off x="1389888" y="4663440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企画／デザイン制作／投稿／分析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8202168" y="4608576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F7F8F7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348472" y="46725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</a:t>
            </a:r>
            <a:endParaRPr lang="en-US" sz="720" dirty="0"/>
          </a:p>
        </p:txBody>
      </p:sp>
      <p:sp>
        <p:nvSpPr>
          <p:cNvPr id="26" name="Text 22"/>
          <p:cNvSpPr txBox="1"/>
          <p:nvPr/>
        </p:nvSpPr>
        <p:spPr>
          <a:xfrm>
            <a:off x="9208008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3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（数値を記入）</a:t>
            </a:r>
            <a:endParaRPr lang="en-US" sz="860" dirty="0"/>
          </a:p>
        </p:txBody>
      </p:sp>
      <p:sp>
        <p:nvSpPr>
          <p:cNvPr id="27" name="Shape 23"/>
          <p:cNvSpPr/>
          <p:nvPr/>
        </p:nvSpPr>
        <p:spPr>
          <a:xfrm>
            <a:off x="566928" y="5065776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1520" y="5166360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主役を決める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31520" y="5449824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参加した子どもたちの集合写真を主役に置き、「行けば自分もあの輪に入れる」を一目で伝える。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270248" y="5065776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434840" y="5166360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読む相手を変える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4434840" y="5449824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家族向けの回では観戦する人の表情に主役を差し替え、同じ大会を別の動機で見せる。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7973568" y="5065776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138160" y="5166360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協賛を立てる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8138160" y="5449824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冠協賛（ケイカフェ／MAKERS GROUP）を定位置に固定。告知の強さと還元を両立させる。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02 / INSTAGRAM FEED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駅前不動産 presents 第3回 VAMOS CUP｜大会の「格」を、1枚で伝える。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同じクライアントの別シリーズ。まつりとは狙いを変え、競技の緊張感を前に出す。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157984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Users/imadatadahito/Desktop/ai-imadaruma/04_貿易省/文化庁/portfolio/assets/instagram/vamoscup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920672"/>
            <a:ext cx="1938528" cy="24222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16352" y="1783080"/>
            <a:ext cx="2157984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/Users/imadatadahito/Desktop/ai-imadaruma/04_貿易省/文化庁/portfolio/assets/instagram/vamoscup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920672"/>
            <a:ext cx="1938528" cy="24222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230368" y="1783080"/>
            <a:ext cx="3136392" cy="1284732"/>
          </a:xfrm>
          <a:prstGeom prst="roundRect">
            <a:avLst>
              <a:gd name="adj" fmla="val 5694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394960" y="1901952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2167128"/>
            <a:ext cx="2807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ジュニア年代の選手・指導者と、その保護者。出場する大会を選ぶ立場にある層。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8494776" y="1783080"/>
            <a:ext cx="3136392" cy="1284732"/>
          </a:xfrm>
          <a:prstGeom prst="roundRect">
            <a:avLst>
              <a:gd name="adj" fmla="val 569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59368" y="1901952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ISSUE</a:t>
            </a:r>
            <a:endParaRPr lang="en-US" sz="740" dirty="0"/>
          </a:p>
        </p:txBody>
      </p:sp>
      <p:sp>
        <p:nvSpPr>
          <p:cNvPr id="15" name="Text 11"/>
          <p:cNvSpPr txBox="1"/>
          <p:nvPr/>
        </p:nvSpPr>
        <p:spPr>
          <a:xfrm>
            <a:off x="8659368" y="2167128"/>
            <a:ext cx="2807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地域大会は数が多く、どれが「出る価値のある大会」なのかが伝わりにくい。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5230368" y="3195828"/>
            <a:ext cx="3136392" cy="1284732"/>
          </a:xfrm>
          <a:prstGeom prst="roundRect">
            <a:avLst>
              <a:gd name="adj" fmla="val 569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394960" y="3314700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PURPOSE</a:t>
            </a:r>
            <a:endParaRPr lang="en-US" sz="740" dirty="0"/>
          </a:p>
        </p:txBody>
      </p:sp>
      <p:sp>
        <p:nvSpPr>
          <p:cNvPr id="18" name="Text 14"/>
          <p:cNvSpPr txBox="1"/>
          <p:nvPr/>
        </p:nvSpPr>
        <p:spPr>
          <a:xfrm>
            <a:off x="5394960" y="3579876"/>
            <a:ext cx="2807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大会の格を可視化し、参加チームの質と協賛価値を同時に引き上げる。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8494776" y="3195828"/>
            <a:ext cx="3136392" cy="1284732"/>
          </a:xfrm>
          <a:prstGeom prst="roundRect">
            <a:avLst>
              <a:gd name="adj" fmla="val 5694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59368" y="3314700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</a:t>
            </a:r>
            <a:endParaRPr lang="en-US" sz="740" dirty="0"/>
          </a:p>
        </p:txBody>
      </p:sp>
      <p:sp>
        <p:nvSpPr>
          <p:cNvPr id="21" name="Text 17"/>
          <p:cNvSpPr txBox="1"/>
          <p:nvPr/>
        </p:nvSpPr>
        <p:spPr>
          <a:xfrm>
            <a:off x="8659368" y="3579876"/>
            <a:ext cx="2807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「あの大会に出た」と言える大会になり、翌年以降の集客と協賛獲得が楽になる。</a:t>
            </a:r>
            <a:endParaRPr lang="en-US" sz="930" dirty="0"/>
          </a:p>
        </p:txBody>
      </p:sp>
      <p:sp>
        <p:nvSpPr>
          <p:cNvPr id="22" name="Text 18"/>
          <p:cNvSpPr txBox="1"/>
          <p:nvPr/>
        </p:nvSpPr>
        <p:spPr>
          <a:xfrm>
            <a:off x="603504" y="470001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ROLE</a:t>
            </a:r>
            <a:endParaRPr lang="en-US" sz="720" dirty="0"/>
          </a:p>
        </p:txBody>
      </p:sp>
      <p:sp>
        <p:nvSpPr>
          <p:cNvPr id="23" name="Text 19"/>
          <p:cNvSpPr txBox="1"/>
          <p:nvPr/>
        </p:nvSpPr>
        <p:spPr>
          <a:xfrm>
            <a:off x="1389888" y="4663440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企画／デザイン制作／投稿／分析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8202168" y="4608576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F7F8F7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348472" y="46725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</a:t>
            </a:r>
            <a:endParaRPr lang="en-US" sz="720" dirty="0"/>
          </a:p>
        </p:txBody>
      </p:sp>
      <p:sp>
        <p:nvSpPr>
          <p:cNvPr id="26" name="Text 22"/>
          <p:cNvSpPr txBox="1"/>
          <p:nvPr/>
        </p:nvSpPr>
        <p:spPr>
          <a:xfrm>
            <a:off x="9208008" y="46634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3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（数値を記入）</a:t>
            </a:r>
            <a:endParaRPr lang="en-US" sz="860" dirty="0"/>
          </a:p>
        </p:txBody>
      </p:sp>
      <p:sp>
        <p:nvSpPr>
          <p:cNvPr id="27" name="Shape 23"/>
          <p:cNvSpPr/>
          <p:nvPr/>
        </p:nvSpPr>
        <p:spPr>
          <a:xfrm>
            <a:off x="566928" y="5065776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1520" y="5166360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格をつくる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31520" y="5449824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実写の質感と大きなロゴタイプで、地域大会に全国大会の空気をまとわせる。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270248" y="5065776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434840" y="5166360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長文を読ませる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4434840" y="5449824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協賛企業からのメッセージを、行間と段落の階層で読み飛ばされない密度に組む。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7973568" y="5065776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138160" y="5166360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冠を守る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8138160" y="5449824"/>
            <a:ext cx="3191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「駅前不動産 presents」を毎回同じ定位置に置き、協賛の露出を同じ強さで確保する。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03 / REELS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Pound the Rock Design｜思想を、2秒で立ち止まらせる。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自社アカウントで、哲学・自己統治をテーマにした縦型リールを継続制作。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810512" cy="3054096"/>
          </a:xfrm>
          <a:prstGeom prst="roundRect">
            <a:avLst>
              <a:gd name="adj" fmla="val 4040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pic>
        <p:nvPicPr>
          <p:cNvPr id="7" name="Image 0" descr="/Users/imadatadahito/Desktop/ai-imadaruma/04_貿易省/文化庁/portfolio/assets/reels/PTRDinsta2024リール_ニーチェ流天才論.m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208" y="1819656"/>
            <a:ext cx="1675953" cy="2980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42032" y="1783080"/>
            <a:ext cx="2615184" cy="3054096"/>
          </a:xfrm>
          <a:prstGeom prst="roundRect">
            <a:avLst>
              <a:gd name="adj" fmla="val 2797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0" y="1975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2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HOOK</a:t>
            </a:r>
            <a:endParaRPr lang="en-US" sz="72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249424"/>
            <a:ext cx="22494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「奇跡が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起こったかのように」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3127248"/>
            <a:ext cx="22311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結論を先に出さない。冒頭の一文だけでは意味が完結せず、続きを見ないと分からない状態をつくる。指を止めることに全振りする。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0" y="4261104"/>
            <a:ext cx="2212848" cy="0"/>
          </a:xfrm>
          <a:prstGeom prst="line">
            <a:avLst/>
          </a:prstGeom>
          <a:noFill/>
          <a:ln w="1778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2743200" y="440740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ニーチェ流 天才論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Adobe Premiere Pro / 9:16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5358384" y="1783080"/>
            <a:ext cx="3072384" cy="1463040"/>
          </a:xfrm>
          <a:prstGeom prst="roundRect">
            <a:avLst>
              <a:gd name="adj" fmla="val 5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22976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endParaRPr lang="en-US" sz="740" dirty="0"/>
          </a:p>
        </p:txBody>
      </p:sp>
      <p:sp>
        <p:nvSpPr>
          <p:cNvPr id="16" name="Text 13"/>
          <p:cNvSpPr txBox="1"/>
          <p:nvPr/>
        </p:nvSpPr>
        <p:spPr>
          <a:xfrm>
            <a:off x="5522976" y="2167128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自分を律したい20〜40代。思想や哲学に関心があり、消費的な情報に飽きている層。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8558784" y="1783080"/>
            <a:ext cx="307238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23376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ISSUE</a:t>
            </a:r>
            <a:endParaRPr lang="en-US" sz="740" dirty="0"/>
          </a:p>
        </p:txBody>
      </p:sp>
      <p:sp>
        <p:nvSpPr>
          <p:cNvPr id="19" name="Text 16"/>
          <p:cNvSpPr txBox="1"/>
          <p:nvPr/>
        </p:nvSpPr>
        <p:spPr>
          <a:xfrm>
            <a:off x="8723376" y="2167128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情報は溢れているのに、行動を変えるだけの強さを持った言葉に出会えない。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5358384" y="3374136"/>
            <a:ext cx="307238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22976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PURPOSE</a:t>
            </a:r>
            <a:endParaRPr lang="en-US" sz="740" dirty="0"/>
          </a:p>
        </p:txBody>
      </p:sp>
      <p:sp>
        <p:nvSpPr>
          <p:cNvPr id="22" name="Text 19"/>
          <p:cNvSpPr txBox="1"/>
          <p:nvPr/>
        </p:nvSpPr>
        <p:spPr>
          <a:xfrm>
            <a:off x="5522976" y="3758184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世界観で記憶に残し、Pound the Rock Design の思想的な立ち位置を確立する。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8558784" y="3374136"/>
            <a:ext cx="3072384" cy="1463040"/>
          </a:xfrm>
          <a:prstGeom prst="roundRect">
            <a:avLst>
              <a:gd name="adj" fmla="val 5000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23376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</a:t>
            </a:r>
            <a:endParaRPr lang="en-US" sz="740" dirty="0"/>
          </a:p>
        </p:txBody>
      </p:sp>
      <p:sp>
        <p:nvSpPr>
          <p:cNvPr id="25" name="Text 22"/>
          <p:cNvSpPr txBox="1"/>
          <p:nvPr/>
        </p:nvSpPr>
        <p:spPr>
          <a:xfrm>
            <a:off x="8723376" y="3758184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「この人の言葉をまた読みたい」と思われ、比較ではなく指名で依頼が来る状態をつくる。</a:t>
            </a:r>
            <a:endParaRPr lang="en-US" sz="930" dirty="0"/>
          </a:p>
        </p:txBody>
      </p:sp>
      <p:sp>
        <p:nvSpPr>
          <p:cNvPr id="26" name="Text 23"/>
          <p:cNvSpPr txBox="1"/>
          <p:nvPr/>
        </p:nvSpPr>
        <p:spPr>
          <a:xfrm>
            <a:off x="603504" y="50474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ROLE</a:t>
            </a:r>
            <a:endParaRPr lang="en-US" sz="720" dirty="0"/>
          </a:p>
        </p:txBody>
      </p:sp>
      <p:sp>
        <p:nvSpPr>
          <p:cNvPr id="27" name="Text 24"/>
          <p:cNvSpPr txBox="1"/>
          <p:nvPr/>
        </p:nvSpPr>
        <p:spPr>
          <a:xfrm>
            <a:off x="1389888" y="5010912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企画／デザイン制作／投稿／分析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8202168" y="4956048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F7F8F7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48472" y="50200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</a:t>
            </a:r>
            <a:endParaRPr lang="en-US" sz="720" dirty="0"/>
          </a:p>
        </p:txBody>
      </p:sp>
      <p:sp>
        <p:nvSpPr>
          <p:cNvPr id="30" name="Text 27"/>
          <p:cNvSpPr txBox="1"/>
          <p:nvPr/>
        </p:nvSpPr>
        <p:spPr>
          <a:xfrm>
            <a:off x="9208008" y="501091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3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（数値を記入）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566928" y="5577840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31520" y="5678424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画づくり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" y="5961888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暗い背景に発光する被写体。タイムライン上で前後の投稿と輝度差が出る配色を選ぶ。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270248" y="5577840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434840" y="5678424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縦組みの日本語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4434840" y="5961888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横書きが並ぶタイムラインの中で異物になり、同時に世界観そのものを担わせる。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973568" y="5577840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138160" y="5678424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続けられる型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138160" y="5961888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素材・配色・文字組みをテンプレート化し、テーマだけ差し替えて量を出す。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04 / REELS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現場を、そのままブランドの素材にする。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撮って出しにせず、「誰の発信か」が一目で分かる状態まで作り込む。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335024" cy="2377440"/>
          </a:xfrm>
          <a:prstGeom prst="roundRect">
            <a:avLst>
              <a:gd name="adj" fmla="val 5479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pic>
        <p:nvPicPr>
          <p:cNvPr id="7" name="Image 0" descr="/Users/imadatadahito/Desktop/ai-imadaruma/04_貿易省/文化庁/portfolio/assets/reels/imadaruma.soundリール05ブリッジヘア (1).m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849582"/>
            <a:ext cx="1261872" cy="22444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56816" y="1783080"/>
            <a:ext cx="1335024" cy="2377440"/>
          </a:xfrm>
          <a:prstGeom prst="roundRect">
            <a:avLst>
              <a:gd name="adj" fmla="val 5479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pic>
        <p:nvPicPr>
          <p:cNvPr id="9" name="Image 1" descr="/Users/imadatadahito/Desktop/ai-imadaruma/04_貿易省/文化庁/portfolio/assets/reels/sound_march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1850136"/>
            <a:ext cx="1261872" cy="22433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1568" y="178308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584448" y="195681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imadaruma.sound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584448" y="224942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店舗ブランディング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584448" y="2523744"/>
            <a:ext cx="2011680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 txBox="1"/>
          <p:nvPr/>
        </p:nvSpPr>
        <p:spPr>
          <a:xfrm>
            <a:off x="3584448" y="2633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endParaRPr lang="en-US" sz="700" dirty="0"/>
          </a:p>
        </p:txBody>
      </p:sp>
      <p:sp>
        <p:nvSpPr>
          <p:cNvPr id="15" name="Text 11"/>
          <p:cNvSpPr txBox="1"/>
          <p:nvPr/>
        </p:nvSpPr>
        <p:spPr>
          <a:xfrm>
            <a:off x="3584448" y="281635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近隣で店を探している住民。仕上がりより「店の空気」で選ぶ層。</a:t>
            </a:r>
            <a:endParaRPr lang="en-US" sz="860" dirty="0"/>
          </a:p>
        </p:txBody>
      </p:sp>
      <p:sp>
        <p:nvSpPr>
          <p:cNvPr id="16" name="Text 12"/>
          <p:cNvSpPr txBox="1"/>
          <p:nvPr/>
        </p:nvSpPr>
        <p:spPr>
          <a:xfrm>
            <a:off x="3584448" y="3364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PURPOSE</a:t>
            </a:r>
            <a:endParaRPr lang="en-US" sz="700" dirty="0"/>
          </a:p>
        </p:txBody>
      </p:sp>
      <p:sp>
        <p:nvSpPr>
          <p:cNvPr id="17" name="Text 13"/>
          <p:cNvSpPr txBox="1"/>
          <p:nvPr/>
        </p:nvSpPr>
        <p:spPr>
          <a:xfrm>
            <a:off x="3584448" y="35478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外観から店内へ視線を送り、行く前に雰囲気を体感させる。イベント告知も同じ型で回す。</a:t>
            </a:r>
            <a:endParaRPr lang="en-US" sz="860" dirty="0"/>
          </a:p>
        </p:txBody>
      </p:sp>
      <p:sp>
        <p:nvSpPr>
          <p:cNvPr id="18" name="Shape 14"/>
          <p:cNvSpPr/>
          <p:nvPr/>
        </p:nvSpPr>
        <p:spPr>
          <a:xfrm>
            <a:off x="5943600" y="1783080"/>
            <a:ext cx="1335024" cy="2377440"/>
          </a:xfrm>
          <a:prstGeom prst="roundRect">
            <a:avLst>
              <a:gd name="adj" fmla="val 5479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pic>
        <p:nvPicPr>
          <p:cNvPr id="19" name="Image 2" descr="/Users/imadatadahito/Desktop/ai-imadaruma/04_貿易省/文化庁/portfolio/assets/reels/rex-trainingcamp.mp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1849582"/>
            <a:ext cx="1261872" cy="224443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333488" y="1783080"/>
            <a:ext cx="1335024" cy="2377440"/>
          </a:xfrm>
          <a:prstGeom prst="roundRect">
            <a:avLst>
              <a:gd name="adj" fmla="val 5479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pic>
        <p:nvPicPr>
          <p:cNvPr id="21" name="Image 3" descr="/Users/imadatadahito/Desktop/ai-imadaruma/04_貿易省/文化庁/portfolio/assets/reels/rex_physic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4" y="1850136"/>
            <a:ext cx="1261872" cy="224332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778240" y="1783080"/>
            <a:ext cx="2852928" cy="2377440"/>
          </a:xfrm>
          <a:prstGeom prst="roundRect">
            <a:avLst>
              <a:gd name="adj" fmla="val 3077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961120" y="19568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CFC REX 筑紫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961120" y="224942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スポーツクラブ｜活動レポート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8961120" y="2523744"/>
            <a:ext cx="2487168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6" name="Text 20"/>
          <p:cNvSpPr txBox="1"/>
          <p:nvPr/>
        </p:nvSpPr>
        <p:spPr>
          <a:xfrm>
            <a:off x="8961120" y="2633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endParaRPr lang="en-US" sz="700" dirty="0"/>
          </a:p>
        </p:txBody>
      </p:sp>
      <p:sp>
        <p:nvSpPr>
          <p:cNvPr id="27" name="Text 21"/>
          <p:cNvSpPr txBox="1"/>
          <p:nvPr/>
        </p:nvSpPr>
        <p:spPr>
          <a:xfrm>
            <a:off x="8961120" y="281635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入団を検討する選手と保護者。練習の中身と雰囲気を知りたい層。</a:t>
            </a:r>
            <a:endParaRPr lang="en-US" sz="860" dirty="0"/>
          </a:p>
        </p:txBody>
      </p:sp>
      <p:sp>
        <p:nvSpPr>
          <p:cNvPr id="28" name="Text 22"/>
          <p:cNvSpPr txBox="1"/>
          <p:nvPr/>
        </p:nvSpPr>
        <p:spPr>
          <a:xfrm>
            <a:off x="8961120" y="3364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PURPOSE</a:t>
            </a:r>
            <a:endParaRPr lang="en-US" sz="700" dirty="0"/>
          </a:p>
        </p:txBody>
      </p:sp>
      <p:sp>
        <p:nvSpPr>
          <p:cNvPr id="29" name="Text 23"/>
          <p:cNvSpPr txBox="1"/>
          <p:nvPr/>
        </p:nvSpPr>
        <p:spPr>
          <a:xfrm>
            <a:off x="8961120" y="354787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合宿は4分割グリッド、練習は日付入りの帯と、内容に応じて型を使い分ける。</a:t>
            </a:r>
            <a:endParaRPr lang="en-US" sz="860" dirty="0"/>
          </a:p>
        </p:txBody>
      </p:sp>
      <p:sp>
        <p:nvSpPr>
          <p:cNvPr id="30" name="Text 24"/>
          <p:cNvSpPr txBox="1"/>
          <p:nvPr/>
        </p:nvSpPr>
        <p:spPr>
          <a:xfrm>
            <a:off x="566928" y="4297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いずれも1本で終わらせず、同じ型を使い回して継続的に投稿しています。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603504" y="475488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ROLE</a:t>
            </a:r>
            <a:endParaRPr lang="en-US" sz="720" dirty="0"/>
          </a:p>
        </p:txBody>
      </p:sp>
      <p:sp>
        <p:nvSpPr>
          <p:cNvPr id="32" name="Text 26"/>
          <p:cNvSpPr txBox="1"/>
          <p:nvPr/>
        </p:nvSpPr>
        <p:spPr>
          <a:xfrm>
            <a:off x="1389888" y="471830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企画／デザイン制作／投稿／分析</a:t>
            </a:r>
            <a:endParaRPr lang="en-US" sz="1080" dirty="0"/>
          </a:p>
        </p:txBody>
      </p:sp>
      <p:sp>
        <p:nvSpPr>
          <p:cNvPr id="33" name="Shape 27"/>
          <p:cNvSpPr/>
          <p:nvPr/>
        </p:nvSpPr>
        <p:spPr>
          <a:xfrm>
            <a:off x="8202168" y="4663440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F7F8F7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348472" y="47274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</a:t>
            </a:r>
            <a:endParaRPr lang="en-US" sz="720" dirty="0"/>
          </a:p>
        </p:txBody>
      </p:sp>
      <p:sp>
        <p:nvSpPr>
          <p:cNvPr id="35" name="Text 29"/>
          <p:cNvSpPr txBox="1"/>
          <p:nvPr/>
        </p:nvSpPr>
        <p:spPr>
          <a:xfrm>
            <a:off x="9208008" y="471830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3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（数値を記入）</a:t>
            </a:r>
            <a:endParaRPr lang="en-US" sz="860" dirty="0"/>
          </a:p>
        </p:txBody>
      </p:sp>
      <p:sp>
        <p:nvSpPr>
          <p:cNvPr id="36" name="Shape 30"/>
          <p:cNvSpPr/>
          <p:nvPr/>
        </p:nvSpPr>
        <p:spPr>
          <a:xfrm>
            <a:off x="566928" y="512064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31520" y="5221224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共通の狙い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731520" y="5504688"/>
            <a:ext cx="3191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どちらも「行く前の不安」を消すための動画。上手く見せるのではなく、実際の空気をそのまま出す。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4270248" y="512064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4434840" y="5221224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ブランド要素の常設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4434840" y="5504688"/>
            <a:ext cx="3191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ロゴ・エンブレムを画面内に固定し、二次拡散で文脈が外れても発信元が分かる状態を保つ。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7973568" y="512064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8138160" y="5221224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続けられる型を先に決める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8138160" y="5504688"/>
            <a:ext cx="3191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特別な機材を使わず、現場で撮れる素材だけで成立する型にする。だから毎週回せる。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05 / SPORTS BRANDING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スポーツクラブ｜らしさが伝わる、チームの顔づくり。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ロゴ・エンブレムからSNSビジュアルまで、一貫したトーンを設計。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 CLUBS</a:t>
            </a:r>
            <a:endParaRPr lang="en-US" sz="74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1901952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ボルクバレット北九州（プロフットサルクラブ）　／　カノアラウレアーズ福岡（プロバレーボールクラブ）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230428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クラブエンブレム・SNS戦略・VIデザインを担当。アマチュアクラブを含め、スポーツ領域のブランディングに継続的に携わっています。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2798064"/>
            <a:ext cx="2157984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/Users/imadatadahito/Desktop/ai-imadaruma/04_貿易省/文化庁/portfolio/assets/works/flext_embl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907792"/>
            <a:ext cx="1938528" cy="193852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962656" y="2798064"/>
            <a:ext cx="2157984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/Users/imadatadahito/Desktop/ai-imadaruma/04_貿易省/文化庁/portfolio/assets/works/rex_embl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2907792"/>
            <a:ext cx="1938528" cy="19385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358384" y="2798064"/>
            <a:ext cx="2157984" cy="2157984"/>
          </a:xfrm>
          <a:prstGeom prst="roundRect">
            <a:avLst>
              <a:gd name="adj" fmla="val 3390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pic>
        <p:nvPicPr>
          <p:cNvPr id="15" name="Image 2" descr="/Users/imadatadahito/Desktop/ai-imadaruma/04_貿易省/文化庁/portfolio/assets/works/rex_sn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834640"/>
            <a:ext cx="2084832" cy="20848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754112" y="2798064"/>
            <a:ext cx="1874520" cy="1014984"/>
          </a:xfrm>
          <a:prstGeom prst="roundRect">
            <a:avLst>
              <a:gd name="adj" fmla="val 7207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918704" y="291693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endParaRPr lang="en-US" sz="740" dirty="0"/>
          </a:p>
        </p:txBody>
      </p:sp>
      <p:sp>
        <p:nvSpPr>
          <p:cNvPr id="18" name="Text 13"/>
          <p:cNvSpPr txBox="1"/>
          <p:nvPr/>
        </p:nvSpPr>
        <p:spPr>
          <a:xfrm>
            <a:off x="7918704" y="3182112"/>
            <a:ext cx="1545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プロ・アマチュアのスポーツクラブ。理念はあるが伝え方が定まっていない組織。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9756648" y="2798064"/>
            <a:ext cx="1874520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921240" y="291693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ISSUE</a:t>
            </a:r>
            <a:endParaRPr lang="en-US" sz="740" dirty="0"/>
          </a:p>
        </p:txBody>
      </p:sp>
      <p:sp>
        <p:nvSpPr>
          <p:cNvPr id="21" name="Text 16"/>
          <p:cNvSpPr txBox="1"/>
          <p:nvPr/>
        </p:nvSpPr>
        <p:spPr>
          <a:xfrm>
            <a:off x="9921240" y="3182112"/>
            <a:ext cx="1545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理念と見た目と言葉がばらばらで、クラブとしての一貫性が伝わらない。</a:t>
            </a:r>
            <a:endParaRPr lang="en-US" sz="930" dirty="0"/>
          </a:p>
        </p:txBody>
      </p:sp>
      <p:sp>
        <p:nvSpPr>
          <p:cNvPr id="22" name="Shape 17"/>
          <p:cNvSpPr/>
          <p:nvPr/>
        </p:nvSpPr>
        <p:spPr>
          <a:xfrm>
            <a:off x="7754112" y="3941064"/>
            <a:ext cx="1874520" cy="1014984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918704" y="405993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PURPOSE</a:t>
            </a:r>
            <a:endParaRPr lang="en-US" sz="740" dirty="0"/>
          </a:p>
        </p:txBody>
      </p:sp>
      <p:sp>
        <p:nvSpPr>
          <p:cNvPr id="24" name="Text 19"/>
          <p:cNvSpPr txBox="1"/>
          <p:nvPr/>
        </p:nvSpPr>
        <p:spPr>
          <a:xfrm>
            <a:off x="7918704" y="4325112"/>
            <a:ext cx="1545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エンブレムから投稿まで、同じクラブに見える状態をつくる。</a:t>
            </a:r>
            <a:endParaRPr lang="en-US" sz="930" dirty="0"/>
          </a:p>
        </p:txBody>
      </p:sp>
      <p:sp>
        <p:nvSpPr>
          <p:cNvPr id="25" name="Shape 20"/>
          <p:cNvSpPr/>
          <p:nvPr/>
        </p:nvSpPr>
        <p:spPr>
          <a:xfrm>
            <a:off x="9756648" y="3941064"/>
            <a:ext cx="1874520" cy="1014984"/>
          </a:xfrm>
          <a:prstGeom prst="roundRect">
            <a:avLst>
              <a:gd name="adj" fmla="val 7207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921240" y="405993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</a:t>
            </a:r>
            <a:endParaRPr lang="en-US" sz="740" dirty="0"/>
          </a:p>
        </p:txBody>
      </p:sp>
      <p:sp>
        <p:nvSpPr>
          <p:cNvPr id="27" name="Text 22"/>
          <p:cNvSpPr txBox="1"/>
          <p:nvPr/>
        </p:nvSpPr>
        <p:spPr>
          <a:xfrm>
            <a:off x="9921240" y="4325112"/>
            <a:ext cx="1545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募集・試合情報・物販すべてが積み上がり、ブランドがクラブの資産になる。</a:t>
            </a:r>
            <a:endParaRPr lang="en-US" sz="930" dirty="0"/>
          </a:p>
        </p:txBody>
      </p:sp>
      <p:sp>
        <p:nvSpPr>
          <p:cNvPr id="28" name="Text 23"/>
          <p:cNvSpPr txBox="1"/>
          <p:nvPr/>
        </p:nvSpPr>
        <p:spPr>
          <a:xfrm>
            <a:off x="603504" y="51389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ROLE</a:t>
            </a:r>
            <a:endParaRPr lang="en-US" sz="720" dirty="0"/>
          </a:p>
        </p:txBody>
      </p:sp>
      <p:sp>
        <p:nvSpPr>
          <p:cNvPr id="29" name="Text 24"/>
          <p:cNvSpPr txBox="1"/>
          <p:nvPr/>
        </p:nvSpPr>
        <p:spPr>
          <a:xfrm>
            <a:off x="1389888" y="5102352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企画／デザイン制作／投稿／分析</a:t>
            </a:r>
            <a:endParaRPr lang="en-US" sz="1080" dirty="0"/>
          </a:p>
        </p:txBody>
      </p:sp>
      <p:sp>
        <p:nvSpPr>
          <p:cNvPr id="30" name="Shape 25"/>
          <p:cNvSpPr/>
          <p:nvPr/>
        </p:nvSpPr>
        <p:spPr>
          <a:xfrm>
            <a:off x="8202168" y="5047488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F7F8F7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348472" y="5111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</a:t>
            </a:r>
            <a:endParaRPr lang="en-US" sz="720" dirty="0"/>
          </a:p>
        </p:txBody>
      </p:sp>
      <p:sp>
        <p:nvSpPr>
          <p:cNvPr id="32" name="Text 27"/>
          <p:cNvSpPr txBox="1"/>
          <p:nvPr/>
        </p:nvSpPr>
        <p:spPr>
          <a:xfrm>
            <a:off x="9208008" y="510235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3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（数値を記入）</a:t>
            </a:r>
            <a:endParaRPr lang="en-US" sz="860" dirty="0"/>
          </a:p>
        </p:txBody>
      </p:sp>
      <p:sp>
        <p:nvSpPr>
          <p:cNvPr id="33" name="Text 28"/>
          <p:cNvSpPr txBox="1"/>
          <p:nvPr/>
        </p:nvSpPr>
        <p:spPr>
          <a:xfrm>
            <a:off x="603504" y="546811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エンブレムは、印刷でもSNSでもリールでも耐えるよう設計し、使う人が迷わないよう配置ルールごとお渡しします。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03504" y="5870448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76656" y="589788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SPORTS BRANDING</a:t>
            </a:r>
            <a:endParaRPr lang="en-US" sz="870" dirty="0"/>
          </a:p>
        </p:txBody>
      </p:sp>
      <p:sp>
        <p:nvSpPr>
          <p:cNvPr id="36" name="Shape 31"/>
          <p:cNvSpPr/>
          <p:nvPr/>
        </p:nvSpPr>
        <p:spPr>
          <a:xfrm>
            <a:off x="2688336" y="587044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2761488" y="589788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 VISUAL</a:t>
            </a:r>
            <a:endParaRPr lang="en-US" sz="870" dirty="0"/>
          </a:p>
        </p:txBody>
      </p:sp>
      <p:sp>
        <p:nvSpPr>
          <p:cNvPr id="38" name="Shape 33"/>
          <p:cNvSpPr/>
          <p:nvPr/>
        </p:nvSpPr>
        <p:spPr>
          <a:xfrm>
            <a:off x="4407408" y="587044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4480560" y="589788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COMMUNITY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06 / BEAUTY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美容・地域店舗｜情報量を整理し、行動につなげる。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キャンペーン情報を読みやすく編集し、店舗らしい安心感をビジュアル化。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Users/imadatadahito/Desktop/ai-imadaruma/04_貿易省/文化庁/portfolio/assets/arsoa_well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440" y="1892808"/>
            <a:ext cx="2786815" cy="39410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0" y="1783080"/>
            <a:ext cx="3694176" cy="1078992"/>
          </a:xfrm>
          <a:prstGeom prst="roundRect">
            <a:avLst>
              <a:gd name="adj" fmla="val 678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79392" y="190195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endParaRPr lang="en-US" sz="740" dirty="0"/>
          </a:p>
        </p:txBody>
      </p:sp>
      <p:sp>
        <p:nvSpPr>
          <p:cNvPr id="10" name="Text 7"/>
          <p:cNvSpPr txBox="1"/>
          <p:nvPr/>
        </p:nvSpPr>
        <p:spPr>
          <a:xfrm>
            <a:off x="4279392" y="216712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地域の30〜60代女性。美容や健康に関心があり、通える範囲で店を探している層。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7936992" y="1783080"/>
            <a:ext cx="369417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01584" y="190195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ISSUE</a:t>
            </a:r>
            <a:endParaRPr lang="en-US" sz="740" dirty="0"/>
          </a:p>
        </p:txBody>
      </p:sp>
      <p:sp>
        <p:nvSpPr>
          <p:cNvPr id="13" name="Text 10"/>
          <p:cNvSpPr txBox="1"/>
          <p:nvPr/>
        </p:nvSpPr>
        <p:spPr>
          <a:xfrm>
            <a:off x="8101584" y="2167128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伝えたい情報が多く、結局どれから読めばいいのか分からず離脱されてしまう。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4114800" y="2990088"/>
            <a:ext cx="369417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79392" y="3108960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PURPOSE</a:t>
            </a:r>
            <a:endParaRPr lang="en-US" sz="740" dirty="0"/>
          </a:p>
        </p:txBody>
      </p:sp>
      <p:sp>
        <p:nvSpPr>
          <p:cNvPr id="16" name="Text 13"/>
          <p:cNvSpPr txBox="1"/>
          <p:nvPr/>
        </p:nvSpPr>
        <p:spPr>
          <a:xfrm>
            <a:off x="4279392" y="337413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キャンペーン情報を整理し、来店予約という一つの行動まで導線をつなぐ。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7936992" y="2990088"/>
            <a:ext cx="3694176" cy="1078992"/>
          </a:xfrm>
          <a:prstGeom prst="roundRect">
            <a:avLst>
              <a:gd name="adj" fmla="val 6780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01584" y="3108960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</a:t>
            </a:r>
            <a:endParaRPr lang="en-US" sz="740" dirty="0"/>
          </a:p>
        </p:txBody>
      </p:sp>
      <p:sp>
        <p:nvSpPr>
          <p:cNvPr id="19" name="Text 16"/>
          <p:cNvSpPr txBox="1"/>
          <p:nvPr/>
        </p:nvSpPr>
        <p:spPr>
          <a:xfrm>
            <a:off x="8101584" y="337413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情報量が多くても迷わず読め、「行ってみよう」までの距離が短くなる。</a:t>
            </a:r>
            <a:endParaRPr lang="en-US" sz="930" dirty="0"/>
          </a:p>
        </p:txBody>
      </p:sp>
      <p:sp>
        <p:nvSpPr>
          <p:cNvPr id="20" name="Text 17"/>
          <p:cNvSpPr txBox="1"/>
          <p:nvPr/>
        </p:nvSpPr>
        <p:spPr>
          <a:xfrm>
            <a:off x="4114800" y="42245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ROLE</a:t>
            </a:r>
            <a:endParaRPr lang="en-US" sz="720" dirty="0"/>
          </a:p>
        </p:txBody>
      </p:sp>
      <p:sp>
        <p:nvSpPr>
          <p:cNvPr id="21" name="Text 18"/>
          <p:cNvSpPr txBox="1"/>
          <p:nvPr/>
        </p:nvSpPr>
        <p:spPr>
          <a:xfrm>
            <a:off x="4901184" y="41879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企画／デザイン制作／投稿／分析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8467344" y="4133088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F7F8F7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13648" y="41970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</a:t>
            </a:r>
            <a:endParaRPr lang="en-US" sz="720" dirty="0"/>
          </a:p>
        </p:txBody>
      </p:sp>
      <p:sp>
        <p:nvSpPr>
          <p:cNvPr id="24" name="Text 21"/>
          <p:cNvSpPr txBox="1"/>
          <p:nvPr/>
        </p:nvSpPr>
        <p:spPr>
          <a:xfrm>
            <a:off x="9473184" y="418795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3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（数値を記入）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4114800" y="4553712"/>
            <a:ext cx="239572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79392" y="4654296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優先順位をつくる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279392" y="4937760"/>
            <a:ext cx="2066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伝える情報が多いほど、何を最初に読ませるかの設計が効く。全部を同じ強さで置かない。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656832" y="4553712"/>
            <a:ext cx="2395728" cy="1389888"/>
          </a:xfrm>
          <a:prstGeom prst="roundRect">
            <a:avLst>
              <a:gd name="adj" fmla="val 5263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21424" y="4654296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季節と結びつける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821424" y="4937760"/>
            <a:ext cx="2066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季節感を入り口にすると、内容が同じでも「いま行く理由」が生まれる。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198864" y="4553712"/>
            <a:ext cx="239572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363456" y="4654296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SNSへ展開できる形に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363456" y="4937760"/>
            <a:ext cx="2066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紙面の企画をそのまま投稿・ストーリーズへ再編集できる構造で作る。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07 / REGIONAL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地域商品｜物語から、選ばれるブランドをつくる。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ネーミング・ロゴ・パッケージ・販促まで、地域の背景を一つの物語に。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67588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Users/imadatadahito/Desktop/ai-imadaruma/04_貿易省/文化庁/portfolio/assets/works/lemon_bra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853" y="1892808"/>
            <a:ext cx="3378038" cy="23865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52544" y="178308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/Users/imadatadahito/Desktop/ai-imadaruma/04_貿易省/文化庁/portfolio/assets/works/lemon_dress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893910"/>
            <a:ext cx="3346704" cy="23843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28432" y="1783080"/>
            <a:ext cx="1737360" cy="1239012"/>
          </a:xfrm>
          <a:prstGeom prst="roundRect">
            <a:avLst>
              <a:gd name="adj" fmla="val 5904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193024" y="190195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8193024" y="2167128"/>
            <a:ext cx="14081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地域の産品を贈り物や日常づかいで選ぶ生活者と、取扱いを検討する小売。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9893808" y="1783080"/>
            <a:ext cx="1737360" cy="1239012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058400" y="190195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ISSUE</a:t>
            </a:r>
            <a:endParaRPr lang="en-US" sz="740" dirty="0"/>
          </a:p>
        </p:txBody>
      </p:sp>
      <p:sp>
        <p:nvSpPr>
          <p:cNvPr id="15" name="Text 11"/>
          <p:cNvSpPr txBox="1"/>
          <p:nvPr/>
        </p:nvSpPr>
        <p:spPr>
          <a:xfrm>
            <a:off x="10058400" y="2167128"/>
            <a:ext cx="14081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味や品質は良くても、棚に並んだ瞬間に他の商品と見分けがつかない。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8028432" y="3150108"/>
            <a:ext cx="1737360" cy="1239012"/>
          </a:xfrm>
          <a:prstGeom prst="roundRect">
            <a:avLst>
              <a:gd name="adj" fmla="val 590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93024" y="326898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PURPOSE</a:t>
            </a:r>
            <a:endParaRPr lang="en-US" sz="740" dirty="0"/>
          </a:p>
        </p:txBody>
      </p:sp>
      <p:sp>
        <p:nvSpPr>
          <p:cNvPr id="18" name="Text 14"/>
          <p:cNvSpPr txBox="1"/>
          <p:nvPr/>
        </p:nvSpPr>
        <p:spPr>
          <a:xfrm>
            <a:off x="8193024" y="3534156"/>
            <a:ext cx="14081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ネーミングからパッケージまでを一つの物語に束ね、選ぶ理由をつくる。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9893808" y="3150108"/>
            <a:ext cx="1737360" cy="1239012"/>
          </a:xfrm>
          <a:prstGeom prst="roundRect">
            <a:avLst>
              <a:gd name="adj" fmla="val 5904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058400" y="326898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</a:t>
            </a:r>
            <a:endParaRPr lang="en-US" sz="740" dirty="0"/>
          </a:p>
        </p:txBody>
      </p:sp>
      <p:sp>
        <p:nvSpPr>
          <p:cNvPr id="21" name="Text 17"/>
          <p:cNvSpPr txBox="1"/>
          <p:nvPr/>
        </p:nvSpPr>
        <p:spPr>
          <a:xfrm>
            <a:off x="10058400" y="3534156"/>
            <a:ext cx="14081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価格ではなく背景で選ばれ、贈り物として指名される商品になる。</a:t>
            </a:r>
            <a:endParaRPr lang="en-US" sz="930" dirty="0"/>
          </a:p>
        </p:txBody>
      </p:sp>
      <p:sp>
        <p:nvSpPr>
          <p:cNvPr id="22" name="Text 18"/>
          <p:cNvSpPr txBox="1"/>
          <p:nvPr/>
        </p:nvSpPr>
        <p:spPr>
          <a:xfrm>
            <a:off x="603504" y="4553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結ぶレモン宮若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03504" y="4828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ロゴ／ステッカー／リボン／ブランドストーリー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4389120" y="4553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里山レモンドレッシング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389120" y="4828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商品設計／パッケージ／販促ビジュアル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603504" y="52852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ROLE</a:t>
            </a:r>
            <a:endParaRPr lang="en-US" sz="720" dirty="0"/>
          </a:p>
        </p:txBody>
      </p:sp>
      <p:sp>
        <p:nvSpPr>
          <p:cNvPr id="27" name="Text 23"/>
          <p:cNvSpPr txBox="1"/>
          <p:nvPr/>
        </p:nvSpPr>
        <p:spPr>
          <a:xfrm>
            <a:off x="1389888" y="5248656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企画／デザイン制作／投稿／分析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8202168" y="5193792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F7F8F7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348472" y="52578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</a:t>
            </a:r>
            <a:endParaRPr lang="en-US" sz="720" dirty="0"/>
          </a:p>
        </p:txBody>
      </p:sp>
      <p:sp>
        <p:nvSpPr>
          <p:cNvPr id="30" name="Text 26"/>
          <p:cNvSpPr txBox="1"/>
          <p:nvPr/>
        </p:nvSpPr>
        <p:spPr>
          <a:xfrm>
            <a:off x="9208008" y="5248656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3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（数値を記入）</a:t>
            </a:r>
            <a:endParaRPr lang="en-US" sz="860" dirty="0"/>
          </a:p>
        </p:txBody>
      </p:sp>
      <p:sp>
        <p:nvSpPr>
          <p:cNvPr id="31" name="Text 27"/>
          <p:cNvSpPr txBox="1"/>
          <p:nvPr/>
        </p:nvSpPr>
        <p:spPr>
          <a:xfrm>
            <a:off x="603504" y="56692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地域の背景（誰が、どこで、なぜ作っているか）を先に言語化し、そこからロゴ・色・パッケージ・販促を一続きで設計しています。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08 / BRAND &amp; WEB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ブランド・Web｜価値観を、接点ごとに翻訳する。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VI、Web、投稿。媒体が変わっても、同じブランドに感じられる設計。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pic>
        <p:nvPicPr>
          <p:cNvPr id="7" name="Image 0" descr="/Users/imadatadahito/Desktop/ai-imadaruma/04_貿易省/文化庁/portfolio/assets/works/freien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1333" y="1892808"/>
            <a:ext cx="4395429" cy="1152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3310128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/Users/imadatadahito/Desktop/ai-imadaruma/04_貿易省/文化庁/portfolio/assets/works/freien_po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381561"/>
            <a:ext cx="3218688" cy="173165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096512" y="3310128"/>
            <a:ext cx="3703320" cy="873252"/>
          </a:xfrm>
          <a:prstGeom prst="roundRect">
            <a:avLst>
              <a:gd name="adj" fmla="val 8377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261104" y="3429000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endParaRPr lang="en-US" sz="740" dirty="0"/>
          </a:p>
        </p:txBody>
      </p:sp>
      <p:sp>
        <p:nvSpPr>
          <p:cNvPr id="12" name="Text 8"/>
          <p:cNvSpPr txBox="1"/>
          <p:nvPr/>
        </p:nvSpPr>
        <p:spPr>
          <a:xfrm>
            <a:off x="4261104" y="3694176"/>
            <a:ext cx="3374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価値観で選ぶ層。価格や機能より、その主体が何を大切にしているかを見ている。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7927848" y="3310128"/>
            <a:ext cx="3703320" cy="873252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92440" y="3429000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ISSUE</a:t>
            </a:r>
            <a:endParaRPr lang="en-US" sz="74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3694176"/>
            <a:ext cx="3374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Web・SNS・印刷で表現がばらつき、同じブランドだと認識されない。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4096512" y="4311396"/>
            <a:ext cx="3703320" cy="873252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261104" y="4430268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PURPOSE</a:t>
            </a:r>
            <a:endParaRPr lang="en-US" sz="740" dirty="0"/>
          </a:p>
        </p:txBody>
      </p:sp>
      <p:sp>
        <p:nvSpPr>
          <p:cNvPr id="18" name="Text 14"/>
          <p:cNvSpPr txBox="1"/>
          <p:nvPr/>
        </p:nvSpPr>
        <p:spPr>
          <a:xfrm>
            <a:off x="4261104" y="4695444"/>
            <a:ext cx="3374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記号と規則を決め、どの接点でも同じブランドに感じられる状態をつくる。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7927848" y="4311396"/>
            <a:ext cx="3703320" cy="873252"/>
          </a:xfrm>
          <a:prstGeom prst="roundRect">
            <a:avLst>
              <a:gd name="adj" fmla="val 8377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92440" y="4430268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1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FUTURE</a:t>
            </a:r>
            <a:endParaRPr lang="en-US" sz="74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4695444"/>
            <a:ext cx="3374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接点が増えるほど印象が積み上がり、発信そのものが資産として蓄積される。</a:t>
            </a:r>
            <a:endParaRPr lang="en-US" sz="930" dirty="0"/>
          </a:p>
        </p:txBody>
      </p:sp>
      <p:sp>
        <p:nvSpPr>
          <p:cNvPr id="22" name="Text 18"/>
          <p:cNvSpPr txBox="1"/>
          <p:nvPr/>
        </p:nvSpPr>
        <p:spPr>
          <a:xfrm>
            <a:off x="603504" y="53492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ROLE</a:t>
            </a:r>
            <a:endParaRPr lang="en-US" sz="720" dirty="0"/>
          </a:p>
        </p:txBody>
      </p:sp>
      <p:sp>
        <p:nvSpPr>
          <p:cNvPr id="23" name="Text 19"/>
          <p:cNvSpPr txBox="1"/>
          <p:nvPr/>
        </p:nvSpPr>
        <p:spPr>
          <a:xfrm>
            <a:off x="1389888" y="5312664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企画／デザイン制作／投稿／分析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8202168" y="5257800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F7F8F7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348472" y="53218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RESULT</a:t>
            </a:r>
            <a:endParaRPr lang="en-US" sz="720" dirty="0"/>
          </a:p>
        </p:txBody>
      </p:sp>
      <p:sp>
        <p:nvSpPr>
          <p:cNvPr id="26" name="Text 22"/>
          <p:cNvSpPr txBox="1"/>
          <p:nvPr/>
        </p:nvSpPr>
        <p:spPr>
          <a:xfrm>
            <a:off x="9208008" y="531266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3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（数値を記入）</a:t>
            </a:r>
            <a:endParaRPr lang="en-US" sz="860" dirty="0"/>
          </a:p>
        </p:txBody>
      </p:sp>
      <p:sp>
        <p:nvSpPr>
          <p:cNvPr id="27" name="Text 23"/>
          <p:cNvSpPr txBox="1"/>
          <p:nvPr/>
        </p:nvSpPr>
        <p:spPr>
          <a:xfrm>
            <a:off x="603504" y="56875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ロゴの一文字を欠けさせた形をブランドの記号として定義し、Webのファーストビューから投稿画像まで同じ規則で展開しています。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03504" y="601675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76656" y="6044184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IDENTITY</a:t>
            </a:r>
            <a:endParaRPr lang="en-US" sz="870" dirty="0"/>
          </a:p>
        </p:txBody>
      </p:sp>
      <p:sp>
        <p:nvSpPr>
          <p:cNvPr id="30" name="Shape 26"/>
          <p:cNvSpPr/>
          <p:nvPr/>
        </p:nvSpPr>
        <p:spPr>
          <a:xfrm>
            <a:off x="2020824" y="6016752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093976" y="604418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</a:t>
            </a:r>
            <a:endParaRPr lang="en-US" sz="870" dirty="0"/>
          </a:p>
        </p:txBody>
      </p:sp>
      <p:sp>
        <p:nvSpPr>
          <p:cNvPr id="32" name="Shape 28"/>
          <p:cNvSpPr/>
          <p:nvPr/>
        </p:nvSpPr>
        <p:spPr>
          <a:xfrm>
            <a:off x="3063240" y="6016752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136392" y="6044184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CONTENT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PROPOSAL 01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同じ告知を、届く形に組み直す。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既存アカウントの実物は使わず、よくある構成を自分で再現したうえで改善しています。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810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2395728" cy="2999232"/>
          </a:xfrm>
          <a:prstGeom prst="roundRect">
            <a:avLst>
              <a:gd name="adj" fmla="val 2290"/>
            </a:avLst>
          </a:prstGeom>
          <a:solidFill>
            <a:srgbClr val="E8E8E6"/>
          </a:solidFill>
          <a:ln w="8890">
            <a:solidFill>
              <a:srgbClr val="DDE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860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体験会やります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615184"/>
            <a:ext cx="20299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A50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3月15日 10時〜12時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A50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場所：〇〇グラウンド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A50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対象：小学生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A50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持ち物：運動できる服装、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A50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飲み物、タオル、すね当て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A50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参加費：無料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A50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雨天時は中止となります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A50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お申し込みはお電話または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A50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DM、LINEでも受付中です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4A50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お気軽にご連絡ください</a:t>
            </a:r>
            <a:endParaRPr lang="en-US" sz="84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175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・全部同じ大きさ　・誰向けか不明　・連絡先が3つ</a:t>
            </a:r>
            <a:endParaRPr lang="en-US" sz="78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1810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94176" y="2103120"/>
            <a:ext cx="2395728" cy="2999232"/>
          </a:xfrm>
          <a:prstGeom prst="roundRect">
            <a:avLst>
              <a:gd name="adj" fmla="val 2290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94176" y="2103120"/>
            <a:ext cx="2395728" cy="91440"/>
          </a:xfrm>
          <a:prstGeom prst="rect">
            <a:avLst/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95344" y="2395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年長さん、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95344" y="268833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はじめての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サッカー。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895344" y="3602736"/>
            <a:ext cx="1993392" cy="0"/>
          </a:xfrm>
          <a:prstGeom prst="line">
            <a:avLst/>
          </a:prstGeom>
          <a:noFill/>
          <a:ln w="1778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3895344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体験会 ／ 参加無料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895344" y="4023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3/15 (土) 10:00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895344" y="4498848"/>
            <a:ext cx="1993392" cy="365760"/>
          </a:xfrm>
          <a:prstGeom prst="roundRect">
            <a:avLst>
              <a:gd name="adj" fmla="val 40000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95344" y="45537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DMで空き状況を確認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694176" y="5175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・対象を明記　・日付を最大化　・行動は1つ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400800" y="1847088"/>
            <a:ext cx="5230368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1947672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誰に向けたかを書く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2231136"/>
            <a:ext cx="4901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「体験会やります」では、自分の子が対象か分からない。「年長さん」と書いた瞬間に、その親だけが自分ごとにする。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3310128"/>
            <a:ext cx="5230368" cy="1335024"/>
          </a:xfrm>
          <a:prstGeom prst="roundRect">
            <a:avLst>
              <a:gd name="adj" fmla="val 5479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65392" y="3410712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全部を同じ強さで置かない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65392" y="3694176"/>
            <a:ext cx="4901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持ち物も雨天対応も必要な情報。ただし1枚目の仕事は「行く気にさせる」ことなので、詳細は2枚目とキャプションへ送る。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4773168"/>
            <a:ext cx="5230368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65392" y="4873752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行動を1つに絞る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565392" y="5157216"/>
            <a:ext cx="4901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電話・DM・LINEと並べると、選ぶ手間で止まる。もっとも心理的負担が軽いDMだけを残す。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61441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他アカウントの投稿画像は転載していません。BEFOREはよくある構成を当方が再現したものです。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PROPOSAL 02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1本ずつではなく、1か月単位で設計する。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単発の投稿を積んでも資産になりません。役割を分けた型で回します。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265176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0299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2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WEEK 1</a:t>
            </a:r>
            <a:endParaRPr lang="en-US" sz="76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知ってもらう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2834640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749808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クラブの理念・指導方針。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「どんな場所か」を語る回。</a:t>
            </a:r>
            <a:endParaRPr lang="en-US" sz="920" dirty="0"/>
          </a:p>
        </p:txBody>
      </p:sp>
      <p:sp>
        <p:nvSpPr>
          <p:cNvPr id="11" name="Text 9"/>
          <p:cNvSpPr txBox="1"/>
          <p:nvPr/>
        </p:nvSpPr>
        <p:spPr>
          <a:xfrm>
            <a:off x="3236976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4992" y="1847088"/>
            <a:ext cx="265176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7872" y="20299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2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WEEK 2</a:t>
            </a:r>
            <a:endParaRPr lang="en-US" sz="76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信じてもらう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47872" y="2834640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3547872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練習風景・選手の変化。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言葉ではなく事実を見せる回。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63056" y="1847088"/>
            <a:ext cx="265176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45936" y="20299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2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WEEK 3</a:t>
            </a:r>
            <a:endParaRPr lang="en-US" sz="76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思い出してもらう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45936" y="2834640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6345936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保護者の声・日常の一場面。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関係を温める回。</a:t>
            </a:r>
            <a:endParaRPr lang="en-US" sz="920" dirty="0"/>
          </a:p>
        </p:txBody>
      </p:sp>
      <p:sp>
        <p:nvSpPr>
          <p:cNvPr id="23" name="Text 21"/>
          <p:cNvSpPr txBox="1"/>
          <p:nvPr/>
        </p:nvSpPr>
        <p:spPr>
          <a:xfrm>
            <a:off x="8833104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61120" y="1847088"/>
            <a:ext cx="265176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0" y="20299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12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WEEK 4</a:t>
            </a:r>
            <a:endParaRPr lang="en-US" sz="76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動いてもらう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0" y="2834640"/>
            <a:ext cx="512064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914400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体験会・募集告知。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行動を1つだけ提示する回。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66928" y="45171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6634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4週で一巡し、翌月は「反応が良かった回」を厚くして組み直す。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毎回ゼロから企画を考えないため、担当者が代わっても止まりません。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566928" y="5541264"/>
            <a:ext cx="354787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5641848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なぜ役割を分けるか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592531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全部の投稿で「入団してください」と言うと、見る側は疲れて離れる。売る回は4週に1回で足りる。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97680" y="5541264"/>
            <a:ext cx="3547872" cy="859536"/>
          </a:xfrm>
          <a:prstGeom prst="roundRect">
            <a:avLst>
              <a:gd name="adj" fmla="val 8511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62272" y="5641848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なぜ月単位か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462272" y="592531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1本の伸びは運に左右される。1か月の合計で見ると、企画の良し悪しが判断できるようになる。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28432" y="5541264"/>
            <a:ext cx="354787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93024" y="5641848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何を計測するか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193024" y="592531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保存とプロフィール遷移。いいねより、次の行動に近い指標を見る。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PUBLISHING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企画から装丁まで、一冊を一人で通す。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Amazon Kindleで2冊を出版。長文を設計し切る力の、確認できる証拠として。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331720" cy="32461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/Users/imadatadahito/Desktop/ai-imadaruma/04_貿易省/文化庁/portfolio/assets/kindle/shori_slee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776" y="1892808"/>
            <a:ext cx="2046025" cy="30266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63240" y="1783080"/>
            <a:ext cx="2331720" cy="32461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/Users/imadatadahito/Desktop/ai-imadaruma/04_貿易省/文化庁/portfolio/assets/kindle/shori_foo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909953"/>
            <a:ext cx="2112264" cy="299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928" y="51023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『レジリエンスを鍛える 勝利の睡眠』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7058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ホルモン×脳科学「回復力」を爆上げする戦略的メソッド</a:t>
            </a:r>
            <a:endParaRPr lang="en-US" sz="76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614476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amazon.co.jp/dp/B0FQMDK6S8</a:t>
            </a:r>
            <a:endParaRPr lang="en-US" sz="700" dirty="0"/>
          </a:p>
        </p:txBody>
      </p:sp>
      <p:sp>
        <p:nvSpPr>
          <p:cNvPr id="13" name="Text 9"/>
          <p:cNvSpPr txBox="1"/>
          <p:nvPr/>
        </p:nvSpPr>
        <p:spPr>
          <a:xfrm>
            <a:off x="3063240" y="51023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『自分という国家を、食卓から統治する 勝利の食事』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3063240" y="570585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Daily Statecraft Series｜内政統治編①</a:t>
            </a:r>
            <a:endParaRPr lang="en-US" sz="760" dirty="0"/>
          </a:p>
        </p:txBody>
      </p:sp>
      <p:sp>
        <p:nvSpPr>
          <p:cNvPr id="15" name="Text 11"/>
          <p:cNvSpPr txBox="1"/>
          <p:nvPr/>
        </p:nvSpPr>
        <p:spPr>
          <a:xfrm>
            <a:off x="3063240" y="614476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amazon.co.jp/dp/B0H1QKRT5H</a:t>
            </a:r>
            <a:endParaRPr lang="en-US" sz="7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0" y="18105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出版が、SNS運用に効く理由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669280" y="2286000"/>
            <a:ext cx="5961888" cy="932688"/>
          </a:xfrm>
          <a:prstGeom prst="roundRect">
            <a:avLst>
              <a:gd name="adj" fmla="val 7843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833872" y="2386584"/>
            <a:ext cx="5632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構成力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833872" y="2670048"/>
            <a:ext cx="5632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一冊分の情報を、読者が迷わない順番に並べ切る。カルーセルや連載投稿の設計は、その縮小版にすぎない。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669280" y="3328416"/>
            <a:ext cx="596188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33872" y="3429000"/>
            <a:ext cx="5632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調査力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5833872" y="3712464"/>
            <a:ext cx="5632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根拠にあたり、断定できることだけを書く。誇張しないまま読ませる文章は、そのまま運用の信頼につながる。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669280" y="4370832"/>
            <a:ext cx="5961888" cy="932688"/>
          </a:xfrm>
          <a:prstGeom prst="roundRect">
            <a:avLst>
              <a:gd name="adj" fmla="val 7843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833872" y="4471416"/>
            <a:ext cx="5632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装丁の一貫性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833872" y="4754880"/>
            <a:ext cx="5632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2冊とも表紙のキーカラーはターコイズ。本・SNS・Webで媒体が変わっても、同じ書き手の仕事に見える。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669280" y="5413248"/>
            <a:ext cx="596188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833872" y="5513832"/>
            <a:ext cx="5632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一人称で完結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833872" y="5797296"/>
            <a:ext cx="5632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企画・構成・執筆・装丁デザインを一人で通す。分業前提の座組みでなくても、成果物が出る。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WRITING &amp; CONTENT SYSTEM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制作を速くするだけでなく、判断を揃える。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人の編集判断とAIの補助を組み合わせ、品質と継続性を両立します。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993392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5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企画の種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8211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顧客の悩み／季節／現場の声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52928" y="1993392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DDE3E2"/>
          </a:solidFill>
          <a:ln w="8890">
            <a:solidFill>
              <a:srgbClr val="DDE3E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185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構成・コピー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18211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フック／本文／CTA／ハッシュタグ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38928" y="1993392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2185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デザイン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18211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ブランドテンプレート／写真／図解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24928" y="1993392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2185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展開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318211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投稿／カルーセル／リール／Web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710928" y="1993392"/>
            <a:ext cx="1993392" cy="23957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75520" y="2185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2642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318211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反応の記録／仮説更新／次月改善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05840" y="4892040"/>
            <a:ext cx="10186416" cy="822960"/>
          </a:xfrm>
          <a:prstGeom prst="roundRect">
            <a:avLst>
              <a:gd name="adj" fmla="val 8889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25880" y="5129784"/>
            <a:ext cx="9546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Adobe Creative Cloud  ＋  ChatGPT  /  Claude  /  Gemini  /  Cursor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057400" y="59161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AIは調査・草案・整理を補助。最終判断と表現設計は人が行います。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COLLABORATION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「任せる」と「一緒につくる」の間を、柔軟に。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3504" y="1920240"/>
            <a:ext cx="3465576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214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SPOT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15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単発制作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" y="3127248"/>
            <a:ext cx="530352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804672" y="3310128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投稿テンプレート、キャンペーン、プロフィール改善など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98264" y="1920240"/>
            <a:ext cx="3465576" cy="2788920"/>
          </a:xfrm>
          <a:prstGeom prst="roundRect">
            <a:avLst>
              <a:gd name="adj" fmla="val 2623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1214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PARTIAL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615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部分代行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99432" y="3127248"/>
            <a:ext cx="530352" cy="0"/>
          </a:xfrm>
          <a:prstGeom prst="line">
            <a:avLst/>
          </a:prstGeom>
          <a:noFill/>
          <a:ln w="25400">
            <a:solidFill>
              <a:srgbClr val="42AFC0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4599432" y="3310128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企画のみ／制作のみ／投稿管理など、必要な工程を担当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93024" y="1920240"/>
            <a:ext cx="3465576" cy="2788920"/>
          </a:xfrm>
          <a:prstGeom prst="roundRect">
            <a:avLst>
              <a:gd name="adj" fmla="val 2623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4192" y="21214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FULL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615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一貫支援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94192" y="3127248"/>
            <a:ext cx="53035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8394192" y="3310128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設計・企画・制作・運用・改善まで、窓口を一本化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" y="4901184"/>
            <a:ext cx="11027664" cy="914400"/>
          </a:xfrm>
          <a:prstGeom prst="roundRect">
            <a:avLst>
              <a:gd name="adj" fmla="val 8000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5047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PRICE</a:t>
            </a:r>
            <a:endParaRPr lang="en-US" sz="740" dirty="0"/>
          </a:p>
        </p:txBody>
      </p:sp>
      <p:sp>
        <p:nvSpPr>
          <p:cNvPr id="22" name="Text 20"/>
          <p:cNvSpPr txBox="1"/>
          <p:nvPr/>
        </p:nvSpPr>
        <p:spPr>
          <a:xfrm>
            <a:off x="2121408" y="50292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月額 10万円 〜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120640" y="5084064"/>
            <a:ext cx="0" cy="548640"/>
          </a:xfrm>
          <a:prstGeom prst="line">
            <a:avLst/>
          </a:prstGeom>
          <a:noFill/>
          <a:ln w="10160">
            <a:solidFill>
              <a:srgbClr val="687174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5394960" y="504748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ご支援の範囲・投稿本数・制作内容に応じてお見積りします。単発のご相談や、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一部の工程だけをお任せいただく形にも対応しています。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603504" y="5998464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ヒアリング後、目的・期間・社内体制に合わせて支援範囲をご提案します。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REQUEST FLOW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ご相談から開始まで。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まずは現状と「こうなりたい」をお聞かせください。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43000" y="2048256"/>
            <a:ext cx="841248" cy="8412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42AF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52728" y="22677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31729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お問い合わせ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02536" y="2468880"/>
            <a:ext cx="822960" cy="0"/>
          </a:xfrm>
          <a:prstGeom prst="line">
            <a:avLst/>
          </a:prstGeom>
          <a:noFill/>
          <a:ln w="254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429000" y="2048256"/>
            <a:ext cx="841248" cy="8412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42AF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22677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31729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ヒアリング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88536" y="2468880"/>
            <a:ext cx="822960" cy="0"/>
          </a:xfrm>
          <a:prstGeom prst="line">
            <a:avLst/>
          </a:prstGeom>
          <a:noFill/>
          <a:ln w="254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715000" y="2048256"/>
            <a:ext cx="841248" cy="8412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42AF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24728" y="22677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148072" y="31729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ご提案・お見積り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74536" y="2468880"/>
            <a:ext cx="822960" cy="0"/>
          </a:xfrm>
          <a:prstGeom prst="line">
            <a:avLst/>
          </a:prstGeom>
          <a:noFill/>
          <a:ln w="254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001000" y="2048256"/>
            <a:ext cx="841248" cy="8412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42AF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0728" y="22677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31729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ご契約・準備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60536" y="2468880"/>
            <a:ext cx="822960" cy="0"/>
          </a:xfrm>
          <a:prstGeom prst="line">
            <a:avLst/>
          </a:prstGeom>
          <a:noFill/>
          <a:ln w="25400">
            <a:solidFill>
              <a:srgbClr val="DDE3E2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287000" y="2048256"/>
            <a:ext cx="841248" cy="841248"/>
          </a:xfrm>
          <a:prstGeom prst="ellipse">
            <a:avLst/>
          </a:prstGeom>
          <a:solidFill>
            <a:srgbClr val="42AFC0"/>
          </a:solidFill>
          <a:ln w="17780">
            <a:solidFill>
              <a:srgbClr val="42AF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96728" y="22677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720072" y="317296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運用開始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60704" y="4279392"/>
            <a:ext cx="10058400" cy="1060704"/>
          </a:xfrm>
          <a:prstGeom prst="roundRect">
            <a:avLst>
              <a:gd name="adj" fmla="val 6897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89888" y="4489704"/>
            <a:ext cx="9400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料金：ご支援範囲・投稿本数・制作内容に応じてお見積り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4937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副業サイト上のメッセージからでも、お気軽にご相談ください。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47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356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30" kern="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WORKING STYLE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7498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連絡が取れないことを、不安にさせない。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2984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外注で最も多い不安は品質ではなく、「返事が来ないこと」だと考えています。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5321808" cy="1298448"/>
          </a:xfrm>
          <a:prstGeom prst="roundRect">
            <a:avLst>
              <a:gd name="adj" fmla="val 5634"/>
            </a:avLst>
          </a:prstGeom>
          <a:solidFill>
            <a:srgbClr val="DDEDF1"/>
          </a:solidFill>
          <a:ln w="8890">
            <a:solidFill>
              <a:srgbClr val="DDEDF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011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対応時間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平日 〜 16:00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7066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この時間帯は基本的に連絡がつきます。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172200" y="1847088"/>
            <a:ext cx="53218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2011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連絡手段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メール／チャット／電話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73368" y="27066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ご指定の方法に合わせます。ツールの追加導入も可能です。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566928" y="3328416"/>
            <a:ext cx="53218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時間内の返信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37856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当日中に返信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41879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その場で判断できないことは、いつ返せるかを先にお伝えします。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172200" y="3328416"/>
            <a:ext cx="53218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73368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88CA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時間外の連絡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373368" y="37856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確認後に折り返し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73368" y="41879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受け取ったこと自体は必ずお返しし、放置しません。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566928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202526"/>
          </a:solidFill>
          <a:ln w="8890">
            <a:solidFill>
              <a:srgbClr val="20252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1023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spc="12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STATUS</a:t>
            </a:r>
            <a:endParaRPr lang="en-US" sz="740" dirty="0"/>
          </a:p>
        </p:txBody>
      </p:sp>
      <p:sp>
        <p:nvSpPr>
          <p:cNvPr id="24" name="Text 22"/>
          <p:cNvSpPr txBox="1"/>
          <p:nvPr/>
        </p:nvSpPr>
        <p:spPr>
          <a:xfrm>
            <a:off x="2121408" y="50840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現在、1社のInstagram運用が進行中です。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121408" y="54315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新規のご相談も承れます。着手時期はご相談ください。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50840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25年の実務で身についたのは、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作る力より「約束した期日を動かさないこと」でした。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0533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稼働時間・連絡方法は、ご依頼内容に応じて調整可能です。まずはご希望をお聞かせください。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6888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7C858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0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2AFC0"/>
          </a:solidFill>
          <a:ln w="12700">
            <a:solidFill>
              <a:srgbClr val="42AF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676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CONTACT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98448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ブランドの魅力が、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きちんと届くSNSへ。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29535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まずは、現在のお悩みをお聞かせください。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3822192"/>
            <a:ext cx="6510528" cy="1490472"/>
          </a:xfrm>
          <a:prstGeom prst="roundRect">
            <a:avLst>
              <a:gd name="adj" fmla="val 4908"/>
            </a:avLst>
          </a:prstGeom>
          <a:solidFill>
            <a:srgbClr val="2A3031"/>
          </a:solidFill>
          <a:ln w="8890">
            <a:solidFill>
              <a:srgbClr val="2A303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40416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今田 唯仁  /  Imada Tadahito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4453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Brand Architect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4773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SNSブランド設計・運用ディレクション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0" y="1261872"/>
            <a:ext cx="3794760" cy="1572768"/>
          </a:xfrm>
          <a:prstGeom prst="roundRect">
            <a:avLst>
              <a:gd name="adj" fmla="val 5814"/>
            </a:avLst>
          </a:prstGeom>
          <a:solidFill>
            <a:srgbClr val="42AFC0"/>
          </a:solidFill>
          <a:ln w="8890">
            <a:solidFill>
              <a:srgbClr val="42AFC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10144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まずはメールをください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10144" y="17922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5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imadaruma965@gmail.com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10144" y="221284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2454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現状のお悩みだけで構いません。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2454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返信は当日中にお返しします。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1272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https://imadaruma.jp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7856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INSTAGRAM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DE3E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@imada_tadahito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5720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8717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※掲載する連絡先・SNSは、Canva上で用途に合わせて削除・差し替えできます。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6108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2AF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THANK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Pound the Rock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今田唯仁｜Brand Architect</dc:title>
  <dc:subject>SNS運用代行ポートフォリオ</dc:subject>
  <dc:creator>今田唯仁</dc:creator>
  <cp:lastModifiedBy>今田唯仁</cp:lastModifiedBy>
  <cp:revision>1</cp:revision>
  <dcterms:created xsi:type="dcterms:W3CDTF">2026-08-17T21:47:31Z</dcterms:created>
  <dcterms:modified xsi:type="dcterms:W3CDTF">2026-08-17T21:47:31Z</dcterms:modified>
</cp:coreProperties>
</file>